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rimo Bold" charset="1" panose="020B0704020202020204"/>
      <p:regular r:id="rId33"/>
    </p:embeddedFont>
    <p:embeddedFont>
      <p:font typeface="Arimo" charset="1" panose="020B0604020202020204"/>
      <p:regular r:id="rId34"/>
    </p:embeddedFont>
    <p:embeddedFont>
      <p:font typeface="Arimo Bold Italics" charset="1" panose="020B0704020202090204"/>
      <p:regular r:id="rId37"/>
    </p:embeddedFont>
    <p:embeddedFont>
      <p:font typeface="Arimo Italics" charset="1" panose="020B0604020202090204"/>
      <p:regular r:id="rId40"/>
    </p:embeddedFont>
    <p:embeddedFont>
      <p:font typeface="Raleway Bold" charset="1" panose="0000000000000000000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fonts/font56.fntdata" Type="http://schemas.openxmlformats.org/officeDocument/2006/relationships/font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59" Target="notesSlides/notesSlide2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4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14" Target="../media/image42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15" Target="../media/image53.png" Type="http://schemas.openxmlformats.org/officeDocument/2006/relationships/image"/><Relationship Id="rId16" Target="../media/image5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55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56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57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58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sv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sv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2" Target="../notesSlides/notesSlide24.xml" Type="http://schemas.openxmlformats.org/officeDocument/2006/relationships/notesSlide"/><Relationship Id="rId3" Target="https://bit.ly/3A1uf1Q" TargetMode="External" Type="http://schemas.openxmlformats.org/officeDocument/2006/relationships/hyperlink"/><Relationship Id="rId4" Target="http://bit.ly/2TyoMsr" TargetMode="External" Type="http://schemas.openxmlformats.org/officeDocument/2006/relationships/hyperlink"/><Relationship Id="rId5" Target="http://bit.ly/2TtBDfr" TargetMode="External" Type="http://schemas.openxmlformats.org/officeDocument/2006/relationships/hyperlink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5075" y="-1091025"/>
            <a:ext cx="2241736" cy="2241736"/>
          </a:xfrm>
          <a:custGeom>
            <a:avLst/>
            <a:gdLst/>
            <a:ahLst/>
            <a:cxnLst/>
            <a:rect r="r" b="b" t="t" l="l"/>
            <a:pathLst>
              <a:path h="2241736" w="2241736">
                <a:moveTo>
                  <a:pt x="0" y="0"/>
                </a:moveTo>
                <a:lnTo>
                  <a:pt x="2241736" y="0"/>
                </a:lnTo>
                <a:lnTo>
                  <a:pt x="2241736" y="2241736"/>
                </a:lnTo>
                <a:lnTo>
                  <a:pt x="0" y="224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7871" y="4209111"/>
            <a:ext cx="2339172" cy="513608"/>
          </a:xfrm>
          <a:custGeom>
            <a:avLst/>
            <a:gdLst/>
            <a:ahLst/>
            <a:cxnLst/>
            <a:rect r="r" b="b" t="t" l="l"/>
            <a:pathLst>
              <a:path h="513608" w="2339172">
                <a:moveTo>
                  <a:pt x="0" y="0"/>
                </a:moveTo>
                <a:lnTo>
                  <a:pt x="2339172" y="0"/>
                </a:lnTo>
                <a:lnTo>
                  <a:pt x="2339172" y="513608"/>
                </a:lnTo>
                <a:lnTo>
                  <a:pt x="0" y="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391564">
            <a:off x="12535484" y="11941051"/>
            <a:ext cx="776387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2650301">
            <a:off x="16221191" y="7615393"/>
            <a:ext cx="1320660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5400000">
            <a:off x="17273365" y="6832363"/>
            <a:ext cx="405900" cy="401750"/>
            <a:chOff x="0" y="0"/>
            <a:chExt cx="541200" cy="535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5986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910000" y="2408097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23375" y="4190000"/>
            <a:ext cx="9342221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b="true" sz="6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ORDERED LIST REASONING using SEMANTIC LOSS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3375" y="7511675"/>
            <a:ext cx="85867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 Franco Federico - Serratore Francesco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Visciglia Domenico</a:t>
            </a:r>
          </a:p>
        </p:txBody>
      </p:sp>
      <p:grpSp>
        <p:nvGrpSpPr>
          <p:cNvPr name="Group 12" id="12"/>
          <p:cNvGrpSpPr/>
          <p:nvPr/>
        </p:nvGrpSpPr>
        <p:grpSpPr>
          <a:xfrm rot="-5400000">
            <a:off x="1378150" y="4431068"/>
            <a:ext cx="714600" cy="618032"/>
            <a:chOff x="0" y="0"/>
            <a:chExt cx="952800" cy="824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AutoShape 14" id="14"/>
          <p:cNvSpPr/>
          <p:nvPr/>
        </p:nvSpPr>
        <p:spPr>
          <a:xfrm rot="5394431">
            <a:off x="12243560" y="8644803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674203">
            <a:off x="13644905" y="5454660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50537" y="4588909"/>
            <a:ext cx="391361" cy="395518"/>
          </a:xfrm>
          <a:custGeom>
            <a:avLst/>
            <a:gdLst/>
            <a:ahLst/>
            <a:cxnLst/>
            <a:rect r="r" b="b" t="t" l="l"/>
            <a:pathLst>
              <a:path h="395518" w="391361">
                <a:moveTo>
                  <a:pt x="0" y="0"/>
                </a:moveTo>
                <a:lnTo>
                  <a:pt x="391362" y="0"/>
                </a:lnTo>
                <a:lnTo>
                  <a:pt x="391362" y="395518"/>
                </a:lnTo>
                <a:lnTo>
                  <a:pt x="0" y="395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542424" y="5945872"/>
            <a:ext cx="80112" cy="881760"/>
            <a:chOff x="0" y="0"/>
            <a:chExt cx="106816" cy="1175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4311401" y="8686007"/>
            <a:ext cx="105282" cy="969038"/>
          </a:xfrm>
          <a:custGeom>
            <a:avLst/>
            <a:gdLst/>
            <a:ahLst/>
            <a:cxnLst/>
            <a:rect r="r" b="b" t="t" l="l"/>
            <a:pathLst>
              <a:path h="969038" w="105282">
                <a:moveTo>
                  <a:pt x="0" y="0"/>
                </a:moveTo>
                <a:lnTo>
                  <a:pt x="105282" y="0"/>
                </a:lnTo>
                <a:lnTo>
                  <a:pt x="105282" y="969038"/>
                </a:lnTo>
                <a:lnTo>
                  <a:pt x="0" y="969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58241" y="7217117"/>
            <a:ext cx="169250" cy="1674054"/>
          </a:xfrm>
          <a:custGeom>
            <a:avLst/>
            <a:gdLst/>
            <a:ahLst/>
            <a:cxnLst/>
            <a:rect r="r" b="b" t="t" l="l"/>
            <a:pathLst>
              <a:path h="1674054" w="169250">
                <a:moveTo>
                  <a:pt x="0" y="0"/>
                </a:moveTo>
                <a:lnTo>
                  <a:pt x="169250" y="0"/>
                </a:lnTo>
                <a:lnTo>
                  <a:pt x="169250" y="1674054"/>
                </a:lnTo>
                <a:lnTo>
                  <a:pt x="0" y="16740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rot="5394431">
            <a:off x="9851976" y="-17265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2674203">
            <a:off x="12306953" y="146364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3501121" y="1933873"/>
            <a:ext cx="391361" cy="395518"/>
          </a:xfrm>
          <a:custGeom>
            <a:avLst/>
            <a:gdLst/>
            <a:ahLst/>
            <a:cxnLst/>
            <a:rect r="r" b="b" t="t" l="l"/>
            <a:pathLst>
              <a:path h="395518" w="391361">
                <a:moveTo>
                  <a:pt x="0" y="0"/>
                </a:moveTo>
                <a:lnTo>
                  <a:pt x="391362" y="0"/>
                </a:lnTo>
                <a:lnTo>
                  <a:pt x="391362" y="395518"/>
                </a:lnTo>
                <a:lnTo>
                  <a:pt x="0" y="3955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5400000">
            <a:off x="16431750" y="1611096"/>
            <a:ext cx="80112" cy="881760"/>
            <a:chOff x="0" y="0"/>
            <a:chExt cx="106816" cy="1175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6" id="26"/>
          <p:cNvSpPr/>
          <p:nvPr/>
        </p:nvSpPr>
        <p:spPr>
          <a:xfrm rot="5391564">
            <a:off x="-4146113" y="610860"/>
            <a:ext cx="776387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674483">
            <a:off x="3277542" y="1374960"/>
            <a:ext cx="2172080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-10800000">
            <a:off x="5050387" y="2066279"/>
            <a:ext cx="405900" cy="401750"/>
            <a:chOff x="0" y="0"/>
            <a:chExt cx="541200" cy="53566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5986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31" id="31"/>
          <p:cNvSpPr/>
          <p:nvPr/>
        </p:nvSpPr>
        <p:spPr>
          <a:xfrm rot="1125">
            <a:off x="6216427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1125">
            <a:off x="5942917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1125">
            <a:off x="6079672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1125">
            <a:off x="5806161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1125">
            <a:off x="5669406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1125">
            <a:off x="5532651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1125">
            <a:off x="5395895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1125">
            <a:off x="5259140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1125">
            <a:off x="5122385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1125">
            <a:off x="4985629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6649075" y="1636975"/>
            <a:ext cx="12962700" cy="1547500"/>
            <a:chOff x="0" y="0"/>
            <a:chExt cx="17283600" cy="206333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0"/>
              <a:ext cx="17270857" cy="2063369"/>
            </a:xfrm>
            <a:custGeom>
              <a:avLst/>
              <a:gdLst/>
              <a:ahLst/>
              <a:cxnLst/>
              <a:rect r="r" b="b" t="t" l="l"/>
              <a:pathLst>
                <a:path h="2063369" w="17270857">
                  <a:moveTo>
                    <a:pt x="0" y="0"/>
                  </a:moveTo>
                  <a:lnTo>
                    <a:pt x="5127371" y="0"/>
                  </a:lnTo>
                  <a:cubicBezTo>
                    <a:pt x="5130800" y="0"/>
                    <a:pt x="5133975" y="1397"/>
                    <a:pt x="5136388" y="3683"/>
                  </a:cubicBezTo>
                  <a:lnTo>
                    <a:pt x="7174357" y="2041652"/>
                  </a:lnTo>
                  <a:lnTo>
                    <a:pt x="7165339" y="2050669"/>
                  </a:lnTo>
                  <a:lnTo>
                    <a:pt x="7165339" y="2037969"/>
                  </a:lnTo>
                  <a:lnTo>
                    <a:pt x="11160379" y="2037969"/>
                  </a:lnTo>
                  <a:lnTo>
                    <a:pt x="11160379" y="2050669"/>
                  </a:lnTo>
                  <a:lnTo>
                    <a:pt x="11149330" y="2044319"/>
                  </a:lnTo>
                  <a:lnTo>
                    <a:pt x="11750167" y="1003681"/>
                  </a:lnTo>
                  <a:cubicBezTo>
                    <a:pt x="11752453" y="999744"/>
                    <a:pt x="11756644" y="997331"/>
                    <a:pt x="11761216" y="997331"/>
                  </a:cubicBezTo>
                  <a:lnTo>
                    <a:pt x="17258157" y="997331"/>
                  </a:lnTo>
                  <a:lnTo>
                    <a:pt x="17258157" y="1010031"/>
                  </a:lnTo>
                  <a:lnTo>
                    <a:pt x="17245457" y="1010031"/>
                  </a:lnTo>
                  <a:lnTo>
                    <a:pt x="17245457" y="740537"/>
                  </a:lnTo>
                  <a:lnTo>
                    <a:pt x="17270857" y="740537"/>
                  </a:lnTo>
                  <a:lnTo>
                    <a:pt x="17270857" y="1010031"/>
                  </a:lnTo>
                  <a:cubicBezTo>
                    <a:pt x="17270857" y="1017016"/>
                    <a:pt x="17265142" y="1022731"/>
                    <a:pt x="17258157" y="1022731"/>
                  </a:cubicBezTo>
                  <a:lnTo>
                    <a:pt x="11761216" y="1022731"/>
                  </a:lnTo>
                  <a:lnTo>
                    <a:pt x="11761216" y="1010031"/>
                  </a:lnTo>
                  <a:lnTo>
                    <a:pt x="11772265" y="1016381"/>
                  </a:lnTo>
                  <a:lnTo>
                    <a:pt x="11171428" y="2057019"/>
                  </a:lnTo>
                  <a:cubicBezTo>
                    <a:pt x="11169142" y="2060956"/>
                    <a:pt x="11164951" y="2063369"/>
                    <a:pt x="11160379" y="2063369"/>
                  </a:cubicBezTo>
                  <a:lnTo>
                    <a:pt x="7165340" y="2063369"/>
                  </a:lnTo>
                  <a:cubicBezTo>
                    <a:pt x="7161911" y="2063369"/>
                    <a:pt x="7158736" y="2061972"/>
                    <a:pt x="7156323" y="2059686"/>
                  </a:cubicBezTo>
                  <a:lnTo>
                    <a:pt x="5118354" y="21717"/>
                  </a:lnTo>
                  <a:lnTo>
                    <a:pt x="5127371" y="12700"/>
                  </a:lnTo>
                  <a:lnTo>
                    <a:pt x="512737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25">
            <a:off x="7101403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125">
            <a:off x="7374914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125">
            <a:off x="723815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1125">
            <a:off x="751166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125">
            <a:off x="764842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125">
            <a:off x="7785180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1125">
            <a:off x="792193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1125">
            <a:off x="805869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125">
            <a:off x="8195446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1125">
            <a:off x="833220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840069" y="1068077"/>
            <a:ext cx="15292830" cy="10308934"/>
          </a:xfrm>
          <a:custGeom>
            <a:avLst/>
            <a:gdLst/>
            <a:ahLst/>
            <a:cxnLst/>
            <a:rect r="r" b="b" t="t" l="l"/>
            <a:pathLst>
              <a:path h="10308934" w="15292830">
                <a:moveTo>
                  <a:pt x="0" y="0"/>
                </a:moveTo>
                <a:lnTo>
                  <a:pt x="15292830" y="0"/>
                </a:lnTo>
                <a:lnTo>
                  <a:pt x="15292830" y="10308934"/>
                </a:lnTo>
                <a:lnTo>
                  <a:pt x="0" y="103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5025" y="3364375"/>
            <a:ext cx="10863533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b="true" sz="9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Theoretical Foundations</a:t>
            </a:r>
            <a:r>
              <a:rPr lang="en-US" sz="9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of </a:t>
            </a:r>
            <a:r>
              <a:rPr lang="en-US" b="true" sz="9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Semantic Loss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5450" y="1723450"/>
            <a:ext cx="2503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98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1378150" y="3863343"/>
            <a:ext cx="714600" cy="618032"/>
            <a:chOff x="0" y="0"/>
            <a:chExt cx="952800" cy="824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23225" y="-3239875"/>
            <a:ext cx="3286016" cy="11859112"/>
            <a:chOff x="0" y="0"/>
            <a:chExt cx="4381355" cy="158121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683" y="12700"/>
              <a:ext cx="4377690" cy="15795752"/>
            </a:xfrm>
            <a:custGeom>
              <a:avLst/>
              <a:gdLst/>
              <a:ahLst/>
              <a:cxnLst/>
              <a:rect r="r" b="b" t="t" l="l"/>
              <a:pathLst>
                <a:path h="15795752" w="4377690">
                  <a:moveTo>
                    <a:pt x="0" y="15777718"/>
                  </a:moveTo>
                  <a:lnTo>
                    <a:pt x="4355973" y="11421872"/>
                  </a:lnTo>
                  <a:lnTo>
                    <a:pt x="4364990" y="11430889"/>
                  </a:lnTo>
                  <a:lnTo>
                    <a:pt x="4352290" y="11430889"/>
                  </a:lnTo>
                  <a:lnTo>
                    <a:pt x="4352290" y="0"/>
                  </a:lnTo>
                  <a:lnTo>
                    <a:pt x="4377690" y="0"/>
                  </a:lnTo>
                  <a:lnTo>
                    <a:pt x="4377690" y="11430762"/>
                  </a:lnTo>
                  <a:cubicBezTo>
                    <a:pt x="4377690" y="11434191"/>
                    <a:pt x="4376293" y="11437366"/>
                    <a:pt x="4374007" y="11439779"/>
                  </a:cubicBezTo>
                  <a:lnTo>
                    <a:pt x="18034" y="15795752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19" id="19"/>
          <p:cNvSpPr/>
          <p:nvPr/>
        </p:nvSpPr>
        <p:spPr>
          <a:xfrm rot="5394431">
            <a:off x="13263544" y="111757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2674203">
            <a:off x="15718521" y="798556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5400000">
            <a:off x="16910611" y="7121887"/>
            <a:ext cx="395518" cy="391361"/>
            <a:chOff x="0" y="0"/>
            <a:chExt cx="527357" cy="521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4" id="24"/>
          <p:cNvSpPr/>
          <p:nvPr/>
        </p:nvSpPr>
        <p:spPr>
          <a:xfrm rot="5394431">
            <a:off x="-2543517" y="1493858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674203">
            <a:off x="2574787" y="2020674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10800000">
            <a:off x="3790601" y="2469261"/>
            <a:ext cx="395518" cy="391361"/>
            <a:chOff x="0" y="0"/>
            <a:chExt cx="527357" cy="5218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101354" y="-879740"/>
            <a:ext cx="12029926" cy="3961744"/>
          </a:xfrm>
          <a:custGeom>
            <a:avLst/>
            <a:gdLst/>
            <a:ahLst/>
            <a:cxnLst/>
            <a:rect r="r" b="b" t="t" l="l"/>
            <a:pathLst>
              <a:path h="3961744" w="12029926">
                <a:moveTo>
                  <a:pt x="0" y="0"/>
                </a:moveTo>
                <a:lnTo>
                  <a:pt x="12029926" y="0"/>
                </a:lnTo>
                <a:lnTo>
                  <a:pt x="12029926" y="3961744"/>
                </a:lnTo>
                <a:lnTo>
                  <a:pt x="0" y="3961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433721" y="2520720"/>
            <a:ext cx="2339172" cy="1055849"/>
          </a:xfrm>
          <a:custGeom>
            <a:avLst/>
            <a:gdLst/>
            <a:ahLst/>
            <a:cxnLst/>
            <a:rect r="r" b="b" t="t" l="l"/>
            <a:pathLst>
              <a:path h="1055849" w="2339172">
                <a:moveTo>
                  <a:pt x="0" y="0"/>
                </a:moveTo>
                <a:lnTo>
                  <a:pt x="2339172" y="0"/>
                </a:lnTo>
                <a:lnTo>
                  <a:pt x="2339172" y="1055849"/>
                </a:lnTo>
                <a:lnTo>
                  <a:pt x="0" y="1055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THEORETICAL MOTIVATION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9877" y="3920322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4881" y="3914613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58902" y="4857750"/>
            <a:ext cx="4337550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Standard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Neural Networks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ignore logical structure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Output may violate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hard constraints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(e.g., x_i &gt; x_i+1 in a sorted list)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791058" y="4857750"/>
            <a:ext cx="4705884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emantic Loss (</a:t>
            </a:r>
            <a:r>
              <a:rPr lang="en-US" b="true" sz="3199" i="tru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L_sem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Acts as a regularizer for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logical consistency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Bridges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propositional logic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differentiable learning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352252" y="4857750"/>
            <a:ext cx="4831351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Inject </a:t>
            </a: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symbolic knowledge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into Deep Learning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Enforce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valid configurations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during training (semi-supervised signal).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846054" y="3920322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GOAL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365244" y="2704313"/>
            <a:ext cx="949956" cy="943600"/>
          </a:xfrm>
          <a:custGeom>
            <a:avLst/>
            <a:gdLst/>
            <a:ahLst/>
            <a:cxnLst/>
            <a:rect r="r" b="b" t="t" l="l"/>
            <a:pathLst>
              <a:path h="943600" w="949956">
                <a:moveTo>
                  <a:pt x="0" y="0"/>
                </a:moveTo>
                <a:lnTo>
                  <a:pt x="949956" y="0"/>
                </a:lnTo>
                <a:lnTo>
                  <a:pt x="949956" y="943600"/>
                </a:lnTo>
                <a:lnTo>
                  <a:pt x="0" y="943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099426" y="2719697"/>
            <a:ext cx="947073" cy="943450"/>
          </a:xfrm>
          <a:custGeom>
            <a:avLst/>
            <a:gdLst/>
            <a:ahLst/>
            <a:cxnLst/>
            <a:rect r="r" b="b" t="t" l="l"/>
            <a:pathLst>
              <a:path h="943450" w="947073">
                <a:moveTo>
                  <a:pt x="0" y="0"/>
                </a:moveTo>
                <a:lnTo>
                  <a:pt x="947074" y="0"/>
                </a:lnTo>
                <a:lnTo>
                  <a:pt x="947074" y="943450"/>
                </a:lnTo>
                <a:lnTo>
                  <a:pt x="0" y="943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377012" y="2719697"/>
            <a:ext cx="980651" cy="979656"/>
          </a:xfrm>
          <a:custGeom>
            <a:avLst/>
            <a:gdLst/>
            <a:ahLst/>
            <a:cxnLst/>
            <a:rect r="r" b="b" t="t" l="l"/>
            <a:pathLst>
              <a:path h="979656" w="980651">
                <a:moveTo>
                  <a:pt x="0" y="0"/>
                </a:moveTo>
                <a:lnTo>
                  <a:pt x="980651" y="0"/>
                </a:lnTo>
                <a:lnTo>
                  <a:pt x="980651" y="979656"/>
                </a:lnTo>
                <a:lnTo>
                  <a:pt x="0" y="9796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MATHEMATICAL FORMULATION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625" y="2489699"/>
            <a:ext cx="132861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CONCEPT: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Treat the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constraint α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as a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probabilistic event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625" y="3417355"/>
            <a:ext cx="47058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FORMULA: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9995" y="5688545"/>
            <a:ext cx="13286147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COMPONENTS: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Output probabilities from the Neural Network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x: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 possible state (variable assignment)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x ⊨ α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The set of all states where the constraint is α True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39995" y="8289407"/>
            <a:ext cx="13327933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INTERPRETATION: 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Minimize the negative log-probability of generating a state consistent with 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55567" y="3993872"/>
            <a:ext cx="1129670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ℒₛₑₘ(𝐩) ∝ −log ∑_{𝐱 ⊨ α} P(𝐱∣𝐩)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593772" y="3554657"/>
            <a:ext cx="4790001" cy="4790001"/>
          </a:xfrm>
          <a:custGeom>
            <a:avLst/>
            <a:gdLst/>
            <a:ahLst/>
            <a:cxnLst/>
            <a:rect r="r" b="b" t="t" l="l"/>
            <a:pathLst>
              <a:path h="4790001" w="4790001">
                <a:moveTo>
                  <a:pt x="0" y="0"/>
                </a:moveTo>
                <a:lnTo>
                  <a:pt x="4790001" y="0"/>
                </a:lnTo>
                <a:lnTo>
                  <a:pt x="4790001" y="4790001"/>
                </a:lnTo>
                <a:lnTo>
                  <a:pt x="0" y="47900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INTEGRATION &amp; TRAINING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625" y="2732587"/>
            <a:ext cx="132861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LOSS FUNCTION: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 i="tru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L_total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= (1 - λ) </a:t>
            </a:r>
            <a:r>
              <a:rPr lang="en-US" b="true" sz="3199" i="tru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L_sup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+ λ</a:t>
            </a:r>
            <a:r>
              <a:rPr lang="en-US" b="true" sz="3199" i="tru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L_sem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3808211"/>
            <a:ext cx="12791793" cy="281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COMPONENTS: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 i="tru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L_sup: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Standard Cross-Entropy (matches labels)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 i="tru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L_sem: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Penalizes logically invalid predictions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λ: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Hyperparameter controlling symbolic influence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09725" y="6736832"/>
            <a:ext cx="13286147" cy="200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PROJECT CONTEXT: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Constraint: 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Monotonicity (</a:t>
            </a:r>
            <a:r>
              <a:rPr lang="en-US" sz="3200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pos_i &lt; pos_i+1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Outcome: 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Improved robustness with limited data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25">
            <a:off x="7101403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125">
            <a:off x="7374914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125">
            <a:off x="723815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1125">
            <a:off x="751166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125">
            <a:off x="764842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125">
            <a:off x="7785180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1125">
            <a:off x="792193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1125">
            <a:off x="805869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125">
            <a:off x="8195446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1125">
            <a:off x="833220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840069" y="1068077"/>
            <a:ext cx="15292830" cy="10308934"/>
          </a:xfrm>
          <a:custGeom>
            <a:avLst/>
            <a:gdLst/>
            <a:ahLst/>
            <a:cxnLst/>
            <a:rect r="r" b="b" t="t" l="l"/>
            <a:pathLst>
              <a:path h="10308934" w="15292830">
                <a:moveTo>
                  <a:pt x="0" y="0"/>
                </a:moveTo>
                <a:lnTo>
                  <a:pt x="15292830" y="0"/>
                </a:lnTo>
                <a:lnTo>
                  <a:pt x="15292830" y="10308934"/>
                </a:lnTo>
                <a:lnTo>
                  <a:pt x="0" y="103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5025" y="3364375"/>
            <a:ext cx="14894275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b="true" sz="9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Connection between Propositional Logic and Differentiable Loss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5450" y="1723450"/>
            <a:ext cx="2503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98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1378150" y="3863343"/>
            <a:ext cx="714600" cy="618032"/>
            <a:chOff x="0" y="0"/>
            <a:chExt cx="952800" cy="824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23225" y="-3239875"/>
            <a:ext cx="3286016" cy="11859112"/>
            <a:chOff x="0" y="0"/>
            <a:chExt cx="4381355" cy="158121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683" y="12700"/>
              <a:ext cx="4377690" cy="15795752"/>
            </a:xfrm>
            <a:custGeom>
              <a:avLst/>
              <a:gdLst/>
              <a:ahLst/>
              <a:cxnLst/>
              <a:rect r="r" b="b" t="t" l="l"/>
              <a:pathLst>
                <a:path h="15795752" w="4377690">
                  <a:moveTo>
                    <a:pt x="0" y="15777718"/>
                  </a:moveTo>
                  <a:lnTo>
                    <a:pt x="4355973" y="11421872"/>
                  </a:lnTo>
                  <a:lnTo>
                    <a:pt x="4364990" y="11430889"/>
                  </a:lnTo>
                  <a:lnTo>
                    <a:pt x="4352290" y="11430889"/>
                  </a:lnTo>
                  <a:lnTo>
                    <a:pt x="4352290" y="0"/>
                  </a:lnTo>
                  <a:lnTo>
                    <a:pt x="4377690" y="0"/>
                  </a:lnTo>
                  <a:lnTo>
                    <a:pt x="4377690" y="11430762"/>
                  </a:lnTo>
                  <a:cubicBezTo>
                    <a:pt x="4377690" y="11434191"/>
                    <a:pt x="4376293" y="11437366"/>
                    <a:pt x="4374007" y="11439779"/>
                  </a:cubicBezTo>
                  <a:lnTo>
                    <a:pt x="18034" y="15795752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19" id="19"/>
          <p:cNvSpPr/>
          <p:nvPr/>
        </p:nvSpPr>
        <p:spPr>
          <a:xfrm rot="5394431">
            <a:off x="13263544" y="111757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2674203">
            <a:off x="15718521" y="798556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5400000">
            <a:off x="16910611" y="7121887"/>
            <a:ext cx="395518" cy="391361"/>
            <a:chOff x="0" y="0"/>
            <a:chExt cx="527357" cy="521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4" id="24"/>
          <p:cNvSpPr/>
          <p:nvPr/>
        </p:nvSpPr>
        <p:spPr>
          <a:xfrm rot="5394431">
            <a:off x="-2543517" y="1493858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674203">
            <a:off x="2574787" y="2020674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10800000">
            <a:off x="3790601" y="2469261"/>
            <a:ext cx="395518" cy="391361"/>
            <a:chOff x="0" y="0"/>
            <a:chExt cx="527357" cy="5218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101354" y="-879740"/>
            <a:ext cx="12029926" cy="3961744"/>
          </a:xfrm>
          <a:custGeom>
            <a:avLst/>
            <a:gdLst/>
            <a:ahLst/>
            <a:cxnLst/>
            <a:rect r="r" b="b" t="t" l="l"/>
            <a:pathLst>
              <a:path h="3961744" w="12029926">
                <a:moveTo>
                  <a:pt x="0" y="0"/>
                </a:moveTo>
                <a:lnTo>
                  <a:pt x="12029926" y="0"/>
                </a:lnTo>
                <a:lnTo>
                  <a:pt x="12029926" y="3961744"/>
                </a:lnTo>
                <a:lnTo>
                  <a:pt x="0" y="3961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433721" y="2520720"/>
            <a:ext cx="2339172" cy="1055849"/>
          </a:xfrm>
          <a:custGeom>
            <a:avLst/>
            <a:gdLst/>
            <a:ahLst/>
            <a:cxnLst/>
            <a:rect r="r" b="b" t="t" l="l"/>
            <a:pathLst>
              <a:path h="1055849" w="2339172">
                <a:moveTo>
                  <a:pt x="0" y="0"/>
                </a:moveTo>
                <a:lnTo>
                  <a:pt x="2339172" y="0"/>
                </a:lnTo>
                <a:lnTo>
                  <a:pt x="2339172" y="1055849"/>
                </a:lnTo>
                <a:lnTo>
                  <a:pt x="0" y="1055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BRIDGE (WMC)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9877" y="3920322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4881" y="3914613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4882347"/>
            <a:ext cx="4337550" cy="337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ogic is discrete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(True/False)</a:t>
            </a:r>
          </a:p>
          <a:p>
            <a:pPr algn="l">
              <a:lnSpc>
                <a:spcPts val="4479"/>
              </a:lnSpc>
            </a:pP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Loss functions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must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be continuous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78091" y="4886162"/>
            <a:ext cx="4705884" cy="506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logical satisfaction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to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Weighted Model Counting (WMC)</a:t>
            </a:r>
          </a:p>
          <a:p>
            <a:pPr algn="l">
              <a:lnSpc>
                <a:spcPts val="4479"/>
              </a:lnSpc>
            </a:pP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Calculates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total probability mass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of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all valid worlds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884025" y="4434025"/>
            <a:ext cx="5375275" cy="56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Interpret NN outputs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variable probabilities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Sum probabilities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possible worlds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satisfying constraint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α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is a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differentiable scalar value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(probability mass of valid states)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325643" y="3920322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MECHANISM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944227" y="2761162"/>
            <a:ext cx="823701" cy="981700"/>
          </a:xfrm>
          <a:custGeom>
            <a:avLst/>
            <a:gdLst/>
            <a:ahLst/>
            <a:cxnLst/>
            <a:rect r="r" b="b" t="t" l="l"/>
            <a:pathLst>
              <a:path h="981700" w="823701">
                <a:moveTo>
                  <a:pt x="0" y="0"/>
                </a:moveTo>
                <a:lnTo>
                  <a:pt x="823701" y="0"/>
                </a:lnTo>
                <a:lnTo>
                  <a:pt x="823701" y="981700"/>
                </a:lnTo>
                <a:lnTo>
                  <a:pt x="0" y="981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365244" y="2704313"/>
            <a:ext cx="949956" cy="943600"/>
          </a:xfrm>
          <a:custGeom>
            <a:avLst/>
            <a:gdLst/>
            <a:ahLst/>
            <a:cxnLst/>
            <a:rect r="r" b="b" t="t" l="l"/>
            <a:pathLst>
              <a:path h="943600" w="949956">
                <a:moveTo>
                  <a:pt x="0" y="0"/>
                </a:moveTo>
                <a:lnTo>
                  <a:pt x="949956" y="0"/>
                </a:lnTo>
                <a:lnTo>
                  <a:pt x="949956" y="943600"/>
                </a:lnTo>
                <a:lnTo>
                  <a:pt x="0" y="943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99426" y="2719697"/>
            <a:ext cx="947073" cy="943450"/>
          </a:xfrm>
          <a:custGeom>
            <a:avLst/>
            <a:gdLst/>
            <a:ahLst/>
            <a:cxnLst/>
            <a:rect r="r" b="b" t="t" l="l"/>
            <a:pathLst>
              <a:path h="943450" w="947073">
                <a:moveTo>
                  <a:pt x="0" y="0"/>
                </a:moveTo>
                <a:lnTo>
                  <a:pt x="947074" y="0"/>
                </a:lnTo>
                <a:lnTo>
                  <a:pt x="947074" y="943450"/>
                </a:lnTo>
                <a:lnTo>
                  <a:pt x="0" y="943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COMPUTATIONAL TRACTABILITY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9877" y="3920322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CHALLENGE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4881" y="3914613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METHOD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4882347"/>
            <a:ext cx="4337550" cy="169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Na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ive summation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over truth assignments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is #P-hard (exponential)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78091" y="4886162"/>
            <a:ext cx="4705884" cy="337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KNOWLEDGE COMPILATION: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Propositional Logic -&gt; Arithmetic Circuit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(AC) (e.g.,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-DNNF)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84025" y="4815672"/>
            <a:ext cx="5375275" cy="56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allows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computing WMC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linear time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w.r.t. circuit size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AC o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perations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(Sum/Product) ar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fully differentiable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Enables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efficient backpropagation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of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logical errors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325643" y="3920322"/>
            <a:ext cx="4337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ADVANTAGE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386977" y="2761162"/>
            <a:ext cx="968845" cy="966745"/>
          </a:xfrm>
          <a:custGeom>
            <a:avLst/>
            <a:gdLst/>
            <a:ahLst/>
            <a:cxnLst/>
            <a:rect r="r" b="b" t="t" l="l"/>
            <a:pathLst>
              <a:path h="966745" w="968845">
                <a:moveTo>
                  <a:pt x="0" y="0"/>
                </a:moveTo>
                <a:lnTo>
                  <a:pt x="968846" y="0"/>
                </a:lnTo>
                <a:lnTo>
                  <a:pt x="968846" y="966745"/>
                </a:lnTo>
                <a:lnTo>
                  <a:pt x="0" y="9667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90306" y="2761162"/>
            <a:ext cx="955597" cy="956428"/>
          </a:xfrm>
          <a:custGeom>
            <a:avLst/>
            <a:gdLst/>
            <a:ahLst/>
            <a:cxnLst/>
            <a:rect r="r" b="b" t="t" l="l"/>
            <a:pathLst>
              <a:path h="956428" w="955597">
                <a:moveTo>
                  <a:pt x="0" y="0"/>
                </a:moveTo>
                <a:lnTo>
                  <a:pt x="955597" y="0"/>
                </a:lnTo>
                <a:lnTo>
                  <a:pt x="955597" y="956428"/>
                </a:lnTo>
                <a:lnTo>
                  <a:pt x="0" y="9564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744661" y="2784231"/>
            <a:ext cx="952493" cy="943676"/>
          </a:xfrm>
          <a:custGeom>
            <a:avLst/>
            <a:gdLst/>
            <a:ahLst/>
            <a:cxnLst/>
            <a:rect r="r" b="b" t="t" l="l"/>
            <a:pathLst>
              <a:path h="943676" w="952493">
                <a:moveTo>
                  <a:pt x="0" y="0"/>
                </a:moveTo>
                <a:lnTo>
                  <a:pt x="952494" y="0"/>
                </a:lnTo>
                <a:lnTo>
                  <a:pt x="952494" y="943676"/>
                </a:lnTo>
                <a:lnTo>
                  <a:pt x="0" y="9436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649930">
            <a:off x="1257837" y="9956954"/>
            <a:ext cx="111940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2130380" y="9199848"/>
            <a:ext cx="444217" cy="439716"/>
            <a:chOff x="0" y="0"/>
            <a:chExt cx="592289" cy="5862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564261" cy="558292"/>
            </a:xfrm>
            <a:custGeom>
              <a:avLst/>
              <a:gdLst/>
              <a:ahLst/>
              <a:cxnLst/>
              <a:rect r="r" b="b" t="t" l="l"/>
              <a:pathLst>
                <a:path h="558292" w="564261">
                  <a:moveTo>
                    <a:pt x="0" y="279908"/>
                  </a:moveTo>
                  <a:cubicBezTo>
                    <a:pt x="0" y="434848"/>
                    <a:pt x="129667" y="558292"/>
                    <a:pt x="278511" y="558292"/>
                  </a:cubicBezTo>
                  <a:cubicBezTo>
                    <a:pt x="433451" y="558292"/>
                    <a:pt x="564261" y="434848"/>
                    <a:pt x="564261" y="280035"/>
                  </a:cubicBezTo>
                  <a:cubicBezTo>
                    <a:pt x="564261" y="125222"/>
                    <a:pt x="433451" y="0"/>
                    <a:pt x="278511" y="0"/>
                  </a:cubicBezTo>
                  <a:cubicBezTo>
                    <a:pt x="129667" y="0"/>
                    <a:pt x="0" y="125095"/>
                    <a:pt x="0" y="27990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9661" cy="583692"/>
            </a:xfrm>
            <a:custGeom>
              <a:avLst/>
              <a:gdLst/>
              <a:ahLst/>
              <a:cxnLst/>
              <a:rect r="r" b="b" t="t" l="l"/>
              <a:pathLst>
                <a:path h="583692" w="589661">
                  <a:moveTo>
                    <a:pt x="25400" y="292608"/>
                  </a:moveTo>
                  <a:cubicBezTo>
                    <a:pt x="25400" y="440309"/>
                    <a:pt x="149098" y="558165"/>
                    <a:pt x="291211" y="558165"/>
                  </a:cubicBezTo>
                  <a:lnTo>
                    <a:pt x="291211" y="570865"/>
                  </a:lnTo>
                  <a:lnTo>
                    <a:pt x="291211" y="558165"/>
                  </a:lnTo>
                  <a:cubicBezTo>
                    <a:pt x="439547" y="558165"/>
                    <a:pt x="564261" y="439928"/>
                    <a:pt x="564261" y="292608"/>
                  </a:cubicBezTo>
                  <a:lnTo>
                    <a:pt x="576961" y="292608"/>
                  </a:lnTo>
                  <a:lnTo>
                    <a:pt x="564261" y="292608"/>
                  </a:lnTo>
                  <a:cubicBezTo>
                    <a:pt x="564261" y="145161"/>
                    <a:pt x="439420" y="25400"/>
                    <a:pt x="291211" y="25400"/>
                  </a:cubicBezTo>
                  <a:lnTo>
                    <a:pt x="291211" y="12700"/>
                  </a:lnTo>
                  <a:lnTo>
                    <a:pt x="291211" y="25400"/>
                  </a:lnTo>
                  <a:cubicBezTo>
                    <a:pt x="149225" y="25400"/>
                    <a:pt x="25400" y="144907"/>
                    <a:pt x="25400" y="292608"/>
                  </a:cubicBezTo>
                  <a:lnTo>
                    <a:pt x="12700" y="292608"/>
                  </a:lnTo>
                  <a:lnTo>
                    <a:pt x="25400" y="292608"/>
                  </a:lnTo>
                  <a:moveTo>
                    <a:pt x="0" y="292608"/>
                  </a:moveTo>
                  <a:cubicBezTo>
                    <a:pt x="0" y="130683"/>
                    <a:pt x="135382" y="0"/>
                    <a:pt x="291211" y="0"/>
                  </a:cubicBezTo>
                  <a:cubicBezTo>
                    <a:pt x="452755" y="0"/>
                    <a:pt x="589661" y="130429"/>
                    <a:pt x="589661" y="292608"/>
                  </a:cubicBezTo>
                  <a:cubicBezTo>
                    <a:pt x="589661" y="454787"/>
                    <a:pt x="452755" y="583692"/>
                    <a:pt x="291211" y="583692"/>
                  </a:cubicBezTo>
                  <a:cubicBezTo>
                    <a:pt x="135509" y="583692"/>
                    <a:pt x="0" y="454787"/>
                    <a:pt x="0" y="29260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088525" y="-199925"/>
            <a:ext cx="4782000" cy="1513187"/>
          </a:xfrm>
          <a:custGeom>
            <a:avLst/>
            <a:gdLst/>
            <a:ahLst/>
            <a:cxnLst/>
            <a:rect r="r" b="b" t="t" l="l"/>
            <a:pathLst>
              <a:path h="1513187" w="4782000">
                <a:moveTo>
                  <a:pt x="0" y="0"/>
                </a:moveTo>
                <a:lnTo>
                  <a:pt x="4782000" y="0"/>
                </a:lnTo>
                <a:lnTo>
                  <a:pt x="4782000" y="1513187"/>
                </a:lnTo>
                <a:lnTo>
                  <a:pt x="0" y="1513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5605" y="2515669"/>
            <a:ext cx="18239554" cy="7146282"/>
          </a:xfrm>
          <a:custGeom>
            <a:avLst/>
            <a:gdLst/>
            <a:ahLst/>
            <a:cxnLst/>
            <a:rect r="r" b="b" t="t" l="l"/>
            <a:pathLst>
              <a:path h="7146282" w="18239554">
                <a:moveTo>
                  <a:pt x="0" y="0"/>
                </a:moveTo>
                <a:lnTo>
                  <a:pt x="18239554" y="0"/>
                </a:lnTo>
                <a:lnTo>
                  <a:pt x="18239554" y="7146282"/>
                </a:lnTo>
                <a:lnTo>
                  <a:pt x="0" y="7146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4374" y="1955346"/>
            <a:ext cx="17447186" cy="7929536"/>
          </a:xfrm>
          <a:custGeom>
            <a:avLst/>
            <a:gdLst/>
            <a:ahLst/>
            <a:cxnLst/>
            <a:rect r="r" b="b" t="t" l="l"/>
            <a:pathLst>
              <a:path h="7929536" w="17447186">
                <a:moveTo>
                  <a:pt x="0" y="0"/>
                </a:moveTo>
                <a:lnTo>
                  <a:pt x="17447186" y="0"/>
                </a:lnTo>
                <a:lnTo>
                  <a:pt x="17447186" y="7929536"/>
                </a:lnTo>
                <a:lnTo>
                  <a:pt x="0" y="7929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27700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FROM LOGIC TO GRADIENT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73350" y="2331600"/>
            <a:ext cx="1097400" cy="1097400"/>
            <a:chOff x="0" y="0"/>
            <a:chExt cx="1463200" cy="146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167" cy="1463167"/>
            </a:xfrm>
            <a:custGeom>
              <a:avLst/>
              <a:gdLst/>
              <a:ahLst/>
              <a:cxnLst/>
              <a:rect r="r" b="b" t="t" l="l"/>
              <a:pathLst>
                <a:path h="1463167" w="1463167">
                  <a:moveTo>
                    <a:pt x="0" y="0"/>
                  </a:moveTo>
                  <a:lnTo>
                    <a:pt x="1463167" y="0"/>
                  </a:lnTo>
                  <a:lnTo>
                    <a:pt x="1463167" y="1463167"/>
                  </a:lnTo>
                  <a:lnTo>
                    <a:pt x="0" y="1463167"/>
                  </a:lnTo>
                  <a:close/>
                </a:path>
              </a:pathLst>
            </a:custGeom>
            <a:solidFill>
              <a:srgbClr val="110E2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56750" y="2331600"/>
            <a:ext cx="1097400" cy="1097400"/>
            <a:chOff x="0" y="0"/>
            <a:chExt cx="1463200" cy="146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167" cy="1463167"/>
            </a:xfrm>
            <a:custGeom>
              <a:avLst/>
              <a:gdLst/>
              <a:ahLst/>
              <a:cxnLst/>
              <a:rect r="r" b="b" t="t" l="l"/>
              <a:pathLst>
                <a:path h="1463167" w="1463167">
                  <a:moveTo>
                    <a:pt x="0" y="0"/>
                  </a:moveTo>
                  <a:lnTo>
                    <a:pt x="1463167" y="0"/>
                  </a:lnTo>
                  <a:lnTo>
                    <a:pt x="1463167" y="1463167"/>
                  </a:lnTo>
                  <a:lnTo>
                    <a:pt x="0" y="1463167"/>
                  </a:lnTo>
                  <a:close/>
                </a:path>
              </a:pathLst>
            </a:custGeom>
            <a:solidFill>
              <a:srgbClr val="110E2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84650" y="5358139"/>
            <a:ext cx="34747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DEFINE: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Logic Constraint α (Hard Constraint)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09950" y="5358139"/>
            <a:ext cx="34747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COMPILE: 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Generate Arithmetic Circuit (Offline Step)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40275" y="5308100"/>
            <a:ext cx="34747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FORWARD: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Pass NN probabilities into Circuit → Get Probability of Satisfaction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78100" y="5308100"/>
            <a:ext cx="3474750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BACKWARD: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Compute Gradient of -log(</a:t>
            </a:r>
            <a:r>
              <a:rPr lang="en-US" sz="27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P_sat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) to update NN weights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3814971" y="4540475"/>
            <a:ext cx="2786179" cy="153886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1" id="21"/>
          <p:cNvSpPr/>
          <p:nvPr/>
        </p:nvSpPr>
        <p:spPr>
          <a:xfrm>
            <a:off x="7698525" y="4540475"/>
            <a:ext cx="2719811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2" id="22"/>
          <p:cNvSpPr/>
          <p:nvPr/>
        </p:nvSpPr>
        <p:spPr>
          <a:xfrm>
            <a:off x="11839360" y="4561287"/>
            <a:ext cx="2617390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3" id="23"/>
          <p:cNvSpPr/>
          <p:nvPr/>
        </p:nvSpPr>
        <p:spPr>
          <a:xfrm flipH="true">
            <a:off x="3222025" y="5035025"/>
            <a:ext cx="25" cy="342164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>
            <a:off x="7147325" y="5089150"/>
            <a:ext cx="2525" cy="288039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077650" y="5035025"/>
            <a:ext cx="0" cy="292125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5215475" y="5035725"/>
            <a:ext cx="0" cy="291425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6743988" y="4066037"/>
            <a:ext cx="954562" cy="948175"/>
          </a:xfrm>
          <a:custGeom>
            <a:avLst/>
            <a:gdLst/>
            <a:ahLst/>
            <a:cxnLst/>
            <a:rect r="r" b="b" t="t" l="l"/>
            <a:pathLst>
              <a:path h="948175" w="954562">
                <a:moveTo>
                  <a:pt x="0" y="0"/>
                </a:moveTo>
                <a:lnTo>
                  <a:pt x="954562" y="0"/>
                </a:lnTo>
                <a:lnTo>
                  <a:pt x="954562" y="948175"/>
                </a:lnTo>
                <a:lnTo>
                  <a:pt x="0" y="9481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62286" y="4045925"/>
            <a:ext cx="919529" cy="989100"/>
          </a:xfrm>
          <a:custGeom>
            <a:avLst/>
            <a:gdLst/>
            <a:ahLst/>
            <a:cxnLst/>
            <a:rect r="r" b="b" t="t" l="l"/>
            <a:pathLst>
              <a:path h="989100" w="919529">
                <a:moveTo>
                  <a:pt x="0" y="0"/>
                </a:moveTo>
                <a:lnTo>
                  <a:pt x="919528" y="0"/>
                </a:lnTo>
                <a:lnTo>
                  <a:pt x="919528" y="989100"/>
                </a:lnTo>
                <a:lnTo>
                  <a:pt x="0" y="989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740906" y="4087550"/>
            <a:ext cx="949137" cy="948175"/>
          </a:xfrm>
          <a:custGeom>
            <a:avLst/>
            <a:gdLst/>
            <a:ahLst/>
            <a:cxnLst/>
            <a:rect r="r" b="b" t="t" l="l"/>
            <a:pathLst>
              <a:path h="948175" w="949137">
                <a:moveTo>
                  <a:pt x="0" y="0"/>
                </a:moveTo>
                <a:lnTo>
                  <a:pt x="949138" y="0"/>
                </a:lnTo>
                <a:lnTo>
                  <a:pt x="949138" y="948175"/>
                </a:lnTo>
                <a:lnTo>
                  <a:pt x="0" y="948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603535" y="4087550"/>
            <a:ext cx="948231" cy="947475"/>
          </a:xfrm>
          <a:custGeom>
            <a:avLst/>
            <a:gdLst/>
            <a:ahLst/>
            <a:cxnLst/>
            <a:rect r="r" b="b" t="t" l="l"/>
            <a:pathLst>
              <a:path h="947475" w="948231">
                <a:moveTo>
                  <a:pt x="0" y="0"/>
                </a:moveTo>
                <a:lnTo>
                  <a:pt x="948230" y="0"/>
                </a:lnTo>
                <a:lnTo>
                  <a:pt x="948230" y="947475"/>
                </a:lnTo>
                <a:lnTo>
                  <a:pt x="0" y="9474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39995" y="2570737"/>
            <a:ext cx="438212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9995" y="7791851"/>
            <a:ext cx="438212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OUTCOME: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1025" y="8458601"/>
            <a:ext cx="1166048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</a:t>
            </a:r>
            <a:r>
              <a:rPr lang="en-US" b="true" sz="27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logic constraint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drives the </a:t>
            </a:r>
            <a:r>
              <a:rPr lang="en-US" b="true" sz="27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gradient descent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towards </a:t>
            </a:r>
            <a:r>
              <a:rPr lang="en-US" b="true" sz="27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valid regions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25">
            <a:off x="7101403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125">
            <a:off x="7374914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125">
            <a:off x="723815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1125">
            <a:off x="751166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125">
            <a:off x="764842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125">
            <a:off x="7785180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1125">
            <a:off x="792193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1125">
            <a:off x="805869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125">
            <a:off x="8195446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1125">
            <a:off x="833220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840069" y="1068077"/>
            <a:ext cx="15292830" cy="10308934"/>
          </a:xfrm>
          <a:custGeom>
            <a:avLst/>
            <a:gdLst/>
            <a:ahLst/>
            <a:cxnLst/>
            <a:rect r="r" b="b" t="t" l="l"/>
            <a:pathLst>
              <a:path h="10308934" w="15292830">
                <a:moveTo>
                  <a:pt x="0" y="0"/>
                </a:moveTo>
                <a:lnTo>
                  <a:pt x="15292830" y="0"/>
                </a:lnTo>
                <a:lnTo>
                  <a:pt x="15292830" y="10308934"/>
                </a:lnTo>
                <a:lnTo>
                  <a:pt x="0" y="103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5025" y="3386498"/>
            <a:ext cx="12087736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b="true" sz="9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Our Architecture and Training Methodology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5450" y="1723450"/>
            <a:ext cx="2503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98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1378150" y="3863343"/>
            <a:ext cx="714600" cy="618032"/>
            <a:chOff x="0" y="0"/>
            <a:chExt cx="952800" cy="824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23225" y="-3239875"/>
            <a:ext cx="3286016" cy="11859112"/>
            <a:chOff x="0" y="0"/>
            <a:chExt cx="4381355" cy="158121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683" y="12700"/>
              <a:ext cx="4377690" cy="15795752"/>
            </a:xfrm>
            <a:custGeom>
              <a:avLst/>
              <a:gdLst/>
              <a:ahLst/>
              <a:cxnLst/>
              <a:rect r="r" b="b" t="t" l="l"/>
              <a:pathLst>
                <a:path h="15795752" w="4377690">
                  <a:moveTo>
                    <a:pt x="0" y="15777718"/>
                  </a:moveTo>
                  <a:lnTo>
                    <a:pt x="4355973" y="11421872"/>
                  </a:lnTo>
                  <a:lnTo>
                    <a:pt x="4364990" y="11430889"/>
                  </a:lnTo>
                  <a:lnTo>
                    <a:pt x="4352290" y="11430889"/>
                  </a:lnTo>
                  <a:lnTo>
                    <a:pt x="4352290" y="0"/>
                  </a:lnTo>
                  <a:lnTo>
                    <a:pt x="4377690" y="0"/>
                  </a:lnTo>
                  <a:lnTo>
                    <a:pt x="4377690" y="11430762"/>
                  </a:lnTo>
                  <a:cubicBezTo>
                    <a:pt x="4377690" y="11434191"/>
                    <a:pt x="4376293" y="11437366"/>
                    <a:pt x="4374007" y="11439779"/>
                  </a:cubicBezTo>
                  <a:lnTo>
                    <a:pt x="18034" y="15795752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19" id="19"/>
          <p:cNvSpPr/>
          <p:nvPr/>
        </p:nvSpPr>
        <p:spPr>
          <a:xfrm rot="5394431">
            <a:off x="13263544" y="111757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2674203">
            <a:off x="15718521" y="798556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5400000">
            <a:off x="16910611" y="7121887"/>
            <a:ext cx="395518" cy="391361"/>
            <a:chOff x="0" y="0"/>
            <a:chExt cx="527357" cy="521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4" id="24"/>
          <p:cNvSpPr/>
          <p:nvPr/>
        </p:nvSpPr>
        <p:spPr>
          <a:xfrm rot="5394431">
            <a:off x="-2543517" y="1493858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674203">
            <a:off x="2574787" y="2020674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10800000">
            <a:off x="3790601" y="2469261"/>
            <a:ext cx="395518" cy="391361"/>
            <a:chOff x="0" y="0"/>
            <a:chExt cx="527357" cy="5218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101354" y="-879740"/>
            <a:ext cx="12029926" cy="3961744"/>
          </a:xfrm>
          <a:custGeom>
            <a:avLst/>
            <a:gdLst/>
            <a:ahLst/>
            <a:cxnLst/>
            <a:rect r="r" b="b" t="t" l="l"/>
            <a:pathLst>
              <a:path h="3961744" w="12029926">
                <a:moveTo>
                  <a:pt x="0" y="0"/>
                </a:moveTo>
                <a:lnTo>
                  <a:pt x="12029926" y="0"/>
                </a:lnTo>
                <a:lnTo>
                  <a:pt x="12029926" y="3961744"/>
                </a:lnTo>
                <a:lnTo>
                  <a:pt x="0" y="3961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433721" y="2520720"/>
            <a:ext cx="2339172" cy="1055849"/>
          </a:xfrm>
          <a:custGeom>
            <a:avLst/>
            <a:gdLst/>
            <a:ahLst/>
            <a:cxnLst/>
            <a:rect r="r" b="b" t="t" l="l"/>
            <a:pathLst>
              <a:path h="1055849" w="2339172">
                <a:moveTo>
                  <a:pt x="0" y="0"/>
                </a:moveTo>
                <a:lnTo>
                  <a:pt x="2339172" y="0"/>
                </a:lnTo>
                <a:lnTo>
                  <a:pt x="2339172" y="1055849"/>
                </a:lnTo>
                <a:lnTo>
                  <a:pt x="0" y="1055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SEMANTIC LOSS I (SYMBOLIC CNF)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625" y="2418618"/>
            <a:ext cx="1397195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METHOD: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Explicit construction of Propositional Logic trees (via SymPy)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625" y="3360205"/>
            <a:ext cx="14724321" cy="119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LOGIC: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 adjacent positions j, j+1: 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(Pᵢ,ⱼ ∧ Pₖ,ⱼ₊₁) ⇒ Val(i) ≤ Val(k)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5057775"/>
            <a:ext cx="14724321" cy="17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CONFLICT CLAUSE: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If Val(i) &gt; Val(k), the configuration is invalid 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CNF Formula: ¬Pᵢ,ⱼ ∨ ¬Pₖ,ⱼ₊₁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Probabilistic Eval: 1 − (P(i@j) · P(k@j+1))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1840" y="7352666"/>
            <a:ext cx="14724321" cy="59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LIMITATION: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Requires recursive tree traversal on CPU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SEMANTIC LOSS II (PAIRWISE OPTIM.)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625" y="2418618"/>
            <a:ext cx="1397195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METHOD: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Matrix operations on GPU (Tensor-based)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3743" y="3390168"/>
            <a:ext cx="14724321" cy="119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MECHANISM: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Compute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Joint Probability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for all pairs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simultaneously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using Batch Matrix Multiplication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3743" y="5027834"/>
            <a:ext cx="14724321" cy="119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FORMULA: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ℒ_local ∝ −log ∑ᵢ,ₖ ( P(i@j) · P(k@j+1) · 𝐌ᵢ,ₖ )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𝐌ᵢ,ₖ: Validity Mask (1 if Val(i) ≤ Val(k), else 0)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3743" y="6679682"/>
            <a:ext cx="14724321" cy="239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ADVANTAGE: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Transitivity: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Local checks (j &lt; j+1) enforce global order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Speed: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Parallelizes the logic evaluation (O(N^2) matrix op)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Enables scalable training with symbolic guarantees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 &amp; STRUCTURAL CONSTRAINTS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625" y="2418618"/>
            <a:ext cx="1397195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ARCHITECTURE: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SortNet (MLP)</a:t>
            </a:r>
          </a:p>
          <a:p>
            <a:pPr algn="l" marL="734055" indent="-367027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Input: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5 Integers →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Hidden: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64-32 (ReLU) →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Output: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5x5 Matrix</a:t>
            </a:r>
          </a:p>
          <a:p>
            <a:pPr algn="l" marL="734055" indent="-367027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Activation: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Softmax over positions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3743" y="4200842"/>
            <a:ext cx="14724321" cy="17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CONSTRAINT 1: Exactly - One (Structural)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Logic: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Every item must be in exactly one position; every position must hold exactly one item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6219508"/>
            <a:ext cx="14724321" cy="239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IMPLEMENTATION: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Differentiable penalty on probability mass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Rows: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∑ⱼ Pᵢ,ⱼ = 1 (Item i placed once)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Cols: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∑ᵢ Pᵢ,ⱼ = 1 (Position j filled once)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702625" y="8226000"/>
            <a:ext cx="1482471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ROLE: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Prevents the network from "cheating" (e.g., duplicating easy numbers)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25">
            <a:off x="7101403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125">
            <a:off x="7374914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125">
            <a:off x="723815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1125">
            <a:off x="751166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125">
            <a:off x="764842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125">
            <a:off x="7785180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1125">
            <a:off x="792193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1125">
            <a:off x="805869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125">
            <a:off x="8195446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1125">
            <a:off x="833220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840069" y="1068077"/>
            <a:ext cx="15292830" cy="10308934"/>
          </a:xfrm>
          <a:custGeom>
            <a:avLst/>
            <a:gdLst/>
            <a:ahLst/>
            <a:cxnLst/>
            <a:rect r="r" b="b" t="t" l="l"/>
            <a:pathLst>
              <a:path h="10308934" w="15292830">
                <a:moveTo>
                  <a:pt x="0" y="0"/>
                </a:moveTo>
                <a:lnTo>
                  <a:pt x="15292830" y="0"/>
                </a:lnTo>
                <a:lnTo>
                  <a:pt x="15292830" y="10308934"/>
                </a:lnTo>
                <a:lnTo>
                  <a:pt x="0" y="103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5025" y="3386498"/>
            <a:ext cx="12087736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b="true" sz="9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Experimental Results and Comparisons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5450" y="1723450"/>
            <a:ext cx="2503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98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1378150" y="3863343"/>
            <a:ext cx="714600" cy="618032"/>
            <a:chOff x="0" y="0"/>
            <a:chExt cx="952800" cy="824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23225" y="-3239875"/>
            <a:ext cx="3286016" cy="11859112"/>
            <a:chOff x="0" y="0"/>
            <a:chExt cx="4381355" cy="158121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683" y="12700"/>
              <a:ext cx="4377690" cy="15795752"/>
            </a:xfrm>
            <a:custGeom>
              <a:avLst/>
              <a:gdLst/>
              <a:ahLst/>
              <a:cxnLst/>
              <a:rect r="r" b="b" t="t" l="l"/>
              <a:pathLst>
                <a:path h="15795752" w="4377690">
                  <a:moveTo>
                    <a:pt x="0" y="15777718"/>
                  </a:moveTo>
                  <a:lnTo>
                    <a:pt x="4355973" y="11421872"/>
                  </a:lnTo>
                  <a:lnTo>
                    <a:pt x="4364990" y="11430889"/>
                  </a:lnTo>
                  <a:lnTo>
                    <a:pt x="4352290" y="11430889"/>
                  </a:lnTo>
                  <a:lnTo>
                    <a:pt x="4352290" y="0"/>
                  </a:lnTo>
                  <a:lnTo>
                    <a:pt x="4377690" y="0"/>
                  </a:lnTo>
                  <a:lnTo>
                    <a:pt x="4377690" y="11430762"/>
                  </a:lnTo>
                  <a:cubicBezTo>
                    <a:pt x="4377690" y="11434191"/>
                    <a:pt x="4376293" y="11437366"/>
                    <a:pt x="4374007" y="11439779"/>
                  </a:cubicBezTo>
                  <a:lnTo>
                    <a:pt x="18034" y="15795752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19" id="19"/>
          <p:cNvSpPr/>
          <p:nvPr/>
        </p:nvSpPr>
        <p:spPr>
          <a:xfrm rot="5394431">
            <a:off x="13263544" y="111757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2674203">
            <a:off x="15718521" y="798556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5400000">
            <a:off x="16910611" y="7121887"/>
            <a:ext cx="395518" cy="391361"/>
            <a:chOff x="0" y="0"/>
            <a:chExt cx="527357" cy="521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4" id="24"/>
          <p:cNvSpPr/>
          <p:nvPr/>
        </p:nvSpPr>
        <p:spPr>
          <a:xfrm rot="5394431">
            <a:off x="-2543517" y="1493858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674203">
            <a:off x="2574787" y="2020674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10800000">
            <a:off x="3790601" y="2469261"/>
            <a:ext cx="395518" cy="391361"/>
            <a:chOff x="0" y="0"/>
            <a:chExt cx="527357" cy="5218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101354" y="-879740"/>
            <a:ext cx="12029926" cy="3961744"/>
          </a:xfrm>
          <a:custGeom>
            <a:avLst/>
            <a:gdLst/>
            <a:ahLst/>
            <a:cxnLst/>
            <a:rect r="r" b="b" t="t" l="l"/>
            <a:pathLst>
              <a:path h="3961744" w="12029926">
                <a:moveTo>
                  <a:pt x="0" y="0"/>
                </a:moveTo>
                <a:lnTo>
                  <a:pt x="12029926" y="0"/>
                </a:lnTo>
                <a:lnTo>
                  <a:pt x="12029926" y="3961744"/>
                </a:lnTo>
                <a:lnTo>
                  <a:pt x="0" y="3961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433721" y="2520720"/>
            <a:ext cx="2339172" cy="1055849"/>
          </a:xfrm>
          <a:custGeom>
            <a:avLst/>
            <a:gdLst/>
            <a:ahLst/>
            <a:cxnLst/>
            <a:rect r="r" b="b" t="t" l="l"/>
            <a:pathLst>
              <a:path h="1055849" w="2339172">
                <a:moveTo>
                  <a:pt x="0" y="0"/>
                </a:moveTo>
                <a:lnTo>
                  <a:pt x="2339172" y="0"/>
                </a:lnTo>
                <a:lnTo>
                  <a:pt x="2339172" y="1055849"/>
                </a:lnTo>
                <a:lnTo>
                  <a:pt x="0" y="1055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4576" y="2277131"/>
            <a:ext cx="14175615" cy="5967918"/>
          </a:xfrm>
          <a:custGeom>
            <a:avLst/>
            <a:gdLst/>
            <a:ahLst/>
            <a:cxnLst/>
            <a:rect r="r" b="b" t="t" l="l"/>
            <a:pathLst>
              <a:path h="5967918" w="14175615">
                <a:moveTo>
                  <a:pt x="0" y="0"/>
                </a:moveTo>
                <a:lnTo>
                  <a:pt x="14175615" y="0"/>
                </a:lnTo>
                <a:lnTo>
                  <a:pt x="14175615" y="5967919"/>
                </a:lnTo>
                <a:lnTo>
                  <a:pt x="0" y="5967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" t="-367" r="0" b="-367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LEARNING CURVE - 1% LABELS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9836" y="8467725"/>
            <a:ext cx="1499783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Semantic Loss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drastically outperforms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the baseline in data-scarce scenarios, effectively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preventing overfitting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where supervised signals are insufficient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35524" y="2080054"/>
            <a:ext cx="10220759" cy="6241848"/>
          </a:xfrm>
          <a:custGeom>
            <a:avLst/>
            <a:gdLst/>
            <a:ahLst/>
            <a:cxnLst/>
            <a:rect r="r" b="b" t="t" l="l"/>
            <a:pathLst>
              <a:path h="6241848" w="10220759">
                <a:moveTo>
                  <a:pt x="0" y="0"/>
                </a:moveTo>
                <a:lnTo>
                  <a:pt x="10220758" y="0"/>
                </a:lnTo>
                <a:lnTo>
                  <a:pt x="10220758" y="6241848"/>
                </a:lnTo>
                <a:lnTo>
                  <a:pt x="0" y="624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" t="-1360" r="0" b="-136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55667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CONVERGENCE SPEED - 1% LABELS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9836" y="8467725"/>
            <a:ext cx="1499783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The injection of log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ic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ts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as a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strong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"cold start"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accelerator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allow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ing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m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reach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optimal performance significantly earlier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than the baseline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4576" y="2277131"/>
            <a:ext cx="14175615" cy="5967918"/>
          </a:xfrm>
          <a:custGeom>
            <a:avLst/>
            <a:gdLst/>
            <a:ahLst/>
            <a:cxnLst/>
            <a:rect r="r" b="b" t="t" l="l"/>
            <a:pathLst>
              <a:path h="5967918" w="14175615">
                <a:moveTo>
                  <a:pt x="0" y="0"/>
                </a:moveTo>
                <a:lnTo>
                  <a:pt x="14175615" y="0"/>
                </a:lnTo>
                <a:lnTo>
                  <a:pt x="14175615" y="5967919"/>
                </a:lnTo>
                <a:lnTo>
                  <a:pt x="0" y="5967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3" r="0" b="-313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LEARNING CURVE - 10% LABELS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9836" y="8467725"/>
            <a:ext cx="1499783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As labeled data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increases the performance gap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narrows, yet th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uro-Symbol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maintains superior stability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and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lower variance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during training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35524" y="2080054"/>
            <a:ext cx="10220759" cy="6241848"/>
          </a:xfrm>
          <a:custGeom>
            <a:avLst/>
            <a:gdLst/>
            <a:ahLst/>
            <a:cxnLst/>
            <a:rect r="r" b="b" t="t" l="l"/>
            <a:pathLst>
              <a:path h="6241848" w="10220759">
                <a:moveTo>
                  <a:pt x="0" y="0"/>
                </a:moveTo>
                <a:lnTo>
                  <a:pt x="10220758" y="0"/>
                </a:lnTo>
                <a:lnTo>
                  <a:pt x="10220758" y="6241848"/>
                </a:lnTo>
                <a:lnTo>
                  <a:pt x="0" y="624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8" r="0" b="-1058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55667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CONVERGENCE SPEED - 10% LABELS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9836" y="8467725"/>
            <a:ext cx="1499783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Even with suff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icient d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a,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ymbolic regularization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enforces faster gradient descent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3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reducing the overall computational budget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equ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 fo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convergence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25">
            <a:off x="7101403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125">
            <a:off x="7374914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125">
            <a:off x="723815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1125">
            <a:off x="7511669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125">
            <a:off x="764842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125">
            <a:off x="7785180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1125">
            <a:off x="7921935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1125">
            <a:off x="805869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125">
            <a:off x="8195446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1125">
            <a:off x="8332201" y="-3196699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840069" y="1068077"/>
            <a:ext cx="15292830" cy="10308934"/>
          </a:xfrm>
          <a:custGeom>
            <a:avLst/>
            <a:gdLst/>
            <a:ahLst/>
            <a:cxnLst/>
            <a:rect r="r" b="b" t="t" l="l"/>
            <a:pathLst>
              <a:path h="10308934" w="15292830">
                <a:moveTo>
                  <a:pt x="0" y="0"/>
                </a:moveTo>
                <a:lnTo>
                  <a:pt x="15292830" y="0"/>
                </a:lnTo>
                <a:lnTo>
                  <a:pt x="15292830" y="10308934"/>
                </a:lnTo>
                <a:lnTo>
                  <a:pt x="0" y="103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5025" y="3386498"/>
            <a:ext cx="12087736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b="true" sz="9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Advantages and Limitations of Semantic Loss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5450" y="1723450"/>
            <a:ext cx="2503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98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1378150" y="3863343"/>
            <a:ext cx="714600" cy="618032"/>
            <a:chOff x="0" y="0"/>
            <a:chExt cx="952800" cy="824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23225" y="-3239875"/>
            <a:ext cx="3286016" cy="11859112"/>
            <a:chOff x="0" y="0"/>
            <a:chExt cx="4381355" cy="158121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683" y="12700"/>
              <a:ext cx="4377690" cy="15795752"/>
            </a:xfrm>
            <a:custGeom>
              <a:avLst/>
              <a:gdLst/>
              <a:ahLst/>
              <a:cxnLst/>
              <a:rect r="r" b="b" t="t" l="l"/>
              <a:pathLst>
                <a:path h="15795752" w="4377690">
                  <a:moveTo>
                    <a:pt x="0" y="15777718"/>
                  </a:moveTo>
                  <a:lnTo>
                    <a:pt x="4355973" y="11421872"/>
                  </a:lnTo>
                  <a:lnTo>
                    <a:pt x="4364990" y="11430889"/>
                  </a:lnTo>
                  <a:lnTo>
                    <a:pt x="4352290" y="11430889"/>
                  </a:lnTo>
                  <a:lnTo>
                    <a:pt x="4352290" y="0"/>
                  </a:lnTo>
                  <a:lnTo>
                    <a:pt x="4377690" y="0"/>
                  </a:lnTo>
                  <a:lnTo>
                    <a:pt x="4377690" y="11430762"/>
                  </a:lnTo>
                  <a:cubicBezTo>
                    <a:pt x="4377690" y="11434191"/>
                    <a:pt x="4376293" y="11437366"/>
                    <a:pt x="4374007" y="11439779"/>
                  </a:cubicBezTo>
                  <a:lnTo>
                    <a:pt x="18034" y="15795752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19" id="19"/>
          <p:cNvSpPr/>
          <p:nvPr/>
        </p:nvSpPr>
        <p:spPr>
          <a:xfrm rot="5394431">
            <a:off x="13263544" y="111757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2674203">
            <a:off x="15718521" y="798556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5400000">
            <a:off x="16910611" y="7121887"/>
            <a:ext cx="395518" cy="391361"/>
            <a:chOff x="0" y="0"/>
            <a:chExt cx="527357" cy="521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4" id="24"/>
          <p:cNvSpPr/>
          <p:nvPr/>
        </p:nvSpPr>
        <p:spPr>
          <a:xfrm rot="5394431">
            <a:off x="-2543517" y="1493858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674203">
            <a:off x="2574787" y="2020674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10800000">
            <a:off x="3790601" y="2469261"/>
            <a:ext cx="395518" cy="391361"/>
            <a:chOff x="0" y="0"/>
            <a:chExt cx="527357" cy="5218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6113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101354" y="-879740"/>
            <a:ext cx="12029926" cy="3961744"/>
          </a:xfrm>
          <a:custGeom>
            <a:avLst/>
            <a:gdLst/>
            <a:ahLst/>
            <a:cxnLst/>
            <a:rect r="r" b="b" t="t" l="l"/>
            <a:pathLst>
              <a:path h="3961744" w="12029926">
                <a:moveTo>
                  <a:pt x="0" y="0"/>
                </a:moveTo>
                <a:lnTo>
                  <a:pt x="12029926" y="0"/>
                </a:lnTo>
                <a:lnTo>
                  <a:pt x="12029926" y="3961744"/>
                </a:lnTo>
                <a:lnTo>
                  <a:pt x="0" y="3961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433721" y="2520720"/>
            <a:ext cx="2339172" cy="1055849"/>
          </a:xfrm>
          <a:custGeom>
            <a:avLst/>
            <a:gdLst/>
            <a:ahLst/>
            <a:cxnLst/>
            <a:rect r="r" b="b" t="t" l="l"/>
            <a:pathLst>
              <a:path h="1055849" w="2339172">
                <a:moveTo>
                  <a:pt x="0" y="0"/>
                </a:moveTo>
                <a:lnTo>
                  <a:pt x="2339172" y="0"/>
                </a:lnTo>
                <a:lnTo>
                  <a:pt x="2339172" y="1055849"/>
                </a:lnTo>
                <a:lnTo>
                  <a:pt x="0" y="1055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6600" y="3736672"/>
            <a:ext cx="15701636" cy="5845586"/>
          </a:xfrm>
          <a:custGeom>
            <a:avLst/>
            <a:gdLst/>
            <a:ahLst/>
            <a:cxnLst/>
            <a:rect r="r" b="b" t="t" l="l"/>
            <a:pathLst>
              <a:path h="5845586" w="15701636">
                <a:moveTo>
                  <a:pt x="0" y="0"/>
                </a:moveTo>
                <a:lnTo>
                  <a:pt x="15701636" y="0"/>
                </a:lnTo>
                <a:lnTo>
                  <a:pt x="15701636" y="5845586"/>
                </a:lnTo>
                <a:lnTo>
                  <a:pt x="0" y="58455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6550" y="4857653"/>
            <a:ext cx="14896685" cy="5075161"/>
          </a:xfrm>
          <a:custGeom>
            <a:avLst/>
            <a:gdLst/>
            <a:ahLst/>
            <a:cxnLst/>
            <a:rect r="r" b="b" t="t" l="l"/>
            <a:pathLst>
              <a:path h="5075161" w="14896685">
                <a:moveTo>
                  <a:pt x="0" y="0"/>
                </a:moveTo>
                <a:lnTo>
                  <a:pt x="14896685" y="0"/>
                </a:lnTo>
                <a:lnTo>
                  <a:pt x="14896685" y="5075161"/>
                </a:lnTo>
                <a:lnTo>
                  <a:pt x="0" y="5075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267925" y="-232175"/>
            <a:ext cx="2179550" cy="7306150"/>
          </a:xfrm>
          <a:custGeom>
            <a:avLst/>
            <a:gdLst/>
            <a:ahLst/>
            <a:cxnLst/>
            <a:rect r="r" b="b" t="t" l="l"/>
            <a:pathLst>
              <a:path h="7306150" w="2179550">
                <a:moveTo>
                  <a:pt x="0" y="0"/>
                </a:moveTo>
                <a:lnTo>
                  <a:pt x="2179550" y="0"/>
                </a:lnTo>
                <a:lnTo>
                  <a:pt x="2179550" y="7306150"/>
                </a:lnTo>
                <a:lnTo>
                  <a:pt x="0" y="7306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71725" y="5299525"/>
            <a:ext cx="700300" cy="5211650"/>
            <a:chOff x="0" y="0"/>
            <a:chExt cx="933733" cy="69488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933704" cy="6923405"/>
            </a:xfrm>
            <a:custGeom>
              <a:avLst/>
              <a:gdLst/>
              <a:ahLst/>
              <a:cxnLst/>
              <a:rect r="r" b="b" t="t" l="l"/>
              <a:pathLst>
                <a:path h="6923405" w="933704">
                  <a:moveTo>
                    <a:pt x="908304" y="6923405"/>
                  </a:moveTo>
                  <a:lnTo>
                    <a:pt x="908304" y="5515864"/>
                  </a:lnTo>
                  <a:lnTo>
                    <a:pt x="921004" y="5515864"/>
                  </a:lnTo>
                  <a:lnTo>
                    <a:pt x="911987" y="5524881"/>
                  </a:lnTo>
                  <a:lnTo>
                    <a:pt x="3683" y="4616450"/>
                  </a:lnTo>
                  <a:cubicBezTo>
                    <a:pt x="1270" y="4614037"/>
                    <a:pt x="0" y="4610862"/>
                    <a:pt x="0" y="4607433"/>
                  </a:cubicBezTo>
                  <a:lnTo>
                    <a:pt x="0" y="0"/>
                  </a:lnTo>
                  <a:lnTo>
                    <a:pt x="25400" y="0"/>
                  </a:lnTo>
                  <a:lnTo>
                    <a:pt x="25400" y="4607433"/>
                  </a:lnTo>
                  <a:lnTo>
                    <a:pt x="12700" y="4607433"/>
                  </a:lnTo>
                  <a:lnTo>
                    <a:pt x="21717" y="4598416"/>
                  </a:lnTo>
                  <a:lnTo>
                    <a:pt x="930021" y="5506847"/>
                  </a:lnTo>
                  <a:cubicBezTo>
                    <a:pt x="932434" y="5509260"/>
                    <a:pt x="933704" y="5512435"/>
                    <a:pt x="933704" y="5515864"/>
                  </a:cubicBezTo>
                  <a:lnTo>
                    <a:pt x="933704" y="6923405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9" id="9"/>
          <p:cNvSpPr/>
          <p:nvPr/>
        </p:nvSpPr>
        <p:spPr>
          <a:xfrm rot="2838">
            <a:off x="-2380643" y="690873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838">
            <a:off x="-2380643" y="704548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838">
            <a:off x="-2380643" y="718224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38">
            <a:off x="-2380643" y="731899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838">
            <a:off x="-2380643" y="745575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4796786" y="939314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6376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PERFORMANCE MATRIX (1% LABELS)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028700" y="2653664"/>
          <a:ext cx="16195666" cy="6000999"/>
        </p:xfrm>
        <a:graphic>
          <a:graphicData uri="http://schemas.openxmlformats.org/drawingml/2006/table">
            <a:tbl>
              <a:tblPr/>
              <a:tblGrid>
                <a:gridCol w="3060605"/>
                <a:gridCol w="2439686"/>
                <a:gridCol w="3628780"/>
                <a:gridCol w="3350575"/>
                <a:gridCol w="3716020"/>
              </a:tblGrid>
              <a:tr h="1543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METRIC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BASELINE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NEUROSYMBOLIC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Δ IMPACT(Baseline → Nesy)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SEMANTIC CNF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EXACTLY-ONE (VALIDITY)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48%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69%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+21%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57%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  <a:tr h="1485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EXACT MATCH (ACCURACY)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27%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42%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+15%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26%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  <a:tr h="1485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EPOCHS-TO-27%-ACCURACY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75 Epochs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39 Epochs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-36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/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6600" y="3736672"/>
            <a:ext cx="15701636" cy="5845586"/>
          </a:xfrm>
          <a:custGeom>
            <a:avLst/>
            <a:gdLst/>
            <a:ahLst/>
            <a:cxnLst/>
            <a:rect r="r" b="b" t="t" l="l"/>
            <a:pathLst>
              <a:path h="5845586" w="15701636">
                <a:moveTo>
                  <a:pt x="0" y="0"/>
                </a:moveTo>
                <a:lnTo>
                  <a:pt x="15701636" y="0"/>
                </a:lnTo>
                <a:lnTo>
                  <a:pt x="15701636" y="5845586"/>
                </a:lnTo>
                <a:lnTo>
                  <a:pt x="0" y="58455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6550" y="4857653"/>
            <a:ext cx="14896685" cy="5075161"/>
          </a:xfrm>
          <a:custGeom>
            <a:avLst/>
            <a:gdLst/>
            <a:ahLst/>
            <a:cxnLst/>
            <a:rect r="r" b="b" t="t" l="l"/>
            <a:pathLst>
              <a:path h="5075161" w="14896685">
                <a:moveTo>
                  <a:pt x="0" y="0"/>
                </a:moveTo>
                <a:lnTo>
                  <a:pt x="14896685" y="0"/>
                </a:lnTo>
                <a:lnTo>
                  <a:pt x="14896685" y="5075161"/>
                </a:lnTo>
                <a:lnTo>
                  <a:pt x="0" y="5075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267925" y="-232175"/>
            <a:ext cx="2179550" cy="7306150"/>
          </a:xfrm>
          <a:custGeom>
            <a:avLst/>
            <a:gdLst/>
            <a:ahLst/>
            <a:cxnLst/>
            <a:rect r="r" b="b" t="t" l="l"/>
            <a:pathLst>
              <a:path h="7306150" w="2179550">
                <a:moveTo>
                  <a:pt x="0" y="0"/>
                </a:moveTo>
                <a:lnTo>
                  <a:pt x="2179550" y="0"/>
                </a:lnTo>
                <a:lnTo>
                  <a:pt x="2179550" y="7306150"/>
                </a:lnTo>
                <a:lnTo>
                  <a:pt x="0" y="7306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71725" y="5299525"/>
            <a:ext cx="700300" cy="5211650"/>
            <a:chOff x="0" y="0"/>
            <a:chExt cx="933733" cy="69488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933704" cy="6923405"/>
            </a:xfrm>
            <a:custGeom>
              <a:avLst/>
              <a:gdLst/>
              <a:ahLst/>
              <a:cxnLst/>
              <a:rect r="r" b="b" t="t" l="l"/>
              <a:pathLst>
                <a:path h="6923405" w="933704">
                  <a:moveTo>
                    <a:pt x="908304" y="6923405"/>
                  </a:moveTo>
                  <a:lnTo>
                    <a:pt x="908304" y="5515864"/>
                  </a:lnTo>
                  <a:lnTo>
                    <a:pt x="921004" y="5515864"/>
                  </a:lnTo>
                  <a:lnTo>
                    <a:pt x="911987" y="5524881"/>
                  </a:lnTo>
                  <a:lnTo>
                    <a:pt x="3683" y="4616450"/>
                  </a:lnTo>
                  <a:cubicBezTo>
                    <a:pt x="1270" y="4614037"/>
                    <a:pt x="0" y="4610862"/>
                    <a:pt x="0" y="4607433"/>
                  </a:cubicBezTo>
                  <a:lnTo>
                    <a:pt x="0" y="0"/>
                  </a:lnTo>
                  <a:lnTo>
                    <a:pt x="25400" y="0"/>
                  </a:lnTo>
                  <a:lnTo>
                    <a:pt x="25400" y="4607433"/>
                  </a:lnTo>
                  <a:lnTo>
                    <a:pt x="12700" y="4607433"/>
                  </a:lnTo>
                  <a:lnTo>
                    <a:pt x="21717" y="4598416"/>
                  </a:lnTo>
                  <a:lnTo>
                    <a:pt x="930021" y="5506847"/>
                  </a:lnTo>
                  <a:cubicBezTo>
                    <a:pt x="932434" y="5509260"/>
                    <a:pt x="933704" y="5512435"/>
                    <a:pt x="933704" y="5515864"/>
                  </a:cubicBezTo>
                  <a:lnTo>
                    <a:pt x="933704" y="6923405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9" id="9"/>
          <p:cNvSpPr/>
          <p:nvPr/>
        </p:nvSpPr>
        <p:spPr>
          <a:xfrm rot="2838">
            <a:off x="-2380643" y="690873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838">
            <a:off x="-2380643" y="704548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838">
            <a:off x="-2380643" y="718224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38">
            <a:off x="-2380643" y="731899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838">
            <a:off x="-2380643" y="745575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4796786" y="939314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6376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PERFORMANCE MATRIX (10% LABELS)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028700" y="2653664"/>
          <a:ext cx="16195666" cy="6000999"/>
        </p:xfrm>
        <a:graphic>
          <a:graphicData uri="http://schemas.openxmlformats.org/drawingml/2006/table">
            <a:tbl>
              <a:tblPr/>
              <a:tblGrid>
                <a:gridCol w="3060605"/>
                <a:gridCol w="2439686"/>
                <a:gridCol w="3628780"/>
                <a:gridCol w="3350575"/>
                <a:gridCol w="3716020"/>
              </a:tblGrid>
              <a:tr h="1543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METRIC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BASELINE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NEUROSYMBOLIC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Δ IMPACT(Baseline → Nesy)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SEMANTIC CNF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EXACTLY-ONE (VALIDITY)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81%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83%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+2%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81%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  <a:tr h="1485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EXACT MATCH (ACCURACY)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72%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72%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+0%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~ 69%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  <a:tr h="1485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EPOCHS-TO-72%-ACCURACY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100 Epochs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70 Epochs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-30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/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ANALYSIS &amp; KEY ADVANTAGES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625" y="2409093"/>
            <a:ext cx="13971951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EFFICIENCY (The "1% Label" Case):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Observation: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Massive accuracy gap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(+15%) when supervision is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scarce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Why: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Semantic Loss acts as a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structural regularizer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injecting "rules of the game" where labels are missing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625" y="5242781"/>
            <a:ext cx="13971951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GRADIENT GUIDANCE: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Observation: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2x faster convergence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higher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per-epoch tim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Why: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Logic provides i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nformative gradients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even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unlabeled data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actively steering the model away from invalid states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7590693"/>
            <a:ext cx="13971951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GUARANTEED CONSISTENCY: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Advantage: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Unlike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MLP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s, 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NeuroSymbolic model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enforces strict constraints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(e.g.,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Exa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y-On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Mono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onicity),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ensuring output validity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by design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2625" y="99125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LIMITATIONS &amp; TECHNICAL ISSUES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625" y="2409093"/>
            <a:ext cx="13971951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COMPUTATIONAL BOTTLENECK: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Issue: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Ex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ic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 inference (WMC) is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#P-Hard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scales exponentially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Impact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Pure symbolic implementation (CNF) is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slow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;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requires approximations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or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matrix-based optimizations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(Pairwise) to be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feasible on GPU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625" y="5475069"/>
            <a:ext cx="13971951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TRAINING OVERHEAD: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Metric: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Logic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calcul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increases training time per epoch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30x slowe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r)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Trade-off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Higher computational cost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per step vs. fewer total steps to converge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625" y="8055270"/>
            <a:ext cx="13971951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HYPERPARAMETER SENSITIVITY:</a:t>
            </a:r>
          </a:p>
          <a:p>
            <a:pPr algn="l" marL="690876" indent="-345438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Risk: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If logic weigh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 λ i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too high,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the model may </a:t>
            </a: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collapse to "Trivial Validity"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(s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tisfying rul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 bu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 ig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ring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put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ures)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8275" y="7001000"/>
            <a:ext cx="9708750" cy="93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CREDITS: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lang="en-US" b="true" sz="2400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3" tooltip="https://bit.ly/3A1uf1Q"/>
              </a:rPr>
              <a:t>Slidesgo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lang="en-US" b="true" sz="2400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4" tooltip="http://bit.ly/2TyoMsr"/>
              </a:rPr>
              <a:t>Flaticon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lang="en-US" b="true" sz="2400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5" tooltip="http://bit.ly/2TtBDfr"/>
              </a:rPr>
              <a:t>Freepik</a:t>
            </a:r>
            <a:r>
              <a:rPr lang="en-US" sz="24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16498222" y="350746"/>
            <a:ext cx="80112" cy="881760"/>
            <a:chOff x="0" y="0"/>
            <a:chExt cx="106816" cy="1175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137375" y="-9525"/>
            <a:ext cx="15706704" cy="2241736"/>
          </a:xfrm>
          <a:custGeom>
            <a:avLst/>
            <a:gdLst/>
            <a:ahLst/>
            <a:cxnLst/>
            <a:rect r="r" b="b" t="t" l="l"/>
            <a:pathLst>
              <a:path h="2241736" w="15706704">
                <a:moveTo>
                  <a:pt x="0" y="0"/>
                </a:moveTo>
                <a:lnTo>
                  <a:pt x="15706704" y="0"/>
                </a:lnTo>
                <a:lnTo>
                  <a:pt x="15706704" y="2241736"/>
                </a:lnTo>
                <a:lnTo>
                  <a:pt x="0" y="2241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88275" y="1915784"/>
            <a:ext cx="87133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b="true" sz="9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8275" y="4478493"/>
            <a:ext cx="21937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Do you have any questions?</a:t>
            </a:r>
          </a:p>
          <a:p>
            <a:pPr algn="l">
              <a:lnSpc>
                <a:spcPts val="119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378150" y="2330668"/>
            <a:ext cx="714600" cy="618032"/>
            <a:chOff x="0" y="0"/>
            <a:chExt cx="952800" cy="824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AutoShape 10" id="10"/>
          <p:cNvSpPr/>
          <p:nvPr/>
        </p:nvSpPr>
        <p:spPr>
          <a:xfrm rot="5394431">
            <a:off x="14679728" y="1018935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674203">
            <a:off x="16081073" y="699921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986705" y="6133459"/>
            <a:ext cx="391361" cy="395518"/>
          </a:xfrm>
          <a:custGeom>
            <a:avLst/>
            <a:gdLst/>
            <a:ahLst/>
            <a:cxnLst/>
            <a:rect r="r" b="b" t="t" l="l"/>
            <a:pathLst>
              <a:path h="395518" w="391361">
                <a:moveTo>
                  <a:pt x="0" y="0"/>
                </a:moveTo>
                <a:lnTo>
                  <a:pt x="391362" y="0"/>
                </a:lnTo>
                <a:lnTo>
                  <a:pt x="391362" y="395518"/>
                </a:lnTo>
                <a:lnTo>
                  <a:pt x="0" y="395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48963" y="7259611"/>
            <a:ext cx="513606" cy="2339172"/>
          </a:xfrm>
          <a:custGeom>
            <a:avLst/>
            <a:gdLst/>
            <a:ahLst/>
            <a:cxnLst/>
            <a:rect r="r" b="b" t="t" l="l"/>
            <a:pathLst>
              <a:path h="2339172" w="513606">
                <a:moveTo>
                  <a:pt x="0" y="0"/>
                </a:moveTo>
                <a:lnTo>
                  <a:pt x="513606" y="0"/>
                </a:lnTo>
                <a:lnTo>
                  <a:pt x="513606" y="2339172"/>
                </a:lnTo>
                <a:lnTo>
                  <a:pt x="0" y="23391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rot="5391564">
            <a:off x="10965208" y="7321775"/>
            <a:ext cx="776387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650301">
            <a:off x="14650915" y="2996117"/>
            <a:ext cx="1320660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5400000">
            <a:off x="15703089" y="2213087"/>
            <a:ext cx="405900" cy="401750"/>
            <a:chOff x="0" y="0"/>
            <a:chExt cx="541200" cy="5356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5986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272222" y="6452546"/>
            <a:ext cx="80112" cy="881760"/>
            <a:chOff x="0" y="0"/>
            <a:chExt cx="106816" cy="1175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1" id="21"/>
          <p:cNvSpPr/>
          <p:nvPr/>
        </p:nvSpPr>
        <p:spPr>
          <a:xfrm rot="1125">
            <a:off x="14843128" y="3953100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125">
            <a:off x="14843128" y="422661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1125">
            <a:off x="14843128" y="4089855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125">
            <a:off x="14843128" y="4363366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125">
            <a:off x="14843128" y="450012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125">
            <a:off x="14843128" y="4636877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1125">
            <a:off x="14843128" y="4773632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1125">
            <a:off x="14843128" y="4910387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1125">
            <a:off x="14843128" y="5047143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1125">
            <a:off x="14843128" y="5183898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4281413" y="4184397"/>
            <a:ext cx="105282" cy="969038"/>
          </a:xfrm>
          <a:custGeom>
            <a:avLst/>
            <a:gdLst/>
            <a:ahLst/>
            <a:cxnLst/>
            <a:rect r="r" b="b" t="t" l="l"/>
            <a:pathLst>
              <a:path h="969038" w="105282">
                <a:moveTo>
                  <a:pt x="0" y="0"/>
                </a:moveTo>
                <a:lnTo>
                  <a:pt x="105282" y="0"/>
                </a:lnTo>
                <a:lnTo>
                  <a:pt x="105282" y="969038"/>
                </a:lnTo>
                <a:lnTo>
                  <a:pt x="0" y="9690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768825" y="-717125"/>
            <a:ext cx="11737500" cy="3274237"/>
          </a:xfrm>
          <a:custGeom>
            <a:avLst/>
            <a:gdLst/>
            <a:ahLst/>
            <a:cxnLst/>
            <a:rect r="r" b="b" t="t" l="l"/>
            <a:pathLst>
              <a:path h="3274237" w="11737500">
                <a:moveTo>
                  <a:pt x="0" y="0"/>
                </a:moveTo>
                <a:lnTo>
                  <a:pt x="11737500" y="0"/>
                </a:lnTo>
                <a:lnTo>
                  <a:pt x="11737500" y="3274237"/>
                </a:lnTo>
                <a:lnTo>
                  <a:pt x="0" y="32742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DAG7wcfWRYE</dc:identifier>
  <dcterms:modified xsi:type="dcterms:W3CDTF">2011-08-01T06:04:30Z</dcterms:modified>
  <cp:revision>1</cp:revision>
  <dc:title>Copia di Technology Market Research Pitch Deck by Slidesgo.pptx</dc:title>
</cp:coreProperties>
</file>