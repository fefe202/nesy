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4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30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x="18288000" cy="10287000"/>
  <p:notesSz cx="6858000" cy="9144000"/>
  <p:embeddedFontLst>
    <p:embeddedFont>
      <p:font typeface="Arimo Bold" charset="1" panose="020B0704020202020204"/>
      <p:regular r:id="rId33"/>
    </p:embeddedFont>
    <p:embeddedFont>
      <p:font typeface="Arimo" charset="1" panose="020B0604020202020204"/>
      <p:regular r:id="rId34"/>
    </p:embeddedFont>
    <p:embeddedFont>
      <p:font typeface="Arimo Bold Italics" charset="1" panose="020B0704020202090204"/>
      <p:regular r:id="rId37"/>
    </p:embeddedFont>
    <p:embeddedFont>
      <p:font typeface="Arimo Italics" charset="1" panose="020B0604020202090204"/>
      <p:regular r:id="rId40"/>
    </p:embeddedFont>
    <p:embeddedFont>
      <p:font typeface="Raleway Bold" charset="1" panose="00000000000000000000"/>
      <p:regular r:id="rId5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notesMasters/notesMaster1.xml" Type="http://schemas.openxmlformats.org/officeDocument/2006/relationships/notesMaster"/><Relationship Id="rId31" Target="theme/theme2.xml" Type="http://schemas.openxmlformats.org/officeDocument/2006/relationships/theme"/><Relationship Id="rId32" Target="notesSlides/notesSlide1.xml" Type="http://schemas.openxmlformats.org/officeDocument/2006/relationships/notesSlide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35" Target="notesSlides/notesSlide2.xml" Type="http://schemas.openxmlformats.org/officeDocument/2006/relationships/notesSlide"/><Relationship Id="rId36" Target="notesSlides/notesSlide3.xml" Type="http://schemas.openxmlformats.org/officeDocument/2006/relationships/notesSlide"/><Relationship Id="rId37" Target="fonts/font37.fntdata" Type="http://schemas.openxmlformats.org/officeDocument/2006/relationships/font"/><Relationship Id="rId38" Target="notesSlides/notesSlide4.xml" Type="http://schemas.openxmlformats.org/officeDocument/2006/relationships/notesSlide"/><Relationship Id="rId39" Target="notesSlides/notesSlide5.xml" Type="http://schemas.openxmlformats.org/officeDocument/2006/relationships/notesSlide"/><Relationship Id="rId4" Target="theme/theme1.xml" Type="http://schemas.openxmlformats.org/officeDocument/2006/relationships/theme"/><Relationship Id="rId40" Target="fonts/font40.fntdata" Type="http://schemas.openxmlformats.org/officeDocument/2006/relationships/font"/><Relationship Id="rId41" Target="notesSlides/notesSlide6.xml" Type="http://schemas.openxmlformats.org/officeDocument/2006/relationships/notesSlide"/><Relationship Id="rId42" Target="notesSlides/notesSlide7.xml" Type="http://schemas.openxmlformats.org/officeDocument/2006/relationships/notesSlide"/><Relationship Id="rId43" Target="notesSlides/notesSlide8.xml" Type="http://schemas.openxmlformats.org/officeDocument/2006/relationships/notesSlide"/><Relationship Id="rId44" Target="notesSlides/notesSlide9.xml" Type="http://schemas.openxmlformats.org/officeDocument/2006/relationships/notesSlide"/><Relationship Id="rId45" Target="notesSlides/notesSlide10.xml" Type="http://schemas.openxmlformats.org/officeDocument/2006/relationships/notesSlide"/><Relationship Id="rId46" Target="notesSlides/notesSlide11.xml" Type="http://schemas.openxmlformats.org/officeDocument/2006/relationships/notesSlide"/><Relationship Id="rId47" Target="notesSlides/notesSlide12.xml" Type="http://schemas.openxmlformats.org/officeDocument/2006/relationships/notesSlide"/><Relationship Id="rId48" Target="notesSlides/notesSlide13.xml" Type="http://schemas.openxmlformats.org/officeDocument/2006/relationships/notesSlide"/><Relationship Id="rId49" Target="notesSlides/notesSlide14.xml" Type="http://schemas.openxmlformats.org/officeDocument/2006/relationships/notesSlide"/><Relationship Id="rId5" Target="tableStyles.xml" Type="http://schemas.openxmlformats.org/officeDocument/2006/relationships/tableStyles"/><Relationship Id="rId50" Target="notesSlides/notesSlide15.xml" Type="http://schemas.openxmlformats.org/officeDocument/2006/relationships/notesSlide"/><Relationship Id="rId51" Target="notesSlides/notesSlide16.xml" Type="http://schemas.openxmlformats.org/officeDocument/2006/relationships/notesSlide"/><Relationship Id="rId52" Target="notesSlides/notesSlide17.xml" Type="http://schemas.openxmlformats.org/officeDocument/2006/relationships/notesSlide"/><Relationship Id="rId53" Target="notesSlides/notesSlide18.xml" Type="http://schemas.openxmlformats.org/officeDocument/2006/relationships/notesSlide"/><Relationship Id="rId54" Target="notesSlides/notesSlide19.xml" Type="http://schemas.openxmlformats.org/officeDocument/2006/relationships/notesSlide"/><Relationship Id="rId55" Target="notesSlides/notesSlide20.xml" Type="http://schemas.openxmlformats.org/officeDocument/2006/relationships/notesSlide"/><Relationship Id="rId56" Target="fonts/font56.fntdata" Type="http://schemas.openxmlformats.org/officeDocument/2006/relationships/font"/><Relationship Id="rId57" Target="notesSlides/notesSlide21.xml" Type="http://schemas.openxmlformats.org/officeDocument/2006/relationships/notesSlide"/><Relationship Id="rId58" Target="notesSlides/notesSlide22.xml" Type="http://schemas.openxmlformats.org/officeDocument/2006/relationships/notesSlide"/><Relationship Id="rId59" Target="notesSlides/notesSlide23.xml" Type="http://schemas.openxmlformats.org/officeDocument/2006/relationships/notesSlide"/><Relationship Id="rId6" Target="slides/slide1.xml" Type="http://schemas.openxmlformats.org/officeDocument/2006/relationships/slide"/><Relationship Id="rId60" Target="notesSlides/notesSlide24.xml" Type="http://schemas.openxmlformats.org/officeDocument/2006/relationships/notes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_rels/notesSlide1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8.xml" Type="http://schemas.openxmlformats.org/officeDocument/2006/relationships/slide"/></Relationships>
</file>

<file path=ppt/notesSlides/_rels/notesSlide1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9.xml" Type="http://schemas.openxmlformats.org/officeDocument/2006/relationships/slide"/></Relationships>
</file>

<file path=ppt/notesSlides/_rels/notesSlide2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0.xml" Type="http://schemas.openxmlformats.org/officeDocument/2006/relationships/slide"/></Relationships>
</file>

<file path=ppt/notesSlides/_rels/notesSlide2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1.xml" Type="http://schemas.openxmlformats.org/officeDocument/2006/relationships/slide"/></Relationships>
</file>

<file path=ppt/notesSlides/_rels/notesSlide2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2.xml" Type="http://schemas.openxmlformats.org/officeDocument/2006/relationships/slide"/></Relationships>
</file>

<file path=ppt/notesSlides/_rels/notesSlide2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3.xml" Type="http://schemas.openxmlformats.org/officeDocument/2006/relationships/slide"/></Relationships>
</file>

<file path=ppt/notesSlides/_rels/notesSlide2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4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svg" Type="http://schemas.openxmlformats.org/officeDocument/2006/relationships/image"/><Relationship Id="rId11" Target="../media/image9.png" Type="http://schemas.openxmlformats.org/officeDocument/2006/relationships/image"/><Relationship Id="rId12" Target="../media/image10.svg" Type="http://schemas.openxmlformats.org/officeDocument/2006/relationships/image"/><Relationship Id="rId13" Target="../media/image11.png" Type="http://schemas.openxmlformats.org/officeDocument/2006/relationships/image"/><Relationship Id="rId14" Target="../media/image12.svg" Type="http://schemas.openxmlformats.org/officeDocument/2006/relationships/image"/><Relationship Id="rId15" Target="../media/image13.png" Type="http://schemas.openxmlformats.org/officeDocument/2006/relationships/image"/><Relationship Id="rId16" Target="../media/image14.svg" Type="http://schemas.openxmlformats.org/officeDocument/2006/relationships/image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Relationship Id="rId9" Target="../media/image7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5.png" Type="http://schemas.openxmlformats.org/officeDocument/2006/relationships/image"/><Relationship Id="rId4" Target="../media/image16.svg" Type="http://schemas.openxmlformats.org/officeDocument/2006/relationships/image"/><Relationship Id="rId5" Target="../media/image17.png" Type="http://schemas.openxmlformats.org/officeDocument/2006/relationships/image"/><Relationship Id="rId6" Target="../media/image18.svg" Type="http://schemas.openxmlformats.org/officeDocument/2006/relationships/image"/><Relationship Id="rId7" Target="../media/image19.png" Type="http://schemas.openxmlformats.org/officeDocument/2006/relationships/image"/><Relationship Id="rId8" Target="../media/image20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8.svg" Type="http://schemas.openxmlformats.org/officeDocument/2006/relationships/image"/><Relationship Id="rId11" Target="../media/image29.png" Type="http://schemas.openxmlformats.org/officeDocument/2006/relationships/image"/><Relationship Id="rId12" Target="../media/image30.svg" Type="http://schemas.openxmlformats.org/officeDocument/2006/relationships/image"/><Relationship Id="rId13" Target="../media/image31.png" Type="http://schemas.openxmlformats.org/officeDocument/2006/relationships/image"/><Relationship Id="rId14" Target="../media/image32.svg" Type="http://schemas.openxmlformats.org/officeDocument/2006/relationships/image"/><Relationship Id="rId2" Target="../notesSlides/notesSlide3.xml" Type="http://schemas.openxmlformats.org/officeDocument/2006/relationships/notesSlide"/><Relationship Id="rId3" Target="../media/image21.png" Type="http://schemas.openxmlformats.org/officeDocument/2006/relationships/image"/><Relationship Id="rId4" Target="../media/image22.svg" Type="http://schemas.openxmlformats.org/officeDocument/2006/relationships/image"/><Relationship Id="rId5" Target="../media/image23.png" Type="http://schemas.openxmlformats.org/officeDocument/2006/relationships/image"/><Relationship Id="rId6" Target="../media/image24.svg" Type="http://schemas.openxmlformats.org/officeDocument/2006/relationships/image"/><Relationship Id="rId7" Target="../media/image25.png" Type="http://schemas.openxmlformats.org/officeDocument/2006/relationships/image"/><Relationship Id="rId8" Target="../media/image26.svg" Type="http://schemas.openxmlformats.org/officeDocument/2006/relationships/image"/><Relationship Id="rId9" Target="../media/image27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21.png" Type="http://schemas.openxmlformats.org/officeDocument/2006/relationships/image"/><Relationship Id="rId4" Target="../media/image22.svg" Type="http://schemas.openxmlformats.org/officeDocument/2006/relationships/image"/><Relationship Id="rId5" Target="../media/image23.png" Type="http://schemas.openxmlformats.org/officeDocument/2006/relationships/image"/><Relationship Id="rId6" Target="../media/image24.svg" Type="http://schemas.openxmlformats.org/officeDocument/2006/relationships/image"/><Relationship Id="rId7" Target="../media/image25.png" Type="http://schemas.openxmlformats.org/officeDocument/2006/relationships/image"/><Relationship Id="rId8" Target="../media/image26.svg" Type="http://schemas.openxmlformats.org/officeDocument/2006/relationships/image"/><Relationship Id="rId9" Target="../media/image3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2" Target="../notesSlides/notesSlide5.xml" Type="http://schemas.openxmlformats.org/officeDocument/2006/relationships/notesSlide"/><Relationship Id="rId3" Target="../media/image21.png" Type="http://schemas.openxmlformats.org/officeDocument/2006/relationships/image"/><Relationship Id="rId4" Target="../media/image22.svg" Type="http://schemas.openxmlformats.org/officeDocument/2006/relationships/image"/><Relationship Id="rId5" Target="../media/image23.png" Type="http://schemas.openxmlformats.org/officeDocument/2006/relationships/image"/><Relationship Id="rId6" Target="../media/image24.svg" Type="http://schemas.openxmlformats.org/officeDocument/2006/relationships/image"/><Relationship Id="rId7" Target="../media/image25.png" Type="http://schemas.openxmlformats.org/officeDocument/2006/relationships/image"/><Relationship Id="rId8" Target="../media/image26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5.png" Type="http://schemas.openxmlformats.org/officeDocument/2006/relationships/image"/><Relationship Id="rId4" Target="../media/image16.svg" Type="http://schemas.openxmlformats.org/officeDocument/2006/relationships/image"/><Relationship Id="rId5" Target="../media/image17.png" Type="http://schemas.openxmlformats.org/officeDocument/2006/relationships/image"/><Relationship Id="rId6" Target="../media/image18.svg" Type="http://schemas.openxmlformats.org/officeDocument/2006/relationships/image"/><Relationship Id="rId7" Target="../media/image19.png" Type="http://schemas.openxmlformats.org/officeDocument/2006/relationships/image"/><Relationship Id="rId8" Target="../media/image20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7.svg" Type="http://schemas.openxmlformats.org/officeDocument/2006/relationships/image"/><Relationship Id="rId11" Target="../media/image27.png" Type="http://schemas.openxmlformats.org/officeDocument/2006/relationships/image"/><Relationship Id="rId12" Target="../media/image28.svg" Type="http://schemas.openxmlformats.org/officeDocument/2006/relationships/image"/><Relationship Id="rId13" Target="../media/image29.png" Type="http://schemas.openxmlformats.org/officeDocument/2006/relationships/image"/><Relationship Id="rId14" Target="../media/image30.svg" Type="http://schemas.openxmlformats.org/officeDocument/2006/relationships/image"/><Relationship Id="rId2" Target="../notesSlides/notesSlide7.xml" Type="http://schemas.openxmlformats.org/officeDocument/2006/relationships/notesSlide"/><Relationship Id="rId3" Target="../media/image21.png" Type="http://schemas.openxmlformats.org/officeDocument/2006/relationships/image"/><Relationship Id="rId4" Target="../media/image22.svg" Type="http://schemas.openxmlformats.org/officeDocument/2006/relationships/image"/><Relationship Id="rId5" Target="../media/image23.png" Type="http://schemas.openxmlformats.org/officeDocument/2006/relationships/image"/><Relationship Id="rId6" Target="../media/image24.svg" Type="http://schemas.openxmlformats.org/officeDocument/2006/relationships/image"/><Relationship Id="rId7" Target="../media/image25.png" Type="http://schemas.openxmlformats.org/officeDocument/2006/relationships/image"/><Relationship Id="rId8" Target="../media/image26.svg" Type="http://schemas.openxmlformats.org/officeDocument/2006/relationships/image"/><Relationship Id="rId9" Target="../media/image36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9.svg" Type="http://schemas.openxmlformats.org/officeDocument/2006/relationships/image"/><Relationship Id="rId11" Target="../media/image40.png" Type="http://schemas.openxmlformats.org/officeDocument/2006/relationships/image"/><Relationship Id="rId12" Target="../media/image41.svg" Type="http://schemas.openxmlformats.org/officeDocument/2006/relationships/image"/><Relationship Id="rId13" Target="../media/image42.png" Type="http://schemas.openxmlformats.org/officeDocument/2006/relationships/image"/><Relationship Id="rId14" Target="../media/image43.svg" Type="http://schemas.openxmlformats.org/officeDocument/2006/relationships/image"/><Relationship Id="rId2" Target="../notesSlides/notesSlide8.xml" Type="http://schemas.openxmlformats.org/officeDocument/2006/relationships/notesSlide"/><Relationship Id="rId3" Target="../media/image21.png" Type="http://schemas.openxmlformats.org/officeDocument/2006/relationships/image"/><Relationship Id="rId4" Target="../media/image22.svg" Type="http://schemas.openxmlformats.org/officeDocument/2006/relationships/image"/><Relationship Id="rId5" Target="../media/image23.png" Type="http://schemas.openxmlformats.org/officeDocument/2006/relationships/image"/><Relationship Id="rId6" Target="../media/image24.svg" Type="http://schemas.openxmlformats.org/officeDocument/2006/relationships/image"/><Relationship Id="rId7" Target="../media/image25.png" Type="http://schemas.openxmlformats.org/officeDocument/2006/relationships/image"/><Relationship Id="rId8" Target="../media/image26.svg" Type="http://schemas.openxmlformats.org/officeDocument/2006/relationships/image"/><Relationship Id="rId9" Target="../media/image3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8.svg" Type="http://schemas.openxmlformats.org/officeDocument/2006/relationships/image"/><Relationship Id="rId11" Target="../media/image50.png" Type="http://schemas.openxmlformats.org/officeDocument/2006/relationships/image"/><Relationship Id="rId12" Target="../media/image51.svg" Type="http://schemas.openxmlformats.org/officeDocument/2006/relationships/image"/><Relationship Id="rId13" Target="../media/image52.png" Type="http://schemas.openxmlformats.org/officeDocument/2006/relationships/image"/><Relationship Id="rId14" Target="../media/image53.svg" Type="http://schemas.openxmlformats.org/officeDocument/2006/relationships/image"/><Relationship Id="rId15" Target="../media/image54.png" Type="http://schemas.openxmlformats.org/officeDocument/2006/relationships/image"/><Relationship Id="rId16" Target="../media/image55.svg" Type="http://schemas.openxmlformats.org/officeDocument/2006/relationships/image"/><Relationship Id="rId2" Target="../notesSlides/notesSlide9.xml" Type="http://schemas.openxmlformats.org/officeDocument/2006/relationships/notesSlide"/><Relationship Id="rId3" Target="../media/image44.png" Type="http://schemas.openxmlformats.org/officeDocument/2006/relationships/image"/><Relationship Id="rId4" Target="../media/image45.svg" Type="http://schemas.openxmlformats.org/officeDocument/2006/relationships/image"/><Relationship Id="rId5" Target="../media/image46.png" Type="http://schemas.openxmlformats.org/officeDocument/2006/relationships/image"/><Relationship Id="rId6" Target="../media/image47.svg" Type="http://schemas.openxmlformats.org/officeDocument/2006/relationships/image"/><Relationship Id="rId7" Target="../media/image48.png" Type="http://schemas.openxmlformats.org/officeDocument/2006/relationships/image"/><Relationship Id="rId8" Target="../media/image49.svg" Type="http://schemas.openxmlformats.org/officeDocument/2006/relationships/image"/><Relationship Id="rId9" Target="../media/image2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5.png" Type="http://schemas.openxmlformats.org/officeDocument/2006/relationships/image"/><Relationship Id="rId4" Target="../media/image16.svg" Type="http://schemas.openxmlformats.org/officeDocument/2006/relationships/image"/><Relationship Id="rId5" Target="../media/image17.png" Type="http://schemas.openxmlformats.org/officeDocument/2006/relationships/image"/><Relationship Id="rId6" Target="../media/image18.svg" Type="http://schemas.openxmlformats.org/officeDocument/2006/relationships/image"/><Relationship Id="rId7" Target="../media/image19.png" Type="http://schemas.openxmlformats.org/officeDocument/2006/relationships/image"/><Relationship Id="rId8" Target="../media/image20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21.png" Type="http://schemas.openxmlformats.org/officeDocument/2006/relationships/image"/><Relationship Id="rId4" Target="../media/image22.svg" Type="http://schemas.openxmlformats.org/officeDocument/2006/relationships/image"/><Relationship Id="rId5" Target="../media/image23.png" Type="http://schemas.openxmlformats.org/officeDocument/2006/relationships/image"/><Relationship Id="rId6" Target="../media/image24.svg" Type="http://schemas.openxmlformats.org/officeDocument/2006/relationships/image"/><Relationship Id="rId7" Target="../media/image25.png" Type="http://schemas.openxmlformats.org/officeDocument/2006/relationships/image"/><Relationship Id="rId8" Target="../media/image26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21.png" Type="http://schemas.openxmlformats.org/officeDocument/2006/relationships/image"/><Relationship Id="rId4" Target="../media/image22.svg" Type="http://schemas.openxmlformats.org/officeDocument/2006/relationships/image"/><Relationship Id="rId5" Target="../media/image23.png" Type="http://schemas.openxmlformats.org/officeDocument/2006/relationships/image"/><Relationship Id="rId6" Target="../media/image24.svg" Type="http://schemas.openxmlformats.org/officeDocument/2006/relationships/image"/><Relationship Id="rId7" Target="../media/image25.png" Type="http://schemas.openxmlformats.org/officeDocument/2006/relationships/image"/><Relationship Id="rId8" Target="../media/image26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21.png" Type="http://schemas.openxmlformats.org/officeDocument/2006/relationships/image"/><Relationship Id="rId4" Target="../media/image22.svg" Type="http://schemas.openxmlformats.org/officeDocument/2006/relationships/image"/><Relationship Id="rId5" Target="../media/image23.png" Type="http://schemas.openxmlformats.org/officeDocument/2006/relationships/image"/><Relationship Id="rId6" Target="../media/image24.svg" Type="http://schemas.openxmlformats.org/officeDocument/2006/relationships/image"/><Relationship Id="rId7" Target="../media/image25.png" Type="http://schemas.openxmlformats.org/officeDocument/2006/relationships/image"/><Relationship Id="rId8" Target="../media/image26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Relationship Id="rId3" Target="../media/image15.png" Type="http://schemas.openxmlformats.org/officeDocument/2006/relationships/image"/><Relationship Id="rId4" Target="../media/image16.svg" Type="http://schemas.openxmlformats.org/officeDocument/2006/relationships/image"/><Relationship Id="rId5" Target="../media/image17.png" Type="http://schemas.openxmlformats.org/officeDocument/2006/relationships/image"/><Relationship Id="rId6" Target="../media/image18.svg" Type="http://schemas.openxmlformats.org/officeDocument/2006/relationships/image"/><Relationship Id="rId7" Target="../media/image19.png" Type="http://schemas.openxmlformats.org/officeDocument/2006/relationships/image"/><Relationship Id="rId8" Target="../media/image20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5.xml" Type="http://schemas.openxmlformats.org/officeDocument/2006/relationships/notesSlide"/><Relationship Id="rId3" Target="../media/image21.png" Type="http://schemas.openxmlformats.org/officeDocument/2006/relationships/image"/><Relationship Id="rId4" Target="../media/image22.svg" Type="http://schemas.openxmlformats.org/officeDocument/2006/relationships/image"/><Relationship Id="rId5" Target="../media/image56.png" Type="http://schemas.openxmlformats.org/officeDocument/2006/relationships/image"/><Relationship Id="rId6" Target="../media/image25.png" Type="http://schemas.openxmlformats.org/officeDocument/2006/relationships/image"/><Relationship Id="rId7" Target="../media/image26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6.xml" Type="http://schemas.openxmlformats.org/officeDocument/2006/relationships/notesSlide"/><Relationship Id="rId3" Target="../media/image21.png" Type="http://schemas.openxmlformats.org/officeDocument/2006/relationships/image"/><Relationship Id="rId4" Target="../media/image22.svg" Type="http://schemas.openxmlformats.org/officeDocument/2006/relationships/image"/><Relationship Id="rId5" Target="../media/image57.png" Type="http://schemas.openxmlformats.org/officeDocument/2006/relationships/image"/><Relationship Id="rId6" Target="../media/image25.png" Type="http://schemas.openxmlformats.org/officeDocument/2006/relationships/image"/><Relationship Id="rId7" Target="../media/image26.sv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7.xml" Type="http://schemas.openxmlformats.org/officeDocument/2006/relationships/notesSlide"/><Relationship Id="rId3" Target="../media/image21.png" Type="http://schemas.openxmlformats.org/officeDocument/2006/relationships/image"/><Relationship Id="rId4" Target="../media/image22.svg" Type="http://schemas.openxmlformats.org/officeDocument/2006/relationships/image"/><Relationship Id="rId5" Target="../media/image58.png" Type="http://schemas.openxmlformats.org/officeDocument/2006/relationships/image"/><Relationship Id="rId6" Target="../media/image25.png" Type="http://schemas.openxmlformats.org/officeDocument/2006/relationships/image"/><Relationship Id="rId7" Target="../media/image26.sv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8.xml" Type="http://schemas.openxmlformats.org/officeDocument/2006/relationships/notesSlide"/><Relationship Id="rId3" Target="../media/image21.png" Type="http://schemas.openxmlformats.org/officeDocument/2006/relationships/image"/><Relationship Id="rId4" Target="../media/image22.svg" Type="http://schemas.openxmlformats.org/officeDocument/2006/relationships/image"/><Relationship Id="rId5" Target="../media/image59.png" Type="http://schemas.openxmlformats.org/officeDocument/2006/relationships/image"/><Relationship Id="rId6" Target="../media/image25.png" Type="http://schemas.openxmlformats.org/officeDocument/2006/relationships/image"/><Relationship Id="rId7" Target="../media/image26.sv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9.xml" Type="http://schemas.openxmlformats.org/officeDocument/2006/relationships/notesSlide"/><Relationship Id="rId3" Target="../media/image15.png" Type="http://schemas.openxmlformats.org/officeDocument/2006/relationships/image"/><Relationship Id="rId4" Target="../media/image16.svg" Type="http://schemas.openxmlformats.org/officeDocument/2006/relationships/image"/><Relationship Id="rId5" Target="../media/image17.png" Type="http://schemas.openxmlformats.org/officeDocument/2006/relationships/image"/><Relationship Id="rId6" Target="../media/image18.svg" Type="http://schemas.openxmlformats.org/officeDocument/2006/relationships/image"/><Relationship Id="rId7" Target="../media/image19.png" Type="http://schemas.openxmlformats.org/officeDocument/2006/relationships/image"/><Relationship Id="rId8" Target="../media/image20.sv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7.svg" Type="http://schemas.openxmlformats.org/officeDocument/2006/relationships/image"/><Relationship Id="rId2" Target="../notesSlides/notesSlide20.xml" Type="http://schemas.openxmlformats.org/officeDocument/2006/relationships/notesSlid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62.png" Type="http://schemas.openxmlformats.org/officeDocument/2006/relationships/image"/><Relationship Id="rId6" Target="../media/image63.svg" Type="http://schemas.openxmlformats.org/officeDocument/2006/relationships/image"/><Relationship Id="rId7" Target="../media/image64.png" Type="http://schemas.openxmlformats.org/officeDocument/2006/relationships/image"/><Relationship Id="rId8" Target="../media/image65.svg" Type="http://schemas.openxmlformats.org/officeDocument/2006/relationships/image"/><Relationship Id="rId9" Target="../media/image66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7.svg" Type="http://schemas.openxmlformats.org/officeDocument/2006/relationships/image"/><Relationship Id="rId2" Target="../notesSlides/notesSlide21.xml" Type="http://schemas.openxmlformats.org/officeDocument/2006/relationships/notesSlid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62.png" Type="http://schemas.openxmlformats.org/officeDocument/2006/relationships/image"/><Relationship Id="rId6" Target="../media/image63.svg" Type="http://schemas.openxmlformats.org/officeDocument/2006/relationships/image"/><Relationship Id="rId7" Target="../media/image64.png" Type="http://schemas.openxmlformats.org/officeDocument/2006/relationships/image"/><Relationship Id="rId8" Target="../media/image65.svg" Type="http://schemas.openxmlformats.org/officeDocument/2006/relationships/image"/><Relationship Id="rId9" Target="../media/image66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2.xml" Type="http://schemas.openxmlformats.org/officeDocument/2006/relationships/notesSlide"/><Relationship Id="rId3" Target="../media/image21.png" Type="http://schemas.openxmlformats.org/officeDocument/2006/relationships/image"/><Relationship Id="rId4" Target="../media/image22.svg" Type="http://schemas.openxmlformats.org/officeDocument/2006/relationships/image"/><Relationship Id="rId5" Target="../media/image23.png" Type="http://schemas.openxmlformats.org/officeDocument/2006/relationships/image"/><Relationship Id="rId6" Target="../media/image24.svg" Type="http://schemas.openxmlformats.org/officeDocument/2006/relationships/image"/><Relationship Id="rId7" Target="../media/image25.png" Type="http://schemas.openxmlformats.org/officeDocument/2006/relationships/image"/><Relationship Id="rId8" Target="../media/image26.sv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3.xml" Type="http://schemas.openxmlformats.org/officeDocument/2006/relationships/notesSlide"/><Relationship Id="rId3" Target="../media/image21.png" Type="http://schemas.openxmlformats.org/officeDocument/2006/relationships/image"/><Relationship Id="rId4" Target="../media/image22.svg" Type="http://schemas.openxmlformats.org/officeDocument/2006/relationships/image"/><Relationship Id="rId5" Target="../media/image23.png" Type="http://schemas.openxmlformats.org/officeDocument/2006/relationships/image"/><Relationship Id="rId6" Target="../media/image24.svg" Type="http://schemas.openxmlformats.org/officeDocument/2006/relationships/image"/><Relationship Id="rId7" Target="../media/image25.png" Type="http://schemas.openxmlformats.org/officeDocument/2006/relationships/image"/><Relationship Id="rId8" Target="../media/image26.sv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2.png" Type="http://schemas.openxmlformats.org/officeDocument/2006/relationships/image"/><Relationship Id="rId11" Target="../media/image73.svg" Type="http://schemas.openxmlformats.org/officeDocument/2006/relationships/image"/><Relationship Id="rId12" Target="../media/image74.png" Type="http://schemas.openxmlformats.org/officeDocument/2006/relationships/image"/><Relationship Id="rId13" Target="../media/image75.svg" Type="http://schemas.openxmlformats.org/officeDocument/2006/relationships/image"/><Relationship Id="rId14" Target="../media/image76.png" Type="http://schemas.openxmlformats.org/officeDocument/2006/relationships/image"/><Relationship Id="rId15" Target="../media/image77.svg" Type="http://schemas.openxmlformats.org/officeDocument/2006/relationships/image"/><Relationship Id="rId2" Target="../notesSlides/notesSlide24.xml" Type="http://schemas.openxmlformats.org/officeDocument/2006/relationships/notesSlide"/><Relationship Id="rId3" Target="https://bit.ly/3A1uf1Q" TargetMode="External" Type="http://schemas.openxmlformats.org/officeDocument/2006/relationships/hyperlink"/><Relationship Id="rId4" Target="http://bit.ly/2TyoMsr" TargetMode="External" Type="http://schemas.openxmlformats.org/officeDocument/2006/relationships/hyperlink"/><Relationship Id="rId5" Target="http://bit.ly/2TtBDfr" TargetMode="External" Type="http://schemas.openxmlformats.org/officeDocument/2006/relationships/hyperlink"/><Relationship Id="rId6" Target="../media/image68.png" Type="http://schemas.openxmlformats.org/officeDocument/2006/relationships/image"/><Relationship Id="rId7" Target="../media/image69.svg" Type="http://schemas.openxmlformats.org/officeDocument/2006/relationships/image"/><Relationship Id="rId8" Target="../media/image70.png" Type="http://schemas.openxmlformats.org/officeDocument/2006/relationships/image"/><Relationship Id="rId9" Target="../media/image71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215075" y="-1091025"/>
            <a:ext cx="2241736" cy="2241736"/>
          </a:xfrm>
          <a:custGeom>
            <a:avLst/>
            <a:gdLst/>
            <a:ahLst/>
            <a:cxnLst/>
            <a:rect r="r" b="b" t="t" l="l"/>
            <a:pathLst>
              <a:path h="2241736" w="2241736">
                <a:moveTo>
                  <a:pt x="0" y="0"/>
                </a:moveTo>
                <a:lnTo>
                  <a:pt x="2241736" y="0"/>
                </a:lnTo>
                <a:lnTo>
                  <a:pt x="2241736" y="2241736"/>
                </a:lnTo>
                <a:lnTo>
                  <a:pt x="0" y="22417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407871" y="4209111"/>
            <a:ext cx="2339172" cy="513608"/>
          </a:xfrm>
          <a:custGeom>
            <a:avLst/>
            <a:gdLst/>
            <a:ahLst/>
            <a:cxnLst/>
            <a:rect r="r" b="b" t="t" l="l"/>
            <a:pathLst>
              <a:path h="513608" w="2339172">
                <a:moveTo>
                  <a:pt x="0" y="0"/>
                </a:moveTo>
                <a:lnTo>
                  <a:pt x="2339172" y="0"/>
                </a:lnTo>
                <a:lnTo>
                  <a:pt x="2339172" y="513608"/>
                </a:lnTo>
                <a:lnTo>
                  <a:pt x="0" y="51360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 rot="5391564">
            <a:off x="12535484" y="11941051"/>
            <a:ext cx="7763873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2650301">
            <a:off x="16221191" y="7615393"/>
            <a:ext cx="1320660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" id="6"/>
          <p:cNvGrpSpPr/>
          <p:nvPr/>
        </p:nvGrpSpPr>
        <p:grpSpPr>
          <a:xfrm rot="5400000">
            <a:off x="17273365" y="6832363"/>
            <a:ext cx="405900" cy="401750"/>
            <a:chOff x="0" y="0"/>
            <a:chExt cx="541200" cy="53566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12700" y="12700"/>
              <a:ext cx="515620" cy="510032"/>
            </a:xfrm>
            <a:custGeom>
              <a:avLst/>
              <a:gdLst/>
              <a:ahLst/>
              <a:cxnLst/>
              <a:rect r="r" b="b" t="t" l="l"/>
              <a:pathLst>
                <a:path h="510032" w="515620">
                  <a:moveTo>
                    <a:pt x="0" y="255778"/>
                  </a:moveTo>
                  <a:cubicBezTo>
                    <a:pt x="0" y="397256"/>
                    <a:pt x="118491" y="510032"/>
                    <a:pt x="254508" y="510032"/>
                  </a:cubicBezTo>
                  <a:cubicBezTo>
                    <a:pt x="395986" y="510032"/>
                    <a:pt x="515620" y="397256"/>
                    <a:pt x="515620" y="255778"/>
                  </a:cubicBezTo>
                  <a:cubicBezTo>
                    <a:pt x="515620" y="114300"/>
                    <a:pt x="395986" y="0"/>
                    <a:pt x="254508" y="0"/>
                  </a:cubicBezTo>
                  <a:cubicBezTo>
                    <a:pt x="118491" y="0"/>
                    <a:pt x="0" y="114300"/>
                    <a:pt x="0" y="255778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41020" cy="535432"/>
            </a:xfrm>
            <a:custGeom>
              <a:avLst/>
              <a:gdLst/>
              <a:ahLst/>
              <a:cxnLst/>
              <a:rect r="r" b="b" t="t" l="l"/>
              <a:pathLst>
                <a:path h="535432" w="541020">
                  <a:moveTo>
                    <a:pt x="25400" y="268478"/>
                  </a:moveTo>
                  <a:cubicBezTo>
                    <a:pt x="25400" y="402717"/>
                    <a:pt x="137922" y="510032"/>
                    <a:pt x="267208" y="510032"/>
                  </a:cubicBezTo>
                  <a:lnTo>
                    <a:pt x="267208" y="522732"/>
                  </a:lnTo>
                  <a:lnTo>
                    <a:pt x="267208" y="510032"/>
                  </a:lnTo>
                  <a:cubicBezTo>
                    <a:pt x="402209" y="510032"/>
                    <a:pt x="515620" y="402463"/>
                    <a:pt x="515620" y="268478"/>
                  </a:cubicBezTo>
                  <a:lnTo>
                    <a:pt x="528320" y="268478"/>
                  </a:lnTo>
                  <a:lnTo>
                    <a:pt x="515620" y="268478"/>
                  </a:lnTo>
                  <a:cubicBezTo>
                    <a:pt x="515620" y="134366"/>
                    <a:pt x="402082" y="25400"/>
                    <a:pt x="267208" y="25400"/>
                  </a:cubicBezTo>
                  <a:lnTo>
                    <a:pt x="267208" y="12700"/>
                  </a:lnTo>
                  <a:lnTo>
                    <a:pt x="267208" y="25400"/>
                  </a:lnTo>
                  <a:cubicBezTo>
                    <a:pt x="138049" y="25400"/>
                    <a:pt x="25400" y="134112"/>
                    <a:pt x="25400" y="268478"/>
                  </a:cubicBezTo>
                  <a:lnTo>
                    <a:pt x="12700" y="268478"/>
                  </a:lnTo>
                  <a:lnTo>
                    <a:pt x="25400" y="268478"/>
                  </a:lnTo>
                  <a:moveTo>
                    <a:pt x="0" y="268478"/>
                  </a:moveTo>
                  <a:cubicBezTo>
                    <a:pt x="0" y="119888"/>
                    <a:pt x="124206" y="0"/>
                    <a:pt x="267208" y="0"/>
                  </a:cubicBezTo>
                  <a:cubicBezTo>
                    <a:pt x="415417" y="0"/>
                    <a:pt x="541020" y="119634"/>
                    <a:pt x="541020" y="268478"/>
                  </a:cubicBezTo>
                  <a:cubicBezTo>
                    <a:pt x="541020" y="417322"/>
                    <a:pt x="415290" y="535432"/>
                    <a:pt x="267208" y="535432"/>
                  </a:cubicBezTo>
                  <a:cubicBezTo>
                    <a:pt x="124333" y="535432"/>
                    <a:pt x="0" y="417195"/>
                    <a:pt x="0" y="268478"/>
                  </a:cubicBez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16910000" y="2408097"/>
            <a:ext cx="719998" cy="992015"/>
          </a:xfrm>
          <a:custGeom>
            <a:avLst/>
            <a:gdLst/>
            <a:ahLst/>
            <a:cxnLst/>
            <a:rect r="r" b="b" t="t" l="l"/>
            <a:pathLst>
              <a:path h="992015" w="719998">
                <a:moveTo>
                  <a:pt x="0" y="0"/>
                </a:moveTo>
                <a:lnTo>
                  <a:pt x="719998" y="0"/>
                </a:lnTo>
                <a:lnTo>
                  <a:pt x="719998" y="992015"/>
                </a:lnTo>
                <a:lnTo>
                  <a:pt x="0" y="99201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323375" y="4190000"/>
            <a:ext cx="9342221" cy="3114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159"/>
              </a:lnSpc>
            </a:pPr>
            <a:r>
              <a:rPr lang="en-US" b="true" sz="6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ORDERED LIST REASONING using SEMANTIC LOSS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323375" y="7511675"/>
            <a:ext cx="8586750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Di Franco Federico - Serratore Francesco</a:t>
            </a:r>
          </a:p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Visciglia Domenico</a:t>
            </a:r>
          </a:p>
        </p:txBody>
      </p:sp>
      <p:grpSp>
        <p:nvGrpSpPr>
          <p:cNvPr name="Group 12" id="12"/>
          <p:cNvGrpSpPr/>
          <p:nvPr/>
        </p:nvGrpSpPr>
        <p:grpSpPr>
          <a:xfrm rot="-5400000">
            <a:off x="1378150" y="4431068"/>
            <a:ext cx="714600" cy="618032"/>
            <a:chOff x="0" y="0"/>
            <a:chExt cx="952800" cy="82404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52754" cy="824103"/>
            </a:xfrm>
            <a:custGeom>
              <a:avLst/>
              <a:gdLst/>
              <a:ahLst/>
              <a:cxnLst/>
              <a:rect r="r" b="b" t="t" l="l"/>
              <a:pathLst>
                <a:path h="824103" w="952754">
                  <a:moveTo>
                    <a:pt x="0" y="0"/>
                  </a:moveTo>
                  <a:lnTo>
                    <a:pt x="952754" y="0"/>
                  </a:lnTo>
                  <a:lnTo>
                    <a:pt x="476377" y="824103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AutoShape 14" id="14"/>
          <p:cNvSpPr/>
          <p:nvPr/>
        </p:nvSpPr>
        <p:spPr>
          <a:xfrm rot="5394431">
            <a:off x="12243560" y="8644803"/>
            <a:ext cx="5347483" cy="0"/>
          </a:xfrm>
          <a:prstGeom prst="line">
            <a:avLst/>
          </a:prstGeom>
          <a:ln cap="rnd" w="9525">
            <a:solidFill>
              <a:srgbClr val="00CAD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 rot="2674203">
            <a:off x="13644905" y="5454660"/>
            <a:ext cx="1491162" cy="0"/>
          </a:xfrm>
          <a:prstGeom prst="line">
            <a:avLst/>
          </a:prstGeom>
          <a:ln cap="rnd" w="9525">
            <a:solidFill>
              <a:srgbClr val="00CAD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6" id="16"/>
          <p:cNvSpPr/>
          <p:nvPr/>
        </p:nvSpPr>
        <p:spPr>
          <a:xfrm flipH="false" flipV="false" rot="0">
            <a:off x="13550537" y="4588909"/>
            <a:ext cx="391361" cy="395518"/>
          </a:xfrm>
          <a:custGeom>
            <a:avLst/>
            <a:gdLst/>
            <a:ahLst/>
            <a:cxnLst/>
            <a:rect r="r" b="b" t="t" l="l"/>
            <a:pathLst>
              <a:path h="395518" w="391361">
                <a:moveTo>
                  <a:pt x="0" y="0"/>
                </a:moveTo>
                <a:lnTo>
                  <a:pt x="391362" y="0"/>
                </a:lnTo>
                <a:lnTo>
                  <a:pt x="391362" y="395518"/>
                </a:lnTo>
                <a:lnTo>
                  <a:pt x="0" y="39551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15542424" y="5945872"/>
            <a:ext cx="80112" cy="881760"/>
            <a:chOff x="0" y="0"/>
            <a:chExt cx="106816" cy="1175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127" y="0"/>
              <a:ext cx="106807" cy="1175512"/>
            </a:xfrm>
            <a:custGeom>
              <a:avLst/>
              <a:gdLst/>
              <a:ahLst/>
              <a:cxnLst/>
              <a:rect r="r" b="b" t="t" l="l"/>
              <a:pathLst>
                <a:path h="1175512" w="106807">
                  <a:moveTo>
                    <a:pt x="53340" y="127"/>
                  </a:moveTo>
                  <a:cubicBezTo>
                    <a:pt x="22225" y="127"/>
                    <a:pt x="0" y="22352"/>
                    <a:pt x="0" y="53340"/>
                  </a:cubicBezTo>
                  <a:lnTo>
                    <a:pt x="0" y="1122172"/>
                  </a:lnTo>
                  <a:cubicBezTo>
                    <a:pt x="0" y="1150620"/>
                    <a:pt x="22225" y="1175512"/>
                    <a:pt x="53340" y="1175512"/>
                  </a:cubicBezTo>
                  <a:cubicBezTo>
                    <a:pt x="81788" y="1175512"/>
                    <a:pt x="106807" y="1150493"/>
                    <a:pt x="106807" y="1122172"/>
                  </a:cubicBezTo>
                  <a:lnTo>
                    <a:pt x="106807" y="53340"/>
                  </a:lnTo>
                  <a:cubicBezTo>
                    <a:pt x="106807" y="22352"/>
                    <a:pt x="81788" y="0"/>
                    <a:pt x="53340" y="0"/>
                  </a:cubicBezTo>
                  <a:close/>
                </a:path>
              </a:pathLst>
            </a:custGeom>
            <a:solidFill>
              <a:srgbClr val="AFAFB6"/>
            </a:solidFill>
          </p:spPr>
        </p:sp>
      </p:grpSp>
      <p:sp>
        <p:nvSpPr>
          <p:cNvPr name="Freeform 19" id="19"/>
          <p:cNvSpPr/>
          <p:nvPr/>
        </p:nvSpPr>
        <p:spPr>
          <a:xfrm flipH="false" flipV="false" rot="0">
            <a:off x="14311401" y="8686007"/>
            <a:ext cx="105282" cy="969038"/>
          </a:xfrm>
          <a:custGeom>
            <a:avLst/>
            <a:gdLst/>
            <a:ahLst/>
            <a:cxnLst/>
            <a:rect r="r" b="b" t="t" l="l"/>
            <a:pathLst>
              <a:path h="969038" w="105282">
                <a:moveTo>
                  <a:pt x="0" y="0"/>
                </a:moveTo>
                <a:lnTo>
                  <a:pt x="105282" y="0"/>
                </a:lnTo>
                <a:lnTo>
                  <a:pt x="105282" y="969038"/>
                </a:lnTo>
                <a:lnTo>
                  <a:pt x="0" y="96903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3858241" y="7217117"/>
            <a:ext cx="169250" cy="1674054"/>
          </a:xfrm>
          <a:custGeom>
            <a:avLst/>
            <a:gdLst/>
            <a:ahLst/>
            <a:cxnLst/>
            <a:rect r="r" b="b" t="t" l="l"/>
            <a:pathLst>
              <a:path h="1674054" w="169250">
                <a:moveTo>
                  <a:pt x="0" y="0"/>
                </a:moveTo>
                <a:lnTo>
                  <a:pt x="169250" y="0"/>
                </a:lnTo>
                <a:lnTo>
                  <a:pt x="169250" y="1674054"/>
                </a:lnTo>
                <a:lnTo>
                  <a:pt x="0" y="167405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21" id="21"/>
          <p:cNvSpPr/>
          <p:nvPr/>
        </p:nvSpPr>
        <p:spPr>
          <a:xfrm rot="5394431">
            <a:off x="9851976" y="-1726503"/>
            <a:ext cx="5347483" cy="0"/>
          </a:xfrm>
          <a:prstGeom prst="line">
            <a:avLst/>
          </a:prstGeom>
          <a:ln cap="rnd" w="9525">
            <a:solidFill>
              <a:srgbClr val="AFAFB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2" id="22"/>
          <p:cNvSpPr/>
          <p:nvPr/>
        </p:nvSpPr>
        <p:spPr>
          <a:xfrm rot="2674203">
            <a:off x="12306953" y="1463640"/>
            <a:ext cx="1491162" cy="0"/>
          </a:xfrm>
          <a:prstGeom prst="line">
            <a:avLst/>
          </a:prstGeom>
          <a:ln cap="rnd" w="9525">
            <a:solidFill>
              <a:srgbClr val="AFAFB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3" id="23"/>
          <p:cNvSpPr/>
          <p:nvPr/>
        </p:nvSpPr>
        <p:spPr>
          <a:xfrm flipH="false" flipV="false" rot="0">
            <a:off x="13501121" y="1933873"/>
            <a:ext cx="391361" cy="395518"/>
          </a:xfrm>
          <a:custGeom>
            <a:avLst/>
            <a:gdLst/>
            <a:ahLst/>
            <a:cxnLst/>
            <a:rect r="r" b="b" t="t" l="l"/>
            <a:pathLst>
              <a:path h="395518" w="391361">
                <a:moveTo>
                  <a:pt x="0" y="0"/>
                </a:moveTo>
                <a:lnTo>
                  <a:pt x="391362" y="0"/>
                </a:lnTo>
                <a:lnTo>
                  <a:pt x="391362" y="395518"/>
                </a:lnTo>
                <a:lnTo>
                  <a:pt x="0" y="395518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4" id="24"/>
          <p:cNvGrpSpPr/>
          <p:nvPr/>
        </p:nvGrpSpPr>
        <p:grpSpPr>
          <a:xfrm rot="-5400000">
            <a:off x="16431750" y="1611096"/>
            <a:ext cx="80112" cy="881760"/>
            <a:chOff x="0" y="0"/>
            <a:chExt cx="106816" cy="11756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127" y="0"/>
              <a:ext cx="106807" cy="1175512"/>
            </a:xfrm>
            <a:custGeom>
              <a:avLst/>
              <a:gdLst/>
              <a:ahLst/>
              <a:cxnLst/>
              <a:rect r="r" b="b" t="t" l="l"/>
              <a:pathLst>
                <a:path h="1175512" w="106807">
                  <a:moveTo>
                    <a:pt x="53340" y="127"/>
                  </a:moveTo>
                  <a:cubicBezTo>
                    <a:pt x="22225" y="127"/>
                    <a:pt x="0" y="22352"/>
                    <a:pt x="0" y="53340"/>
                  </a:cubicBezTo>
                  <a:lnTo>
                    <a:pt x="0" y="1122172"/>
                  </a:lnTo>
                  <a:cubicBezTo>
                    <a:pt x="0" y="1150620"/>
                    <a:pt x="22225" y="1175512"/>
                    <a:pt x="53340" y="1175512"/>
                  </a:cubicBezTo>
                  <a:cubicBezTo>
                    <a:pt x="81788" y="1175512"/>
                    <a:pt x="106807" y="1150493"/>
                    <a:pt x="106807" y="1122172"/>
                  </a:cubicBezTo>
                  <a:lnTo>
                    <a:pt x="106807" y="53340"/>
                  </a:lnTo>
                  <a:cubicBezTo>
                    <a:pt x="106807" y="22352"/>
                    <a:pt x="81788" y="0"/>
                    <a:pt x="53340" y="0"/>
                  </a:cubicBezTo>
                  <a:close/>
                </a:path>
              </a:pathLst>
            </a:custGeom>
            <a:solidFill>
              <a:srgbClr val="AFAFB6"/>
            </a:solidFill>
          </p:spPr>
        </p:sp>
      </p:grpSp>
      <p:sp>
        <p:nvSpPr>
          <p:cNvPr name="AutoShape 26" id="26"/>
          <p:cNvSpPr/>
          <p:nvPr/>
        </p:nvSpPr>
        <p:spPr>
          <a:xfrm rot="5391564">
            <a:off x="-4146113" y="610860"/>
            <a:ext cx="7763873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7" id="27"/>
          <p:cNvSpPr/>
          <p:nvPr/>
        </p:nvSpPr>
        <p:spPr>
          <a:xfrm rot="2674483">
            <a:off x="3277542" y="1374960"/>
            <a:ext cx="2172080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8" id="28"/>
          <p:cNvGrpSpPr/>
          <p:nvPr/>
        </p:nvGrpSpPr>
        <p:grpSpPr>
          <a:xfrm rot="-10800000">
            <a:off x="5050387" y="2066279"/>
            <a:ext cx="405900" cy="401750"/>
            <a:chOff x="0" y="0"/>
            <a:chExt cx="541200" cy="535667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12700" y="12700"/>
              <a:ext cx="515620" cy="510032"/>
            </a:xfrm>
            <a:custGeom>
              <a:avLst/>
              <a:gdLst/>
              <a:ahLst/>
              <a:cxnLst/>
              <a:rect r="r" b="b" t="t" l="l"/>
              <a:pathLst>
                <a:path h="510032" w="515620">
                  <a:moveTo>
                    <a:pt x="0" y="255778"/>
                  </a:moveTo>
                  <a:cubicBezTo>
                    <a:pt x="0" y="397256"/>
                    <a:pt x="118491" y="510032"/>
                    <a:pt x="254508" y="510032"/>
                  </a:cubicBezTo>
                  <a:cubicBezTo>
                    <a:pt x="395986" y="510032"/>
                    <a:pt x="515620" y="397256"/>
                    <a:pt x="515620" y="255778"/>
                  </a:cubicBezTo>
                  <a:cubicBezTo>
                    <a:pt x="515620" y="114300"/>
                    <a:pt x="395986" y="0"/>
                    <a:pt x="254508" y="0"/>
                  </a:cubicBezTo>
                  <a:cubicBezTo>
                    <a:pt x="118491" y="0"/>
                    <a:pt x="0" y="114300"/>
                    <a:pt x="0" y="255778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541020" cy="535432"/>
            </a:xfrm>
            <a:custGeom>
              <a:avLst/>
              <a:gdLst/>
              <a:ahLst/>
              <a:cxnLst/>
              <a:rect r="r" b="b" t="t" l="l"/>
              <a:pathLst>
                <a:path h="535432" w="541020">
                  <a:moveTo>
                    <a:pt x="25400" y="268478"/>
                  </a:moveTo>
                  <a:cubicBezTo>
                    <a:pt x="25400" y="402717"/>
                    <a:pt x="137922" y="510032"/>
                    <a:pt x="267208" y="510032"/>
                  </a:cubicBezTo>
                  <a:lnTo>
                    <a:pt x="267208" y="522732"/>
                  </a:lnTo>
                  <a:lnTo>
                    <a:pt x="267208" y="510032"/>
                  </a:lnTo>
                  <a:cubicBezTo>
                    <a:pt x="402209" y="510032"/>
                    <a:pt x="515620" y="402463"/>
                    <a:pt x="515620" y="268478"/>
                  </a:cubicBezTo>
                  <a:lnTo>
                    <a:pt x="528320" y="268478"/>
                  </a:lnTo>
                  <a:lnTo>
                    <a:pt x="515620" y="268478"/>
                  </a:lnTo>
                  <a:cubicBezTo>
                    <a:pt x="515620" y="134366"/>
                    <a:pt x="402082" y="25400"/>
                    <a:pt x="267208" y="25400"/>
                  </a:cubicBezTo>
                  <a:lnTo>
                    <a:pt x="267208" y="12700"/>
                  </a:lnTo>
                  <a:lnTo>
                    <a:pt x="267208" y="25400"/>
                  </a:lnTo>
                  <a:cubicBezTo>
                    <a:pt x="138049" y="25400"/>
                    <a:pt x="25400" y="134112"/>
                    <a:pt x="25400" y="268478"/>
                  </a:cubicBezTo>
                  <a:lnTo>
                    <a:pt x="12700" y="268478"/>
                  </a:lnTo>
                  <a:lnTo>
                    <a:pt x="25400" y="268478"/>
                  </a:lnTo>
                  <a:moveTo>
                    <a:pt x="0" y="268478"/>
                  </a:moveTo>
                  <a:cubicBezTo>
                    <a:pt x="0" y="119888"/>
                    <a:pt x="124206" y="0"/>
                    <a:pt x="267208" y="0"/>
                  </a:cubicBezTo>
                  <a:cubicBezTo>
                    <a:pt x="415417" y="0"/>
                    <a:pt x="541020" y="119634"/>
                    <a:pt x="541020" y="268478"/>
                  </a:cubicBezTo>
                  <a:cubicBezTo>
                    <a:pt x="541020" y="417322"/>
                    <a:pt x="415290" y="535432"/>
                    <a:pt x="267208" y="535432"/>
                  </a:cubicBezTo>
                  <a:cubicBezTo>
                    <a:pt x="124333" y="535432"/>
                    <a:pt x="0" y="417195"/>
                    <a:pt x="0" y="268478"/>
                  </a:cubicBez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AutoShape 31" id="31"/>
          <p:cNvSpPr/>
          <p:nvPr/>
        </p:nvSpPr>
        <p:spPr>
          <a:xfrm rot="1125">
            <a:off x="6216427" y="-2212701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2" id="32"/>
          <p:cNvSpPr/>
          <p:nvPr/>
        </p:nvSpPr>
        <p:spPr>
          <a:xfrm rot="1125">
            <a:off x="5942917" y="-2212701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3" id="33"/>
          <p:cNvSpPr/>
          <p:nvPr/>
        </p:nvSpPr>
        <p:spPr>
          <a:xfrm rot="1125">
            <a:off x="6079672" y="-2212701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4" id="34"/>
          <p:cNvSpPr/>
          <p:nvPr/>
        </p:nvSpPr>
        <p:spPr>
          <a:xfrm rot="1125">
            <a:off x="5806161" y="-2212701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5" id="35"/>
          <p:cNvSpPr/>
          <p:nvPr/>
        </p:nvSpPr>
        <p:spPr>
          <a:xfrm rot="1125">
            <a:off x="5669406" y="-2212701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6" id="36"/>
          <p:cNvSpPr/>
          <p:nvPr/>
        </p:nvSpPr>
        <p:spPr>
          <a:xfrm rot="1125">
            <a:off x="5532651" y="-2212701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7" id="37"/>
          <p:cNvSpPr/>
          <p:nvPr/>
        </p:nvSpPr>
        <p:spPr>
          <a:xfrm rot="1125">
            <a:off x="5395895" y="-2212701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8" id="38"/>
          <p:cNvSpPr/>
          <p:nvPr/>
        </p:nvSpPr>
        <p:spPr>
          <a:xfrm rot="1125">
            <a:off x="5259140" y="-2212701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9" id="39"/>
          <p:cNvSpPr/>
          <p:nvPr/>
        </p:nvSpPr>
        <p:spPr>
          <a:xfrm rot="1125">
            <a:off x="5122385" y="-2212701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0" id="40"/>
          <p:cNvSpPr/>
          <p:nvPr/>
        </p:nvSpPr>
        <p:spPr>
          <a:xfrm rot="1125">
            <a:off x="4985629" y="-2212701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1" id="41"/>
          <p:cNvGrpSpPr/>
          <p:nvPr/>
        </p:nvGrpSpPr>
        <p:grpSpPr>
          <a:xfrm rot="0">
            <a:off x="6649075" y="1636975"/>
            <a:ext cx="12962700" cy="1547500"/>
            <a:chOff x="0" y="0"/>
            <a:chExt cx="17283600" cy="2063333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12700" y="0"/>
              <a:ext cx="17270857" cy="2063369"/>
            </a:xfrm>
            <a:custGeom>
              <a:avLst/>
              <a:gdLst/>
              <a:ahLst/>
              <a:cxnLst/>
              <a:rect r="r" b="b" t="t" l="l"/>
              <a:pathLst>
                <a:path h="2063369" w="17270857">
                  <a:moveTo>
                    <a:pt x="0" y="0"/>
                  </a:moveTo>
                  <a:lnTo>
                    <a:pt x="5127371" y="0"/>
                  </a:lnTo>
                  <a:cubicBezTo>
                    <a:pt x="5130800" y="0"/>
                    <a:pt x="5133975" y="1397"/>
                    <a:pt x="5136388" y="3683"/>
                  </a:cubicBezTo>
                  <a:lnTo>
                    <a:pt x="7174357" y="2041652"/>
                  </a:lnTo>
                  <a:lnTo>
                    <a:pt x="7165339" y="2050669"/>
                  </a:lnTo>
                  <a:lnTo>
                    <a:pt x="7165339" y="2037969"/>
                  </a:lnTo>
                  <a:lnTo>
                    <a:pt x="11160379" y="2037969"/>
                  </a:lnTo>
                  <a:lnTo>
                    <a:pt x="11160379" y="2050669"/>
                  </a:lnTo>
                  <a:lnTo>
                    <a:pt x="11149330" y="2044319"/>
                  </a:lnTo>
                  <a:lnTo>
                    <a:pt x="11750167" y="1003681"/>
                  </a:lnTo>
                  <a:cubicBezTo>
                    <a:pt x="11752453" y="999744"/>
                    <a:pt x="11756644" y="997331"/>
                    <a:pt x="11761216" y="997331"/>
                  </a:cubicBezTo>
                  <a:lnTo>
                    <a:pt x="17258157" y="997331"/>
                  </a:lnTo>
                  <a:lnTo>
                    <a:pt x="17258157" y="1010031"/>
                  </a:lnTo>
                  <a:lnTo>
                    <a:pt x="17245457" y="1010031"/>
                  </a:lnTo>
                  <a:lnTo>
                    <a:pt x="17245457" y="740537"/>
                  </a:lnTo>
                  <a:lnTo>
                    <a:pt x="17270857" y="740537"/>
                  </a:lnTo>
                  <a:lnTo>
                    <a:pt x="17270857" y="1010031"/>
                  </a:lnTo>
                  <a:cubicBezTo>
                    <a:pt x="17270857" y="1017016"/>
                    <a:pt x="17265142" y="1022731"/>
                    <a:pt x="17258157" y="1022731"/>
                  </a:cubicBezTo>
                  <a:lnTo>
                    <a:pt x="11761216" y="1022731"/>
                  </a:lnTo>
                  <a:lnTo>
                    <a:pt x="11761216" y="1010031"/>
                  </a:lnTo>
                  <a:lnTo>
                    <a:pt x="11772265" y="1016381"/>
                  </a:lnTo>
                  <a:lnTo>
                    <a:pt x="11171428" y="2057019"/>
                  </a:lnTo>
                  <a:cubicBezTo>
                    <a:pt x="11169142" y="2060956"/>
                    <a:pt x="11164951" y="2063369"/>
                    <a:pt x="11160379" y="2063369"/>
                  </a:cubicBezTo>
                  <a:lnTo>
                    <a:pt x="7165340" y="2063369"/>
                  </a:lnTo>
                  <a:cubicBezTo>
                    <a:pt x="7161911" y="2063369"/>
                    <a:pt x="7158736" y="2061972"/>
                    <a:pt x="7156323" y="2059686"/>
                  </a:cubicBezTo>
                  <a:lnTo>
                    <a:pt x="5118354" y="21717"/>
                  </a:lnTo>
                  <a:lnTo>
                    <a:pt x="5127371" y="12700"/>
                  </a:lnTo>
                  <a:lnTo>
                    <a:pt x="5127371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1125">
            <a:off x="7101403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rot="1125">
            <a:off x="7374914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 rot="1125">
            <a:off x="7238159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1125">
            <a:off x="7511669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rot="1125">
            <a:off x="7648425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rot="1125">
            <a:off x="7785180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rot="1125">
            <a:off x="7921935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 rot="1125">
            <a:off x="8058691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 rot="1125">
            <a:off x="8195446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 rot="1125">
            <a:off x="8332201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2" id="12"/>
          <p:cNvSpPr/>
          <p:nvPr/>
        </p:nvSpPr>
        <p:spPr>
          <a:xfrm flipH="false" flipV="false" rot="0">
            <a:off x="-840069" y="1068077"/>
            <a:ext cx="15292830" cy="10308934"/>
          </a:xfrm>
          <a:custGeom>
            <a:avLst/>
            <a:gdLst/>
            <a:ahLst/>
            <a:cxnLst/>
            <a:rect r="r" b="b" t="t" l="l"/>
            <a:pathLst>
              <a:path h="10308934" w="15292830">
                <a:moveTo>
                  <a:pt x="0" y="0"/>
                </a:moveTo>
                <a:lnTo>
                  <a:pt x="15292830" y="0"/>
                </a:lnTo>
                <a:lnTo>
                  <a:pt x="15292830" y="10308934"/>
                </a:lnTo>
                <a:lnTo>
                  <a:pt x="0" y="1030893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2365025" y="3364375"/>
            <a:ext cx="10863533" cy="4505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760"/>
              </a:lnSpc>
            </a:pPr>
            <a:r>
              <a:rPr lang="en-US" b="true" sz="9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Theoretical Foundations</a:t>
            </a:r>
            <a:r>
              <a:rPr lang="en-US" sz="98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of </a:t>
            </a:r>
            <a:r>
              <a:rPr lang="en-US" b="true" sz="9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Semantic Loss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735450" y="1723450"/>
            <a:ext cx="2503350" cy="1533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760"/>
              </a:lnSpc>
            </a:pPr>
            <a:r>
              <a:rPr lang="en-US" sz="9800">
                <a:solidFill>
                  <a:srgbClr val="00CADA"/>
                </a:solidFill>
                <a:latin typeface="Arimo"/>
                <a:ea typeface="Arimo"/>
                <a:cs typeface="Arimo"/>
                <a:sym typeface="Arimo"/>
              </a:rPr>
              <a:t>01</a:t>
            </a:r>
          </a:p>
        </p:txBody>
      </p:sp>
      <p:grpSp>
        <p:nvGrpSpPr>
          <p:cNvPr name="Group 15" id="15"/>
          <p:cNvGrpSpPr/>
          <p:nvPr/>
        </p:nvGrpSpPr>
        <p:grpSpPr>
          <a:xfrm rot="-5400000">
            <a:off x="1378150" y="3863343"/>
            <a:ext cx="714600" cy="618032"/>
            <a:chOff x="0" y="0"/>
            <a:chExt cx="952800" cy="82404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952754" cy="824103"/>
            </a:xfrm>
            <a:custGeom>
              <a:avLst/>
              <a:gdLst/>
              <a:ahLst/>
              <a:cxnLst/>
              <a:rect r="r" b="b" t="t" l="l"/>
              <a:pathLst>
                <a:path h="824103" w="952754">
                  <a:moveTo>
                    <a:pt x="0" y="0"/>
                  </a:moveTo>
                  <a:lnTo>
                    <a:pt x="952754" y="0"/>
                  </a:lnTo>
                  <a:lnTo>
                    <a:pt x="476377" y="824103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4023225" y="-3239875"/>
            <a:ext cx="3286016" cy="11859112"/>
            <a:chOff x="0" y="0"/>
            <a:chExt cx="4381355" cy="1581214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3683" y="12700"/>
              <a:ext cx="4377690" cy="15795752"/>
            </a:xfrm>
            <a:custGeom>
              <a:avLst/>
              <a:gdLst/>
              <a:ahLst/>
              <a:cxnLst/>
              <a:rect r="r" b="b" t="t" l="l"/>
              <a:pathLst>
                <a:path h="15795752" w="4377690">
                  <a:moveTo>
                    <a:pt x="0" y="15777718"/>
                  </a:moveTo>
                  <a:lnTo>
                    <a:pt x="4355973" y="11421872"/>
                  </a:lnTo>
                  <a:lnTo>
                    <a:pt x="4364990" y="11430889"/>
                  </a:lnTo>
                  <a:lnTo>
                    <a:pt x="4352290" y="11430889"/>
                  </a:lnTo>
                  <a:lnTo>
                    <a:pt x="4352290" y="0"/>
                  </a:lnTo>
                  <a:lnTo>
                    <a:pt x="4377690" y="0"/>
                  </a:lnTo>
                  <a:lnTo>
                    <a:pt x="4377690" y="11430762"/>
                  </a:lnTo>
                  <a:cubicBezTo>
                    <a:pt x="4377690" y="11434191"/>
                    <a:pt x="4376293" y="11437366"/>
                    <a:pt x="4374007" y="11439779"/>
                  </a:cubicBezTo>
                  <a:lnTo>
                    <a:pt x="18034" y="15795752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AutoShape 19" id="19"/>
          <p:cNvSpPr/>
          <p:nvPr/>
        </p:nvSpPr>
        <p:spPr>
          <a:xfrm rot="5394431">
            <a:off x="13263544" y="11175703"/>
            <a:ext cx="5347483" cy="0"/>
          </a:xfrm>
          <a:prstGeom prst="line">
            <a:avLst/>
          </a:prstGeom>
          <a:ln cap="rnd" w="9525">
            <a:solidFill>
              <a:srgbClr val="AFAFB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0" id="20"/>
          <p:cNvSpPr/>
          <p:nvPr/>
        </p:nvSpPr>
        <p:spPr>
          <a:xfrm rot="2674203">
            <a:off x="15718521" y="7985560"/>
            <a:ext cx="1491162" cy="0"/>
          </a:xfrm>
          <a:prstGeom prst="line">
            <a:avLst/>
          </a:prstGeom>
          <a:ln cap="rnd" w="9525">
            <a:solidFill>
              <a:srgbClr val="AFAFB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1" id="21"/>
          <p:cNvGrpSpPr/>
          <p:nvPr/>
        </p:nvGrpSpPr>
        <p:grpSpPr>
          <a:xfrm rot="5400000">
            <a:off x="16910611" y="7121887"/>
            <a:ext cx="395518" cy="391361"/>
            <a:chOff x="0" y="0"/>
            <a:chExt cx="527357" cy="52181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12700" y="12700"/>
              <a:ext cx="515620" cy="510032"/>
            </a:xfrm>
            <a:custGeom>
              <a:avLst/>
              <a:gdLst/>
              <a:ahLst/>
              <a:cxnLst/>
              <a:rect r="r" b="b" t="t" l="l"/>
              <a:pathLst>
                <a:path h="510032" w="515620">
                  <a:moveTo>
                    <a:pt x="0" y="255778"/>
                  </a:moveTo>
                  <a:cubicBezTo>
                    <a:pt x="0" y="397256"/>
                    <a:pt x="118491" y="510032"/>
                    <a:pt x="254508" y="510032"/>
                  </a:cubicBezTo>
                  <a:cubicBezTo>
                    <a:pt x="395986" y="510032"/>
                    <a:pt x="515620" y="397256"/>
                    <a:pt x="515620" y="255778"/>
                  </a:cubicBezTo>
                  <a:cubicBezTo>
                    <a:pt x="515620" y="114300"/>
                    <a:pt x="396113" y="0"/>
                    <a:pt x="254508" y="0"/>
                  </a:cubicBezTo>
                  <a:cubicBezTo>
                    <a:pt x="118491" y="0"/>
                    <a:pt x="0" y="114300"/>
                    <a:pt x="0" y="255778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41020" cy="535432"/>
            </a:xfrm>
            <a:custGeom>
              <a:avLst/>
              <a:gdLst/>
              <a:ahLst/>
              <a:cxnLst/>
              <a:rect r="r" b="b" t="t" l="l"/>
              <a:pathLst>
                <a:path h="535432" w="541020">
                  <a:moveTo>
                    <a:pt x="25400" y="268478"/>
                  </a:moveTo>
                  <a:cubicBezTo>
                    <a:pt x="25400" y="402717"/>
                    <a:pt x="137922" y="510032"/>
                    <a:pt x="267208" y="510032"/>
                  </a:cubicBezTo>
                  <a:lnTo>
                    <a:pt x="267208" y="522732"/>
                  </a:lnTo>
                  <a:lnTo>
                    <a:pt x="267208" y="510032"/>
                  </a:lnTo>
                  <a:cubicBezTo>
                    <a:pt x="402209" y="510032"/>
                    <a:pt x="515620" y="402463"/>
                    <a:pt x="515620" y="268478"/>
                  </a:cubicBezTo>
                  <a:lnTo>
                    <a:pt x="528320" y="268478"/>
                  </a:lnTo>
                  <a:lnTo>
                    <a:pt x="515620" y="268478"/>
                  </a:lnTo>
                  <a:cubicBezTo>
                    <a:pt x="515620" y="134366"/>
                    <a:pt x="402082" y="25400"/>
                    <a:pt x="267208" y="25400"/>
                  </a:cubicBezTo>
                  <a:lnTo>
                    <a:pt x="267208" y="12700"/>
                  </a:lnTo>
                  <a:lnTo>
                    <a:pt x="267208" y="25400"/>
                  </a:lnTo>
                  <a:cubicBezTo>
                    <a:pt x="138049" y="25400"/>
                    <a:pt x="25400" y="134112"/>
                    <a:pt x="25400" y="268478"/>
                  </a:cubicBezTo>
                  <a:lnTo>
                    <a:pt x="12700" y="268478"/>
                  </a:lnTo>
                  <a:lnTo>
                    <a:pt x="25400" y="268478"/>
                  </a:lnTo>
                  <a:moveTo>
                    <a:pt x="0" y="268478"/>
                  </a:moveTo>
                  <a:cubicBezTo>
                    <a:pt x="0" y="119888"/>
                    <a:pt x="124206" y="0"/>
                    <a:pt x="267208" y="0"/>
                  </a:cubicBezTo>
                  <a:cubicBezTo>
                    <a:pt x="415417" y="0"/>
                    <a:pt x="541020" y="119634"/>
                    <a:pt x="541020" y="268478"/>
                  </a:cubicBezTo>
                  <a:cubicBezTo>
                    <a:pt x="541020" y="417322"/>
                    <a:pt x="415290" y="535432"/>
                    <a:pt x="267208" y="535432"/>
                  </a:cubicBezTo>
                  <a:cubicBezTo>
                    <a:pt x="124333" y="535432"/>
                    <a:pt x="0" y="417195"/>
                    <a:pt x="0" y="268478"/>
                  </a:cubicBezTo>
                  <a:close/>
                </a:path>
              </a:pathLst>
            </a:custGeom>
            <a:solidFill>
              <a:srgbClr val="AFAFB6"/>
            </a:solidFill>
          </p:spPr>
        </p:sp>
      </p:grpSp>
      <p:sp>
        <p:nvSpPr>
          <p:cNvPr name="AutoShape 24" id="24"/>
          <p:cNvSpPr/>
          <p:nvPr/>
        </p:nvSpPr>
        <p:spPr>
          <a:xfrm rot="5394431">
            <a:off x="-2543517" y="1493858"/>
            <a:ext cx="5347483" cy="0"/>
          </a:xfrm>
          <a:prstGeom prst="line">
            <a:avLst/>
          </a:prstGeom>
          <a:ln cap="rnd" w="9525">
            <a:solidFill>
              <a:srgbClr val="00CAD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 rot="2674203">
            <a:off x="2574787" y="2020674"/>
            <a:ext cx="1491162" cy="0"/>
          </a:xfrm>
          <a:prstGeom prst="line">
            <a:avLst/>
          </a:prstGeom>
          <a:ln cap="rnd" w="9525">
            <a:solidFill>
              <a:srgbClr val="00CAD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6" id="26"/>
          <p:cNvGrpSpPr/>
          <p:nvPr/>
        </p:nvGrpSpPr>
        <p:grpSpPr>
          <a:xfrm rot="-10800000">
            <a:off x="3790601" y="2469261"/>
            <a:ext cx="395518" cy="391361"/>
            <a:chOff x="0" y="0"/>
            <a:chExt cx="527357" cy="52181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00" y="12700"/>
              <a:ext cx="515620" cy="510032"/>
            </a:xfrm>
            <a:custGeom>
              <a:avLst/>
              <a:gdLst/>
              <a:ahLst/>
              <a:cxnLst/>
              <a:rect r="r" b="b" t="t" l="l"/>
              <a:pathLst>
                <a:path h="510032" w="515620">
                  <a:moveTo>
                    <a:pt x="0" y="255778"/>
                  </a:moveTo>
                  <a:cubicBezTo>
                    <a:pt x="0" y="397256"/>
                    <a:pt x="118491" y="510032"/>
                    <a:pt x="254508" y="510032"/>
                  </a:cubicBezTo>
                  <a:cubicBezTo>
                    <a:pt x="395986" y="510032"/>
                    <a:pt x="515620" y="397256"/>
                    <a:pt x="515620" y="255778"/>
                  </a:cubicBezTo>
                  <a:cubicBezTo>
                    <a:pt x="515620" y="114300"/>
                    <a:pt x="396113" y="0"/>
                    <a:pt x="254508" y="0"/>
                  </a:cubicBezTo>
                  <a:cubicBezTo>
                    <a:pt x="118491" y="0"/>
                    <a:pt x="0" y="114300"/>
                    <a:pt x="0" y="255778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541020" cy="535432"/>
            </a:xfrm>
            <a:custGeom>
              <a:avLst/>
              <a:gdLst/>
              <a:ahLst/>
              <a:cxnLst/>
              <a:rect r="r" b="b" t="t" l="l"/>
              <a:pathLst>
                <a:path h="535432" w="541020">
                  <a:moveTo>
                    <a:pt x="25400" y="268478"/>
                  </a:moveTo>
                  <a:cubicBezTo>
                    <a:pt x="25400" y="402717"/>
                    <a:pt x="137922" y="510032"/>
                    <a:pt x="267208" y="510032"/>
                  </a:cubicBezTo>
                  <a:lnTo>
                    <a:pt x="267208" y="522732"/>
                  </a:lnTo>
                  <a:lnTo>
                    <a:pt x="267208" y="510032"/>
                  </a:lnTo>
                  <a:cubicBezTo>
                    <a:pt x="402209" y="510032"/>
                    <a:pt x="515620" y="402463"/>
                    <a:pt x="515620" y="268478"/>
                  </a:cubicBezTo>
                  <a:lnTo>
                    <a:pt x="528320" y="268478"/>
                  </a:lnTo>
                  <a:lnTo>
                    <a:pt x="515620" y="268478"/>
                  </a:lnTo>
                  <a:cubicBezTo>
                    <a:pt x="515620" y="134366"/>
                    <a:pt x="402082" y="25400"/>
                    <a:pt x="267208" y="25400"/>
                  </a:cubicBezTo>
                  <a:lnTo>
                    <a:pt x="267208" y="12700"/>
                  </a:lnTo>
                  <a:lnTo>
                    <a:pt x="267208" y="25400"/>
                  </a:lnTo>
                  <a:cubicBezTo>
                    <a:pt x="138049" y="25400"/>
                    <a:pt x="25400" y="134112"/>
                    <a:pt x="25400" y="268478"/>
                  </a:cubicBezTo>
                  <a:lnTo>
                    <a:pt x="12700" y="268478"/>
                  </a:lnTo>
                  <a:lnTo>
                    <a:pt x="25400" y="268478"/>
                  </a:lnTo>
                  <a:moveTo>
                    <a:pt x="0" y="268478"/>
                  </a:moveTo>
                  <a:cubicBezTo>
                    <a:pt x="0" y="119888"/>
                    <a:pt x="124206" y="0"/>
                    <a:pt x="267208" y="0"/>
                  </a:cubicBezTo>
                  <a:cubicBezTo>
                    <a:pt x="415417" y="0"/>
                    <a:pt x="541020" y="119634"/>
                    <a:pt x="541020" y="268478"/>
                  </a:cubicBezTo>
                  <a:cubicBezTo>
                    <a:pt x="541020" y="417322"/>
                    <a:pt x="415290" y="535432"/>
                    <a:pt x="267208" y="535432"/>
                  </a:cubicBezTo>
                  <a:cubicBezTo>
                    <a:pt x="124333" y="535432"/>
                    <a:pt x="0" y="417195"/>
                    <a:pt x="0" y="268478"/>
                  </a:cubicBez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Freeform 29" id="29"/>
          <p:cNvSpPr/>
          <p:nvPr/>
        </p:nvSpPr>
        <p:spPr>
          <a:xfrm flipH="false" flipV="false" rot="0">
            <a:off x="7101354" y="-879740"/>
            <a:ext cx="12029926" cy="3961744"/>
          </a:xfrm>
          <a:custGeom>
            <a:avLst/>
            <a:gdLst/>
            <a:ahLst/>
            <a:cxnLst/>
            <a:rect r="r" b="b" t="t" l="l"/>
            <a:pathLst>
              <a:path h="3961744" w="12029926">
                <a:moveTo>
                  <a:pt x="0" y="0"/>
                </a:moveTo>
                <a:lnTo>
                  <a:pt x="12029926" y="0"/>
                </a:lnTo>
                <a:lnTo>
                  <a:pt x="12029926" y="3961744"/>
                </a:lnTo>
                <a:lnTo>
                  <a:pt x="0" y="396174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4433721" y="2520720"/>
            <a:ext cx="2339172" cy="1055849"/>
          </a:xfrm>
          <a:custGeom>
            <a:avLst/>
            <a:gdLst/>
            <a:ahLst/>
            <a:cxnLst/>
            <a:rect r="r" b="b" t="t" l="l"/>
            <a:pathLst>
              <a:path h="1055849" w="2339172">
                <a:moveTo>
                  <a:pt x="0" y="0"/>
                </a:moveTo>
                <a:lnTo>
                  <a:pt x="2339172" y="0"/>
                </a:lnTo>
                <a:lnTo>
                  <a:pt x="2339172" y="1055849"/>
                </a:lnTo>
                <a:lnTo>
                  <a:pt x="0" y="105584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7029" y="880533"/>
            <a:ext cx="17357748" cy="9211584"/>
          </a:xfrm>
          <a:custGeom>
            <a:avLst/>
            <a:gdLst/>
            <a:ahLst/>
            <a:cxnLst/>
            <a:rect r="r" b="b" t="t" l="l"/>
            <a:pathLst>
              <a:path h="9211584" w="17357748">
                <a:moveTo>
                  <a:pt x="0" y="0"/>
                </a:moveTo>
                <a:lnTo>
                  <a:pt x="17357748" y="0"/>
                </a:lnTo>
                <a:lnTo>
                  <a:pt x="17357748" y="9211584"/>
                </a:lnTo>
                <a:lnTo>
                  <a:pt x="0" y="9211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56500" y="2761162"/>
            <a:ext cx="16597970" cy="3861370"/>
          </a:xfrm>
          <a:custGeom>
            <a:avLst/>
            <a:gdLst/>
            <a:ahLst/>
            <a:cxnLst/>
            <a:rect r="r" b="b" t="t" l="l"/>
            <a:pathLst>
              <a:path h="3861370" w="16597970">
                <a:moveTo>
                  <a:pt x="0" y="0"/>
                </a:moveTo>
                <a:lnTo>
                  <a:pt x="16597970" y="0"/>
                </a:lnTo>
                <a:lnTo>
                  <a:pt x="16597970" y="3861370"/>
                </a:lnTo>
                <a:lnTo>
                  <a:pt x="0" y="386137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 rot="4500">
            <a:off x="1476792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4500">
            <a:off x="1463117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rot="4500">
            <a:off x="1449441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rot="4500">
            <a:off x="1435766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rot="4500">
            <a:off x="1422090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1483975" y="-123525"/>
            <a:ext cx="6531800" cy="995550"/>
            <a:chOff x="0" y="0"/>
            <a:chExt cx="8709067" cy="1327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683" y="3683"/>
              <a:ext cx="8701659" cy="1323721"/>
            </a:xfrm>
            <a:custGeom>
              <a:avLst/>
              <a:gdLst/>
              <a:ahLst/>
              <a:cxnLst/>
              <a:rect r="r" b="b" t="t" l="l"/>
              <a:pathLst>
                <a:path h="1323721" w="8701659">
                  <a:moveTo>
                    <a:pt x="18034" y="0"/>
                  </a:moveTo>
                  <a:lnTo>
                    <a:pt x="1320038" y="1302004"/>
                  </a:lnTo>
                  <a:lnTo>
                    <a:pt x="1311021" y="1311021"/>
                  </a:lnTo>
                  <a:lnTo>
                    <a:pt x="1311021" y="1298321"/>
                  </a:lnTo>
                  <a:lnTo>
                    <a:pt x="6252337" y="1298321"/>
                  </a:lnTo>
                  <a:lnTo>
                    <a:pt x="6252337" y="1311021"/>
                  </a:lnTo>
                  <a:lnTo>
                    <a:pt x="6243320" y="1302004"/>
                  </a:lnTo>
                  <a:lnTo>
                    <a:pt x="6821551" y="723773"/>
                  </a:lnTo>
                  <a:cubicBezTo>
                    <a:pt x="6823964" y="721360"/>
                    <a:pt x="6827139" y="720090"/>
                    <a:pt x="6830568" y="720090"/>
                  </a:cubicBezTo>
                  <a:lnTo>
                    <a:pt x="8080121" y="720090"/>
                  </a:lnTo>
                  <a:lnTo>
                    <a:pt x="8080121" y="732790"/>
                  </a:lnTo>
                  <a:lnTo>
                    <a:pt x="8071104" y="723773"/>
                  </a:lnTo>
                  <a:lnTo>
                    <a:pt x="8683752" y="111252"/>
                  </a:lnTo>
                  <a:lnTo>
                    <a:pt x="8701659" y="129159"/>
                  </a:lnTo>
                  <a:lnTo>
                    <a:pt x="8089011" y="741807"/>
                  </a:lnTo>
                  <a:cubicBezTo>
                    <a:pt x="8086598" y="744220"/>
                    <a:pt x="8083423" y="745490"/>
                    <a:pt x="8079993" y="745490"/>
                  </a:cubicBezTo>
                  <a:lnTo>
                    <a:pt x="6830568" y="745490"/>
                  </a:lnTo>
                  <a:lnTo>
                    <a:pt x="6830568" y="732790"/>
                  </a:lnTo>
                  <a:lnTo>
                    <a:pt x="6839585" y="741807"/>
                  </a:lnTo>
                  <a:lnTo>
                    <a:pt x="6261354" y="1320038"/>
                  </a:lnTo>
                  <a:cubicBezTo>
                    <a:pt x="6258941" y="1322451"/>
                    <a:pt x="6255766" y="1323721"/>
                    <a:pt x="6252337" y="1323721"/>
                  </a:cubicBezTo>
                  <a:lnTo>
                    <a:pt x="1311021" y="1323721"/>
                  </a:lnTo>
                  <a:cubicBezTo>
                    <a:pt x="1307592" y="1323721"/>
                    <a:pt x="1304417" y="1322324"/>
                    <a:pt x="1302004" y="1320038"/>
                  </a:cubicBezTo>
                  <a:lnTo>
                    <a:pt x="0" y="18034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510875" y="6169625"/>
            <a:ext cx="998850" cy="4665200"/>
          </a:xfrm>
          <a:custGeom>
            <a:avLst/>
            <a:gdLst/>
            <a:ahLst/>
            <a:cxnLst/>
            <a:rect r="r" b="b" t="t" l="l"/>
            <a:pathLst>
              <a:path h="4665200" w="998850">
                <a:moveTo>
                  <a:pt x="0" y="0"/>
                </a:moveTo>
                <a:lnTo>
                  <a:pt x="998850" y="0"/>
                </a:lnTo>
                <a:lnTo>
                  <a:pt x="998850" y="4665200"/>
                </a:lnTo>
                <a:lnTo>
                  <a:pt x="0" y="46652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-5400000">
            <a:off x="1014670" y="1265494"/>
            <a:ext cx="456150" cy="394500"/>
            <a:chOff x="0" y="0"/>
            <a:chExt cx="608200" cy="52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08203" cy="526034"/>
            </a:xfrm>
            <a:custGeom>
              <a:avLst/>
              <a:gdLst/>
              <a:ahLst/>
              <a:cxnLst/>
              <a:rect r="r" b="b" t="t" l="l"/>
              <a:pathLst>
                <a:path h="526034" w="608203">
                  <a:moveTo>
                    <a:pt x="0" y="0"/>
                  </a:moveTo>
                  <a:lnTo>
                    <a:pt x="608203" y="0"/>
                  </a:lnTo>
                  <a:lnTo>
                    <a:pt x="304038" y="526034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702625" y="991256"/>
            <a:ext cx="152251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99"/>
              </a:lnSpc>
            </a:pPr>
            <a:r>
              <a:rPr lang="en-US" b="true" sz="5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THEORETICAL MOTIVATION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039877" y="3920322"/>
            <a:ext cx="4337550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b="true" sz="4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PROBLEM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094881" y="3914613"/>
            <a:ext cx="4337550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b="true" sz="4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SOLUTION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858902" y="4857750"/>
            <a:ext cx="4337550" cy="4400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Standard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Neural Networks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 ignore logical structure</a:t>
            </a:r>
          </a:p>
          <a:p>
            <a:pPr algn="l">
              <a:lnSpc>
                <a:spcPts val="3839"/>
              </a:lnSpc>
            </a:pPr>
          </a:p>
          <a:p>
            <a:pPr algn="l">
              <a:lnSpc>
                <a:spcPts val="3839"/>
              </a:lnSpc>
            </a:pP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Output may violate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hard constraints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(e.g., x_i &gt; x_i+1 in a sorted list)</a:t>
            </a:r>
          </a:p>
          <a:p>
            <a:pPr algn="l">
              <a:lnSpc>
                <a:spcPts val="3839"/>
              </a:lnSpc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6791058" y="4857750"/>
            <a:ext cx="4705884" cy="4400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S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emantic Loss (</a:t>
            </a:r>
            <a:r>
              <a:rPr lang="en-US" b="true" sz="3199" i="true">
                <a:solidFill>
                  <a:srgbClr val="FFFFFF"/>
                </a:solidFill>
                <a:latin typeface="Arimo Bold Italics"/>
                <a:ea typeface="Arimo Bold Italics"/>
                <a:cs typeface="Arimo Bold Italics"/>
                <a:sym typeface="Arimo Bold Italics"/>
              </a:rPr>
              <a:t>L_sem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)</a:t>
            </a:r>
          </a:p>
          <a:p>
            <a:pPr algn="l" marL="690876" indent="-345438" lvl="1">
              <a:lnSpc>
                <a:spcPts val="3839"/>
              </a:lnSpc>
              <a:buFont typeface="Arial"/>
              <a:buChar char="•"/>
            </a:pP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Acts as a regularizer for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logical consistency</a:t>
            </a:r>
          </a:p>
          <a:p>
            <a:pPr algn="l" marL="690876" indent="-345438" lvl="1">
              <a:lnSpc>
                <a:spcPts val="3839"/>
              </a:lnSpc>
              <a:buFont typeface="Arial"/>
              <a:buChar char="•"/>
            </a:pP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Bridges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propositional logic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and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differentiable learning</a:t>
            </a:r>
          </a:p>
          <a:p>
            <a:pPr algn="l">
              <a:lnSpc>
                <a:spcPts val="3839"/>
              </a:lnSpc>
            </a:pPr>
          </a:p>
        </p:txBody>
      </p:sp>
      <p:sp>
        <p:nvSpPr>
          <p:cNvPr name="TextBox 19" id="19"/>
          <p:cNvSpPr txBox="true"/>
          <p:nvPr/>
        </p:nvSpPr>
        <p:spPr>
          <a:xfrm rot="0">
            <a:off x="12352252" y="4857750"/>
            <a:ext cx="4831351" cy="4400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Inject </a:t>
            </a:r>
            <a:r>
              <a:rPr lang="en-US" sz="3199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symbolic knowledge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into Deep Learning</a:t>
            </a:r>
          </a:p>
          <a:p>
            <a:pPr algn="l">
              <a:lnSpc>
                <a:spcPts val="3839"/>
              </a:lnSpc>
            </a:pPr>
          </a:p>
          <a:p>
            <a:pPr algn="l">
              <a:lnSpc>
                <a:spcPts val="3839"/>
              </a:lnSpc>
            </a:pP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Enforce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valid configurations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during training (semi-supervised signal).</a:t>
            </a:r>
          </a:p>
          <a:p>
            <a:pPr algn="l">
              <a:lnSpc>
                <a:spcPts val="3839"/>
              </a:lnSpc>
            </a:pPr>
          </a:p>
        </p:txBody>
      </p:sp>
      <p:sp>
        <p:nvSpPr>
          <p:cNvPr name="TextBox 20" id="20"/>
          <p:cNvSpPr txBox="true"/>
          <p:nvPr/>
        </p:nvSpPr>
        <p:spPr>
          <a:xfrm rot="0">
            <a:off x="12846054" y="3920322"/>
            <a:ext cx="4337550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b="true" sz="4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GOAL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8365244" y="2704313"/>
            <a:ext cx="949956" cy="943600"/>
          </a:xfrm>
          <a:custGeom>
            <a:avLst/>
            <a:gdLst/>
            <a:ahLst/>
            <a:cxnLst/>
            <a:rect r="r" b="b" t="t" l="l"/>
            <a:pathLst>
              <a:path h="943600" w="949956">
                <a:moveTo>
                  <a:pt x="0" y="0"/>
                </a:moveTo>
                <a:lnTo>
                  <a:pt x="949956" y="0"/>
                </a:lnTo>
                <a:lnTo>
                  <a:pt x="949956" y="943600"/>
                </a:lnTo>
                <a:lnTo>
                  <a:pt x="0" y="9436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3099426" y="2719697"/>
            <a:ext cx="947073" cy="943450"/>
          </a:xfrm>
          <a:custGeom>
            <a:avLst/>
            <a:gdLst/>
            <a:ahLst/>
            <a:cxnLst/>
            <a:rect r="r" b="b" t="t" l="l"/>
            <a:pathLst>
              <a:path h="943450" w="947073">
                <a:moveTo>
                  <a:pt x="0" y="0"/>
                </a:moveTo>
                <a:lnTo>
                  <a:pt x="947074" y="0"/>
                </a:lnTo>
                <a:lnTo>
                  <a:pt x="947074" y="943450"/>
                </a:lnTo>
                <a:lnTo>
                  <a:pt x="0" y="94345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3377012" y="2719697"/>
            <a:ext cx="980651" cy="979656"/>
          </a:xfrm>
          <a:custGeom>
            <a:avLst/>
            <a:gdLst/>
            <a:ahLst/>
            <a:cxnLst/>
            <a:rect r="r" b="b" t="t" l="l"/>
            <a:pathLst>
              <a:path h="979656" w="980651">
                <a:moveTo>
                  <a:pt x="0" y="0"/>
                </a:moveTo>
                <a:lnTo>
                  <a:pt x="980651" y="0"/>
                </a:lnTo>
                <a:lnTo>
                  <a:pt x="980651" y="979656"/>
                </a:lnTo>
                <a:lnTo>
                  <a:pt x="0" y="979656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7029" y="880533"/>
            <a:ext cx="17357748" cy="9211584"/>
          </a:xfrm>
          <a:custGeom>
            <a:avLst/>
            <a:gdLst/>
            <a:ahLst/>
            <a:cxnLst/>
            <a:rect r="r" b="b" t="t" l="l"/>
            <a:pathLst>
              <a:path h="9211584" w="17357748">
                <a:moveTo>
                  <a:pt x="0" y="0"/>
                </a:moveTo>
                <a:lnTo>
                  <a:pt x="17357748" y="0"/>
                </a:lnTo>
                <a:lnTo>
                  <a:pt x="17357748" y="9211584"/>
                </a:lnTo>
                <a:lnTo>
                  <a:pt x="0" y="9211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56500" y="2761162"/>
            <a:ext cx="16597970" cy="3861370"/>
          </a:xfrm>
          <a:custGeom>
            <a:avLst/>
            <a:gdLst/>
            <a:ahLst/>
            <a:cxnLst/>
            <a:rect r="r" b="b" t="t" l="l"/>
            <a:pathLst>
              <a:path h="3861370" w="16597970">
                <a:moveTo>
                  <a:pt x="0" y="0"/>
                </a:moveTo>
                <a:lnTo>
                  <a:pt x="16597970" y="0"/>
                </a:lnTo>
                <a:lnTo>
                  <a:pt x="16597970" y="3861370"/>
                </a:lnTo>
                <a:lnTo>
                  <a:pt x="0" y="386137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 rot="4500">
            <a:off x="1476792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4500">
            <a:off x="1463117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rot="4500">
            <a:off x="1449441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rot="4500">
            <a:off x="1435766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rot="4500">
            <a:off x="1422090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1483975" y="-123525"/>
            <a:ext cx="6531800" cy="995550"/>
            <a:chOff x="0" y="0"/>
            <a:chExt cx="8709067" cy="1327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683" y="3683"/>
              <a:ext cx="8701659" cy="1323721"/>
            </a:xfrm>
            <a:custGeom>
              <a:avLst/>
              <a:gdLst/>
              <a:ahLst/>
              <a:cxnLst/>
              <a:rect r="r" b="b" t="t" l="l"/>
              <a:pathLst>
                <a:path h="1323721" w="8701659">
                  <a:moveTo>
                    <a:pt x="18034" y="0"/>
                  </a:moveTo>
                  <a:lnTo>
                    <a:pt x="1320038" y="1302004"/>
                  </a:lnTo>
                  <a:lnTo>
                    <a:pt x="1311021" y="1311021"/>
                  </a:lnTo>
                  <a:lnTo>
                    <a:pt x="1311021" y="1298321"/>
                  </a:lnTo>
                  <a:lnTo>
                    <a:pt x="6252337" y="1298321"/>
                  </a:lnTo>
                  <a:lnTo>
                    <a:pt x="6252337" y="1311021"/>
                  </a:lnTo>
                  <a:lnTo>
                    <a:pt x="6243320" y="1302004"/>
                  </a:lnTo>
                  <a:lnTo>
                    <a:pt x="6821551" y="723773"/>
                  </a:lnTo>
                  <a:cubicBezTo>
                    <a:pt x="6823964" y="721360"/>
                    <a:pt x="6827139" y="720090"/>
                    <a:pt x="6830568" y="720090"/>
                  </a:cubicBezTo>
                  <a:lnTo>
                    <a:pt x="8080121" y="720090"/>
                  </a:lnTo>
                  <a:lnTo>
                    <a:pt x="8080121" y="732790"/>
                  </a:lnTo>
                  <a:lnTo>
                    <a:pt x="8071104" y="723773"/>
                  </a:lnTo>
                  <a:lnTo>
                    <a:pt x="8683752" y="111252"/>
                  </a:lnTo>
                  <a:lnTo>
                    <a:pt x="8701659" y="129159"/>
                  </a:lnTo>
                  <a:lnTo>
                    <a:pt x="8089011" y="741807"/>
                  </a:lnTo>
                  <a:cubicBezTo>
                    <a:pt x="8086598" y="744220"/>
                    <a:pt x="8083423" y="745490"/>
                    <a:pt x="8079993" y="745490"/>
                  </a:cubicBezTo>
                  <a:lnTo>
                    <a:pt x="6830568" y="745490"/>
                  </a:lnTo>
                  <a:lnTo>
                    <a:pt x="6830568" y="732790"/>
                  </a:lnTo>
                  <a:lnTo>
                    <a:pt x="6839585" y="741807"/>
                  </a:lnTo>
                  <a:lnTo>
                    <a:pt x="6261354" y="1320038"/>
                  </a:lnTo>
                  <a:cubicBezTo>
                    <a:pt x="6258941" y="1322451"/>
                    <a:pt x="6255766" y="1323721"/>
                    <a:pt x="6252337" y="1323721"/>
                  </a:cubicBezTo>
                  <a:lnTo>
                    <a:pt x="1311021" y="1323721"/>
                  </a:lnTo>
                  <a:cubicBezTo>
                    <a:pt x="1307592" y="1323721"/>
                    <a:pt x="1304417" y="1322324"/>
                    <a:pt x="1302004" y="1320038"/>
                  </a:cubicBezTo>
                  <a:lnTo>
                    <a:pt x="0" y="18034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510875" y="6169625"/>
            <a:ext cx="998850" cy="4665200"/>
          </a:xfrm>
          <a:custGeom>
            <a:avLst/>
            <a:gdLst/>
            <a:ahLst/>
            <a:cxnLst/>
            <a:rect r="r" b="b" t="t" l="l"/>
            <a:pathLst>
              <a:path h="4665200" w="998850">
                <a:moveTo>
                  <a:pt x="0" y="0"/>
                </a:moveTo>
                <a:lnTo>
                  <a:pt x="998850" y="0"/>
                </a:lnTo>
                <a:lnTo>
                  <a:pt x="998850" y="4665200"/>
                </a:lnTo>
                <a:lnTo>
                  <a:pt x="0" y="46652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-5400000">
            <a:off x="1014670" y="1265494"/>
            <a:ext cx="456150" cy="394500"/>
            <a:chOff x="0" y="0"/>
            <a:chExt cx="608200" cy="52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08203" cy="526034"/>
            </a:xfrm>
            <a:custGeom>
              <a:avLst/>
              <a:gdLst/>
              <a:ahLst/>
              <a:cxnLst/>
              <a:rect r="r" b="b" t="t" l="l"/>
              <a:pathLst>
                <a:path h="526034" w="608203">
                  <a:moveTo>
                    <a:pt x="0" y="0"/>
                  </a:moveTo>
                  <a:lnTo>
                    <a:pt x="608203" y="0"/>
                  </a:lnTo>
                  <a:lnTo>
                    <a:pt x="304038" y="526034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4366158" y="3445930"/>
            <a:ext cx="9359489" cy="1890190"/>
          </a:xfrm>
          <a:custGeom>
            <a:avLst/>
            <a:gdLst/>
            <a:ahLst/>
            <a:cxnLst/>
            <a:rect r="r" b="b" t="t" l="l"/>
            <a:pathLst>
              <a:path h="1890190" w="9359489">
                <a:moveTo>
                  <a:pt x="0" y="0"/>
                </a:moveTo>
                <a:lnTo>
                  <a:pt x="9359490" y="0"/>
                </a:lnTo>
                <a:lnTo>
                  <a:pt x="9359490" y="1890190"/>
                </a:lnTo>
                <a:lnTo>
                  <a:pt x="0" y="189019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702625" y="991256"/>
            <a:ext cx="152251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99"/>
              </a:lnSpc>
            </a:pPr>
            <a:r>
              <a:rPr lang="en-US" b="true" sz="5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MATHEMATICAL FORMULATION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702625" y="2489699"/>
            <a:ext cx="13286147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CONCEPT: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Treat the constraint $\alpha$ as a probabilistic event 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702625" y="3417355"/>
            <a:ext cx="4705884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FORMULA: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439995" y="5688545"/>
            <a:ext cx="13286147" cy="281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COMPONENTS:</a:t>
            </a:r>
          </a:p>
          <a:p>
            <a:pPr algn="l" marL="690881" indent="-345440" lvl="1">
              <a:lnSpc>
                <a:spcPts val="4480"/>
              </a:lnSpc>
              <a:buFont typeface="Arial"/>
              <a:buChar char="•"/>
            </a:pPr>
            <a:r>
              <a:rPr lang="en-US" b="true" sz="32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P</a:t>
            </a:r>
            <a:r>
              <a:rPr lang="en-US" b="true" sz="32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:</a:t>
            </a: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Output probabilities from the Neural Network</a:t>
            </a:r>
          </a:p>
          <a:p>
            <a:pPr algn="l" marL="690881" indent="-345440" lvl="1">
              <a:lnSpc>
                <a:spcPts val="4480"/>
              </a:lnSpc>
              <a:buFont typeface="Arial"/>
              <a:buChar char="•"/>
            </a:pPr>
            <a:r>
              <a:rPr lang="en-US" b="true" sz="32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x:</a:t>
            </a: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A possible state (variable assignment)</a:t>
            </a:r>
          </a:p>
          <a:p>
            <a:pPr algn="l" marL="690881" indent="-345440" lvl="1">
              <a:lnSpc>
                <a:spcPts val="4480"/>
              </a:lnSpc>
              <a:buFont typeface="Arial"/>
              <a:buChar char="•"/>
            </a:pPr>
            <a:r>
              <a:rPr lang="en-US" b="true" sz="32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x ⊨ α</a:t>
            </a:r>
            <a:r>
              <a:rPr lang="en-US" b="true" sz="32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:</a:t>
            </a: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The set of all states where the constraint is α True</a:t>
            </a:r>
          </a:p>
          <a:p>
            <a:pPr algn="l">
              <a:lnSpc>
                <a:spcPts val="4480"/>
              </a:lnSpc>
            </a:pPr>
          </a:p>
        </p:txBody>
      </p:sp>
      <p:sp>
        <p:nvSpPr>
          <p:cNvPr name="TextBox 19" id="19"/>
          <p:cNvSpPr txBox="true"/>
          <p:nvPr/>
        </p:nvSpPr>
        <p:spPr>
          <a:xfrm rot="0">
            <a:off x="1439995" y="8289407"/>
            <a:ext cx="13327933" cy="1128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b="true" sz="32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INTERPRETATION: </a:t>
            </a: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Minimize the negative log-probability of generating a state consistent with α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7029" y="880533"/>
            <a:ext cx="17357748" cy="9211584"/>
          </a:xfrm>
          <a:custGeom>
            <a:avLst/>
            <a:gdLst/>
            <a:ahLst/>
            <a:cxnLst/>
            <a:rect r="r" b="b" t="t" l="l"/>
            <a:pathLst>
              <a:path h="9211584" w="17357748">
                <a:moveTo>
                  <a:pt x="0" y="0"/>
                </a:moveTo>
                <a:lnTo>
                  <a:pt x="17357748" y="0"/>
                </a:lnTo>
                <a:lnTo>
                  <a:pt x="17357748" y="9211584"/>
                </a:lnTo>
                <a:lnTo>
                  <a:pt x="0" y="9211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56500" y="2761162"/>
            <a:ext cx="16597970" cy="3861370"/>
          </a:xfrm>
          <a:custGeom>
            <a:avLst/>
            <a:gdLst/>
            <a:ahLst/>
            <a:cxnLst/>
            <a:rect r="r" b="b" t="t" l="l"/>
            <a:pathLst>
              <a:path h="3861370" w="16597970">
                <a:moveTo>
                  <a:pt x="0" y="0"/>
                </a:moveTo>
                <a:lnTo>
                  <a:pt x="16597970" y="0"/>
                </a:lnTo>
                <a:lnTo>
                  <a:pt x="16597970" y="3861370"/>
                </a:lnTo>
                <a:lnTo>
                  <a:pt x="0" y="386137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 rot="4500">
            <a:off x="1476792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4500">
            <a:off x="1463117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rot="4500">
            <a:off x="1449441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rot="4500">
            <a:off x="1435766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rot="4500">
            <a:off x="1422090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1483975" y="-123525"/>
            <a:ext cx="6531800" cy="995550"/>
            <a:chOff x="0" y="0"/>
            <a:chExt cx="8709067" cy="1327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683" y="3683"/>
              <a:ext cx="8701659" cy="1323721"/>
            </a:xfrm>
            <a:custGeom>
              <a:avLst/>
              <a:gdLst/>
              <a:ahLst/>
              <a:cxnLst/>
              <a:rect r="r" b="b" t="t" l="l"/>
              <a:pathLst>
                <a:path h="1323721" w="8701659">
                  <a:moveTo>
                    <a:pt x="18034" y="0"/>
                  </a:moveTo>
                  <a:lnTo>
                    <a:pt x="1320038" y="1302004"/>
                  </a:lnTo>
                  <a:lnTo>
                    <a:pt x="1311021" y="1311021"/>
                  </a:lnTo>
                  <a:lnTo>
                    <a:pt x="1311021" y="1298321"/>
                  </a:lnTo>
                  <a:lnTo>
                    <a:pt x="6252337" y="1298321"/>
                  </a:lnTo>
                  <a:lnTo>
                    <a:pt x="6252337" y="1311021"/>
                  </a:lnTo>
                  <a:lnTo>
                    <a:pt x="6243320" y="1302004"/>
                  </a:lnTo>
                  <a:lnTo>
                    <a:pt x="6821551" y="723773"/>
                  </a:lnTo>
                  <a:cubicBezTo>
                    <a:pt x="6823964" y="721360"/>
                    <a:pt x="6827139" y="720090"/>
                    <a:pt x="6830568" y="720090"/>
                  </a:cubicBezTo>
                  <a:lnTo>
                    <a:pt x="8080121" y="720090"/>
                  </a:lnTo>
                  <a:lnTo>
                    <a:pt x="8080121" y="732790"/>
                  </a:lnTo>
                  <a:lnTo>
                    <a:pt x="8071104" y="723773"/>
                  </a:lnTo>
                  <a:lnTo>
                    <a:pt x="8683752" y="111252"/>
                  </a:lnTo>
                  <a:lnTo>
                    <a:pt x="8701659" y="129159"/>
                  </a:lnTo>
                  <a:lnTo>
                    <a:pt x="8089011" y="741807"/>
                  </a:lnTo>
                  <a:cubicBezTo>
                    <a:pt x="8086598" y="744220"/>
                    <a:pt x="8083423" y="745490"/>
                    <a:pt x="8079993" y="745490"/>
                  </a:cubicBezTo>
                  <a:lnTo>
                    <a:pt x="6830568" y="745490"/>
                  </a:lnTo>
                  <a:lnTo>
                    <a:pt x="6830568" y="732790"/>
                  </a:lnTo>
                  <a:lnTo>
                    <a:pt x="6839585" y="741807"/>
                  </a:lnTo>
                  <a:lnTo>
                    <a:pt x="6261354" y="1320038"/>
                  </a:lnTo>
                  <a:cubicBezTo>
                    <a:pt x="6258941" y="1322451"/>
                    <a:pt x="6255766" y="1323721"/>
                    <a:pt x="6252337" y="1323721"/>
                  </a:cubicBezTo>
                  <a:lnTo>
                    <a:pt x="1311021" y="1323721"/>
                  </a:lnTo>
                  <a:cubicBezTo>
                    <a:pt x="1307592" y="1323721"/>
                    <a:pt x="1304417" y="1322324"/>
                    <a:pt x="1302004" y="1320038"/>
                  </a:cubicBezTo>
                  <a:lnTo>
                    <a:pt x="0" y="18034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510875" y="6169625"/>
            <a:ext cx="998850" cy="4665200"/>
          </a:xfrm>
          <a:custGeom>
            <a:avLst/>
            <a:gdLst/>
            <a:ahLst/>
            <a:cxnLst/>
            <a:rect r="r" b="b" t="t" l="l"/>
            <a:pathLst>
              <a:path h="4665200" w="998850">
                <a:moveTo>
                  <a:pt x="0" y="0"/>
                </a:moveTo>
                <a:lnTo>
                  <a:pt x="998850" y="0"/>
                </a:lnTo>
                <a:lnTo>
                  <a:pt x="998850" y="4665200"/>
                </a:lnTo>
                <a:lnTo>
                  <a:pt x="0" y="46652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-5400000">
            <a:off x="1014670" y="1265494"/>
            <a:ext cx="456150" cy="394500"/>
            <a:chOff x="0" y="0"/>
            <a:chExt cx="608200" cy="52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08203" cy="526034"/>
            </a:xfrm>
            <a:custGeom>
              <a:avLst/>
              <a:gdLst/>
              <a:ahLst/>
              <a:cxnLst/>
              <a:rect r="r" b="b" t="t" l="l"/>
              <a:pathLst>
                <a:path h="526034" w="608203">
                  <a:moveTo>
                    <a:pt x="0" y="0"/>
                  </a:moveTo>
                  <a:lnTo>
                    <a:pt x="608203" y="0"/>
                  </a:lnTo>
                  <a:lnTo>
                    <a:pt x="304038" y="526034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12593772" y="3554657"/>
            <a:ext cx="4790001" cy="4790001"/>
          </a:xfrm>
          <a:custGeom>
            <a:avLst/>
            <a:gdLst/>
            <a:ahLst/>
            <a:cxnLst/>
            <a:rect r="r" b="b" t="t" l="l"/>
            <a:pathLst>
              <a:path h="4790001" w="4790001">
                <a:moveTo>
                  <a:pt x="0" y="0"/>
                </a:moveTo>
                <a:lnTo>
                  <a:pt x="4790001" y="0"/>
                </a:lnTo>
                <a:lnTo>
                  <a:pt x="4790001" y="4790001"/>
                </a:lnTo>
                <a:lnTo>
                  <a:pt x="0" y="479000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702625" y="991256"/>
            <a:ext cx="152251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99"/>
              </a:lnSpc>
            </a:pPr>
            <a:r>
              <a:rPr lang="en-US" b="true" sz="5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INTEGRATION &amp; TRAINING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702625" y="2732587"/>
            <a:ext cx="13286147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LOSS FUNCTION: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b="true" sz="3199" i="true">
                <a:solidFill>
                  <a:srgbClr val="FFFFFF"/>
                </a:solidFill>
                <a:latin typeface="Arimo Bold Italics"/>
                <a:ea typeface="Arimo Bold Italics"/>
                <a:cs typeface="Arimo Bold Italics"/>
                <a:sym typeface="Arimo Bold Italics"/>
              </a:rPr>
              <a:t>L_total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 = (1 - λ) </a:t>
            </a:r>
            <a:r>
              <a:rPr lang="en-US" b="true" sz="3199" i="true">
                <a:solidFill>
                  <a:srgbClr val="FFFFFF"/>
                </a:solidFill>
                <a:latin typeface="Arimo Bold Italics"/>
                <a:ea typeface="Arimo Bold Italics"/>
                <a:cs typeface="Arimo Bold Italics"/>
                <a:sym typeface="Arimo Bold Italics"/>
              </a:rPr>
              <a:t>L_sup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 + λ</a:t>
            </a:r>
            <a:r>
              <a:rPr lang="en-US" b="true" sz="3199" i="true">
                <a:solidFill>
                  <a:srgbClr val="FFFFFF"/>
                </a:solidFill>
                <a:latin typeface="Arimo Bold Italics"/>
                <a:ea typeface="Arimo Bold Italics"/>
                <a:cs typeface="Arimo Bold Italics"/>
                <a:sym typeface="Arimo Bold Italics"/>
              </a:rPr>
              <a:t>L_sem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702625" y="3808211"/>
            <a:ext cx="12791793" cy="28143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KEY COMPONENTS:</a:t>
            </a:r>
          </a:p>
          <a:p>
            <a:pPr algn="l" marL="690876" indent="-345438" lvl="1">
              <a:lnSpc>
                <a:spcPts val="4479"/>
              </a:lnSpc>
              <a:buFont typeface="Arial"/>
              <a:buChar char="•"/>
            </a:pPr>
            <a:r>
              <a:rPr lang="en-US" b="true" sz="3199" i="true">
                <a:solidFill>
                  <a:srgbClr val="FFFFFF"/>
                </a:solidFill>
                <a:latin typeface="Arimo Bold Italics"/>
                <a:ea typeface="Arimo Bold Italics"/>
                <a:cs typeface="Arimo Bold Italics"/>
                <a:sym typeface="Arimo Bold Italics"/>
              </a:rPr>
              <a:t>L_sup: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Standard Cross-Entropy (matches labels)</a:t>
            </a:r>
          </a:p>
          <a:p>
            <a:pPr algn="l" marL="690876" indent="-345438" lvl="1">
              <a:lnSpc>
                <a:spcPts val="4479"/>
              </a:lnSpc>
              <a:buFont typeface="Arial"/>
              <a:buChar char="•"/>
            </a:pPr>
            <a:r>
              <a:rPr lang="en-US" b="true" sz="3199" i="true">
                <a:solidFill>
                  <a:srgbClr val="FFFFFF"/>
                </a:solidFill>
                <a:latin typeface="Arimo Bold Italics"/>
                <a:ea typeface="Arimo Bold Italics"/>
                <a:cs typeface="Arimo Bold Italics"/>
                <a:sym typeface="Arimo Bold Italics"/>
              </a:rPr>
              <a:t>L_sem: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Penalizes logically invalid predictions</a:t>
            </a:r>
          </a:p>
          <a:p>
            <a:pPr algn="l" marL="690876" indent="-345438" lvl="1">
              <a:lnSpc>
                <a:spcPts val="4479"/>
              </a:lnSpc>
              <a:buFont typeface="Arial"/>
              <a:buChar char="•"/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λ: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Hyperparameter controlling symbolic influence</a:t>
            </a:r>
          </a:p>
          <a:p>
            <a:pPr algn="l">
              <a:lnSpc>
                <a:spcPts val="4479"/>
              </a:lnSpc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1509725" y="6736832"/>
            <a:ext cx="13286147" cy="200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PROJECT CONTEXT:</a:t>
            </a:r>
          </a:p>
          <a:p>
            <a:pPr algn="l" marL="690881" indent="-345440" lvl="1">
              <a:lnSpc>
                <a:spcPts val="3840"/>
              </a:lnSpc>
              <a:buFont typeface="Arial"/>
              <a:buChar char="•"/>
            </a:pPr>
            <a:r>
              <a:rPr lang="en-US" b="true" sz="32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Constraint: </a:t>
            </a: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Monotonicity (</a:t>
            </a:r>
            <a:r>
              <a:rPr lang="en-US" sz="3200" i="true">
                <a:solidFill>
                  <a:srgbClr val="FFFFFF"/>
                </a:solidFill>
                <a:latin typeface="Arimo Italics"/>
                <a:ea typeface="Arimo Italics"/>
                <a:cs typeface="Arimo Italics"/>
                <a:sym typeface="Arimo Italics"/>
              </a:rPr>
              <a:t>pos_i &lt; pos_i+1</a:t>
            </a: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)</a:t>
            </a:r>
          </a:p>
          <a:p>
            <a:pPr algn="l" marL="690881" indent="-345440" lvl="1">
              <a:lnSpc>
                <a:spcPts val="3840"/>
              </a:lnSpc>
              <a:buFont typeface="Arial"/>
              <a:buChar char="•"/>
            </a:pPr>
            <a:r>
              <a:rPr lang="en-US" b="true" sz="32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Outcome: </a:t>
            </a: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Improved robustness with limited data</a:t>
            </a:r>
          </a:p>
          <a:p>
            <a:pPr algn="l">
              <a:lnSpc>
                <a:spcPts val="4480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1125">
            <a:off x="7101403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rot="1125">
            <a:off x="7374914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 rot="1125">
            <a:off x="7238159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1125">
            <a:off x="7511669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rot="1125">
            <a:off x="7648425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rot="1125">
            <a:off x="7785180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rot="1125">
            <a:off x="7921935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 rot="1125">
            <a:off x="8058691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 rot="1125">
            <a:off x="8195446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 rot="1125">
            <a:off x="8332201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2" id="12"/>
          <p:cNvSpPr/>
          <p:nvPr/>
        </p:nvSpPr>
        <p:spPr>
          <a:xfrm flipH="false" flipV="false" rot="0">
            <a:off x="-840069" y="1068077"/>
            <a:ext cx="15292830" cy="10308934"/>
          </a:xfrm>
          <a:custGeom>
            <a:avLst/>
            <a:gdLst/>
            <a:ahLst/>
            <a:cxnLst/>
            <a:rect r="r" b="b" t="t" l="l"/>
            <a:pathLst>
              <a:path h="10308934" w="15292830">
                <a:moveTo>
                  <a:pt x="0" y="0"/>
                </a:moveTo>
                <a:lnTo>
                  <a:pt x="15292830" y="0"/>
                </a:lnTo>
                <a:lnTo>
                  <a:pt x="15292830" y="10308934"/>
                </a:lnTo>
                <a:lnTo>
                  <a:pt x="0" y="1030893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2365025" y="3364375"/>
            <a:ext cx="14894275" cy="4505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760"/>
              </a:lnSpc>
            </a:pPr>
            <a:r>
              <a:rPr lang="en-US" b="true" sz="9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Connection between Propositional Logic and Differentiable Loss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735450" y="1723450"/>
            <a:ext cx="2503350" cy="1533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760"/>
              </a:lnSpc>
            </a:pPr>
            <a:r>
              <a:rPr lang="en-US" sz="9800">
                <a:solidFill>
                  <a:srgbClr val="00CADA"/>
                </a:solidFill>
                <a:latin typeface="Arimo"/>
                <a:ea typeface="Arimo"/>
                <a:cs typeface="Arimo"/>
                <a:sym typeface="Arimo"/>
              </a:rPr>
              <a:t>02</a:t>
            </a:r>
          </a:p>
        </p:txBody>
      </p:sp>
      <p:grpSp>
        <p:nvGrpSpPr>
          <p:cNvPr name="Group 15" id="15"/>
          <p:cNvGrpSpPr/>
          <p:nvPr/>
        </p:nvGrpSpPr>
        <p:grpSpPr>
          <a:xfrm rot="-5400000">
            <a:off x="1378150" y="3863343"/>
            <a:ext cx="714600" cy="618032"/>
            <a:chOff x="0" y="0"/>
            <a:chExt cx="952800" cy="82404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952754" cy="824103"/>
            </a:xfrm>
            <a:custGeom>
              <a:avLst/>
              <a:gdLst/>
              <a:ahLst/>
              <a:cxnLst/>
              <a:rect r="r" b="b" t="t" l="l"/>
              <a:pathLst>
                <a:path h="824103" w="952754">
                  <a:moveTo>
                    <a:pt x="0" y="0"/>
                  </a:moveTo>
                  <a:lnTo>
                    <a:pt x="952754" y="0"/>
                  </a:lnTo>
                  <a:lnTo>
                    <a:pt x="476377" y="824103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4023225" y="-3239875"/>
            <a:ext cx="3286016" cy="11859112"/>
            <a:chOff x="0" y="0"/>
            <a:chExt cx="4381355" cy="1581214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3683" y="12700"/>
              <a:ext cx="4377690" cy="15795752"/>
            </a:xfrm>
            <a:custGeom>
              <a:avLst/>
              <a:gdLst/>
              <a:ahLst/>
              <a:cxnLst/>
              <a:rect r="r" b="b" t="t" l="l"/>
              <a:pathLst>
                <a:path h="15795752" w="4377690">
                  <a:moveTo>
                    <a:pt x="0" y="15777718"/>
                  </a:moveTo>
                  <a:lnTo>
                    <a:pt x="4355973" y="11421872"/>
                  </a:lnTo>
                  <a:lnTo>
                    <a:pt x="4364990" y="11430889"/>
                  </a:lnTo>
                  <a:lnTo>
                    <a:pt x="4352290" y="11430889"/>
                  </a:lnTo>
                  <a:lnTo>
                    <a:pt x="4352290" y="0"/>
                  </a:lnTo>
                  <a:lnTo>
                    <a:pt x="4377690" y="0"/>
                  </a:lnTo>
                  <a:lnTo>
                    <a:pt x="4377690" y="11430762"/>
                  </a:lnTo>
                  <a:cubicBezTo>
                    <a:pt x="4377690" y="11434191"/>
                    <a:pt x="4376293" y="11437366"/>
                    <a:pt x="4374007" y="11439779"/>
                  </a:cubicBezTo>
                  <a:lnTo>
                    <a:pt x="18034" y="15795752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AutoShape 19" id="19"/>
          <p:cNvSpPr/>
          <p:nvPr/>
        </p:nvSpPr>
        <p:spPr>
          <a:xfrm rot="5394431">
            <a:off x="13263544" y="11175703"/>
            <a:ext cx="5347483" cy="0"/>
          </a:xfrm>
          <a:prstGeom prst="line">
            <a:avLst/>
          </a:prstGeom>
          <a:ln cap="rnd" w="9525">
            <a:solidFill>
              <a:srgbClr val="AFAFB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0" id="20"/>
          <p:cNvSpPr/>
          <p:nvPr/>
        </p:nvSpPr>
        <p:spPr>
          <a:xfrm rot="2674203">
            <a:off x="15718521" y="7985560"/>
            <a:ext cx="1491162" cy="0"/>
          </a:xfrm>
          <a:prstGeom prst="line">
            <a:avLst/>
          </a:prstGeom>
          <a:ln cap="rnd" w="9525">
            <a:solidFill>
              <a:srgbClr val="AFAFB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1" id="21"/>
          <p:cNvGrpSpPr/>
          <p:nvPr/>
        </p:nvGrpSpPr>
        <p:grpSpPr>
          <a:xfrm rot="5400000">
            <a:off x="16910611" y="7121887"/>
            <a:ext cx="395518" cy="391361"/>
            <a:chOff x="0" y="0"/>
            <a:chExt cx="527357" cy="52181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12700" y="12700"/>
              <a:ext cx="515620" cy="510032"/>
            </a:xfrm>
            <a:custGeom>
              <a:avLst/>
              <a:gdLst/>
              <a:ahLst/>
              <a:cxnLst/>
              <a:rect r="r" b="b" t="t" l="l"/>
              <a:pathLst>
                <a:path h="510032" w="515620">
                  <a:moveTo>
                    <a:pt x="0" y="255778"/>
                  </a:moveTo>
                  <a:cubicBezTo>
                    <a:pt x="0" y="397256"/>
                    <a:pt x="118491" y="510032"/>
                    <a:pt x="254508" y="510032"/>
                  </a:cubicBezTo>
                  <a:cubicBezTo>
                    <a:pt x="395986" y="510032"/>
                    <a:pt x="515620" y="397256"/>
                    <a:pt x="515620" y="255778"/>
                  </a:cubicBezTo>
                  <a:cubicBezTo>
                    <a:pt x="515620" y="114300"/>
                    <a:pt x="396113" y="0"/>
                    <a:pt x="254508" y="0"/>
                  </a:cubicBezTo>
                  <a:cubicBezTo>
                    <a:pt x="118491" y="0"/>
                    <a:pt x="0" y="114300"/>
                    <a:pt x="0" y="255778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41020" cy="535432"/>
            </a:xfrm>
            <a:custGeom>
              <a:avLst/>
              <a:gdLst/>
              <a:ahLst/>
              <a:cxnLst/>
              <a:rect r="r" b="b" t="t" l="l"/>
              <a:pathLst>
                <a:path h="535432" w="541020">
                  <a:moveTo>
                    <a:pt x="25400" y="268478"/>
                  </a:moveTo>
                  <a:cubicBezTo>
                    <a:pt x="25400" y="402717"/>
                    <a:pt x="137922" y="510032"/>
                    <a:pt x="267208" y="510032"/>
                  </a:cubicBezTo>
                  <a:lnTo>
                    <a:pt x="267208" y="522732"/>
                  </a:lnTo>
                  <a:lnTo>
                    <a:pt x="267208" y="510032"/>
                  </a:lnTo>
                  <a:cubicBezTo>
                    <a:pt x="402209" y="510032"/>
                    <a:pt x="515620" y="402463"/>
                    <a:pt x="515620" y="268478"/>
                  </a:cubicBezTo>
                  <a:lnTo>
                    <a:pt x="528320" y="268478"/>
                  </a:lnTo>
                  <a:lnTo>
                    <a:pt x="515620" y="268478"/>
                  </a:lnTo>
                  <a:cubicBezTo>
                    <a:pt x="515620" y="134366"/>
                    <a:pt x="402082" y="25400"/>
                    <a:pt x="267208" y="25400"/>
                  </a:cubicBezTo>
                  <a:lnTo>
                    <a:pt x="267208" y="12700"/>
                  </a:lnTo>
                  <a:lnTo>
                    <a:pt x="267208" y="25400"/>
                  </a:lnTo>
                  <a:cubicBezTo>
                    <a:pt x="138049" y="25400"/>
                    <a:pt x="25400" y="134112"/>
                    <a:pt x="25400" y="268478"/>
                  </a:cubicBezTo>
                  <a:lnTo>
                    <a:pt x="12700" y="268478"/>
                  </a:lnTo>
                  <a:lnTo>
                    <a:pt x="25400" y="268478"/>
                  </a:lnTo>
                  <a:moveTo>
                    <a:pt x="0" y="268478"/>
                  </a:moveTo>
                  <a:cubicBezTo>
                    <a:pt x="0" y="119888"/>
                    <a:pt x="124206" y="0"/>
                    <a:pt x="267208" y="0"/>
                  </a:cubicBezTo>
                  <a:cubicBezTo>
                    <a:pt x="415417" y="0"/>
                    <a:pt x="541020" y="119634"/>
                    <a:pt x="541020" y="268478"/>
                  </a:cubicBezTo>
                  <a:cubicBezTo>
                    <a:pt x="541020" y="417322"/>
                    <a:pt x="415290" y="535432"/>
                    <a:pt x="267208" y="535432"/>
                  </a:cubicBezTo>
                  <a:cubicBezTo>
                    <a:pt x="124333" y="535432"/>
                    <a:pt x="0" y="417195"/>
                    <a:pt x="0" y="268478"/>
                  </a:cubicBezTo>
                  <a:close/>
                </a:path>
              </a:pathLst>
            </a:custGeom>
            <a:solidFill>
              <a:srgbClr val="AFAFB6"/>
            </a:solidFill>
          </p:spPr>
        </p:sp>
      </p:grpSp>
      <p:sp>
        <p:nvSpPr>
          <p:cNvPr name="AutoShape 24" id="24"/>
          <p:cNvSpPr/>
          <p:nvPr/>
        </p:nvSpPr>
        <p:spPr>
          <a:xfrm rot="5394431">
            <a:off x="-2543517" y="1493858"/>
            <a:ext cx="5347483" cy="0"/>
          </a:xfrm>
          <a:prstGeom prst="line">
            <a:avLst/>
          </a:prstGeom>
          <a:ln cap="rnd" w="9525">
            <a:solidFill>
              <a:srgbClr val="00CAD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 rot="2674203">
            <a:off x="2574787" y="2020674"/>
            <a:ext cx="1491162" cy="0"/>
          </a:xfrm>
          <a:prstGeom prst="line">
            <a:avLst/>
          </a:prstGeom>
          <a:ln cap="rnd" w="9525">
            <a:solidFill>
              <a:srgbClr val="00CAD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6" id="26"/>
          <p:cNvGrpSpPr/>
          <p:nvPr/>
        </p:nvGrpSpPr>
        <p:grpSpPr>
          <a:xfrm rot="-10800000">
            <a:off x="3790601" y="2469261"/>
            <a:ext cx="395518" cy="391361"/>
            <a:chOff x="0" y="0"/>
            <a:chExt cx="527357" cy="52181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00" y="12700"/>
              <a:ext cx="515620" cy="510032"/>
            </a:xfrm>
            <a:custGeom>
              <a:avLst/>
              <a:gdLst/>
              <a:ahLst/>
              <a:cxnLst/>
              <a:rect r="r" b="b" t="t" l="l"/>
              <a:pathLst>
                <a:path h="510032" w="515620">
                  <a:moveTo>
                    <a:pt x="0" y="255778"/>
                  </a:moveTo>
                  <a:cubicBezTo>
                    <a:pt x="0" y="397256"/>
                    <a:pt x="118491" y="510032"/>
                    <a:pt x="254508" y="510032"/>
                  </a:cubicBezTo>
                  <a:cubicBezTo>
                    <a:pt x="395986" y="510032"/>
                    <a:pt x="515620" y="397256"/>
                    <a:pt x="515620" y="255778"/>
                  </a:cubicBezTo>
                  <a:cubicBezTo>
                    <a:pt x="515620" y="114300"/>
                    <a:pt x="396113" y="0"/>
                    <a:pt x="254508" y="0"/>
                  </a:cubicBezTo>
                  <a:cubicBezTo>
                    <a:pt x="118491" y="0"/>
                    <a:pt x="0" y="114300"/>
                    <a:pt x="0" y="255778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541020" cy="535432"/>
            </a:xfrm>
            <a:custGeom>
              <a:avLst/>
              <a:gdLst/>
              <a:ahLst/>
              <a:cxnLst/>
              <a:rect r="r" b="b" t="t" l="l"/>
              <a:pathLst>
                <a:path h="535432" w="541020">
                  <a:moveTo>
                    <a:pt x="25400" y="268478"/>
                  </a:moveTo>
                  <a:cubicBezTo>
                    <a:pt x="25400" y="402717"/>
                    <a:pt x="137922" y="510032"/>
                    <a:pt x="267208" y="510032"/>
                  </a:cubicBezTo>
                  <a:lnTo>
                    <a:pt x="267208" y="522732"/>
                  </a:lnTo>
                  <a:lnTo>
                    <a:pt x="267208" y="510032"/>
                  </a:lnTo>
                  <a:cubicBezTo>
                    <a:pt x="402209" y="510032"/>
                    <a:pt x="515620" y="402463"/>
                    <a:pt x="515620" y="268478"/>
                  </a:cubicBezTo>
                  <a:lnTo>
                    <a:pt x="528320" y="268478"/>
                  </a:lnTo>
                  <a:lnTo>
                    <a:pt x="515620" y="268478"/>
                  </a:lnTo>
                  <a:cubicBezTo>
                    <a:pt x="515620" y="134366"/>
                    <a:pt x="402082" y="25400"/>
                    <a:pt x="267208" y="25400"/>
                  </a:cubicBezTo>
                  <a:lnTo>
                    <a:pt x="267208" y="12700"/>
                  </a:lnTo>
                  <a:lnTo>
                    <a:pt x="267208" y="25400"/>
                  </a:lnTo>
                  <a:cubicBezTo>
                    <a:pt x="138049" y="25400"/>
                    <a:pt x="25400" y="134112"/>
                    <a:pt x="25400" y="268478"/>
                  </a:cubicBezTo>
                  <a:lnTo>
                    <a:pt x="12700" y="268478"/>
                  </a:lnTo>
                  <a:lnTo>
                    <a:pt x="25400" y="268478"/>
                  </a:lnTo>
                  <a:moveTo>
                    <a:pt x="0" y="268478"/>
                  </a:moveTo>
                  <a:cubicBezTo>
                    <a:pt x="0" y="119888"/>
                    <a:pt x="124206" y="0"/>
                    <a:pt x="267208" y="0"/>
                  </a:cubicBezTo>
                  <a:cubicBezTo>
                    <a:pt x="415417" y="0"/>
                    <a:pt x="541020" y="119634"/>
                    <a:pt x="541020" y="268478"/>
                  </a:cubicBezTo>
                  <a:cubicBezTo>
                    <a:pt x="541020" y="417322"/>
                    <a:pt x="415290" y="535432"/>
                    <a:pt x="267208" y="535432"/>
                  </a:cubicBezTo>
                  <a:cubicBezTo>
                    <a:pt x="124333" y="535432"/>
                    <a:pt x="0" y="417195"/>
                    <a:pt x="0" y="268478"/>
                  </a:cubicBez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Freeform 29" id="29"/>
          <p:cNvSpPr/>
          <p:nvPr/>
        </p:nvSpPr>
        <p:spPr>
          <a:xfrm flipH="false" flipV="false" rot="0">
            <a:off x="7101354" y="-879740"/>
            <a:ext cx="12029926" cy="3961744"/>
          </a:xfrm>
          <a:custGeom>
            <a:avLst/>
            <a:gdLst/>
            <a:ahLst/>
            <a:cxnLst/>
            <a:rect r="r" b="b" t="t" l="l"/>
            <a:pathLst>
              <a:path h="3961744" w="12029926">
                <a:moveTo>
                  <a:pt x="0" y="0"/>
                </a:moveTo>
                <a:lnTo>
                  <a:pt x="12029926" y="0"/>
                </a:lnTo>
                <a:lnTo>
                  <a:pt x="12029926" y="3961744"/>
                </a:lnTo>
                <a:lnTo>
                  <a:pt x="0" y="396174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4433721" y="2520720"/>
            <a:ext cx="2339172" cy="1055849"/>
          </a:xfrm>
          <a:custGeom>
            <a:avLst/>
            <a:gdLst/>
            <a:ahLst/>
            <a:cxnLst/>
            <a:rect r="r" b="b" t="t" l="l"/>
            <a:pathLst>
              <a:path h="1055849" w="2339172">
                <a:moveTo>
                  <a:pt x="0" y="0"/>
                </a:moveTo>
                <a:lnTo>
                  <a:pt x="2339172" y="0"/>
                </a:lnTo>
                <a:lnTo>
                  <a:pt x="2339172" y="1055849"/>
                </a:lnTo>
                <a:lnTo>
                  <a:pt x="0" y="105584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7029" y="880533"/>
            <a:ext cx="17357748" cy="9211584"/>
          </a:xfrm>
          <a:custGeom>
            <a:avLst/>
            <a:gdLst/>
            <a:ahLst/>
            <a:cxnLst/>
            <a:rect r="r" b="b" t="t" l="l"/>
            <a:pathLst>
              <a:path h="9211584" w="17357748">
                <a:moveTo>
                  <a:pt x="0" y="0"/>
                </a:moveTo>
                <a:lnTo>
                  <a:pt x="17357748" y="0"/>
                </a:lnTo>
                <a:lnTo>
                  <a:pt x="17357748" y="9211584"/>
                </a:lnTo>
                <a:lnTo>
                  <a:pt x="0" y="9211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56500" y="2761162"/>
            <a:ext cx="16597970" cy="3861370"/>
          </a:xfrm>
          <a:custGeom>
            <a:avLst/>
            <a:gdLst/>
            <a:ahLst/>
            <a:cxnLst/>
            <a:rect r="r" b="b" t="t" l="l"/>
            <a:pathLst>
              <a:path h="3861370" w="16597970">
                <a:moveTo>
                  <a:pt x="0" y="0"/>
                </a:moveTo>
                <a:lnTo>
                  <a:pt x="16597970" y="0"/>
                </a:lnTo>
                <a:lnTo>
                  <a:pt x="16597970" y="3861370"/>
                </a:lnTo>
                <a:lnTo>
                  <a:pt x="0" y="386137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 rot="4500">
            <a:off x="1476792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4500">
            <a:off x="1463117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rot="4500">
            <a:off x="1449441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rot="4500">
            <a:off x="1435766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rot="4500">
            <a:off x="1422090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1483975" y="-123525"/>
            <a:ext cx="6531800" cy="995550"/>
            <a:chOff x="0" y="0"/>
            <a:chExt cx="8709067" cy="1327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683" y="3683"/>
              <a:ext cx="8701659" cy="1323721"/>
            </a:xfrm>
            <a:custGeom>
              <a:avLst/>
              <a:gdLst/>
              <a:ahLst/>
              <a:cxnLst/>
              <a:rect r="r" b="b" t="t" l="l"/>
              <a:pathLst>
                <a:path h="1323721" w="8701659">
                  <a:moveTo>
                    <a:pt x="18034" y="0"/>
                  </a:moveTo>
                  <a:lnTo>
                    <a:pt x="1320038" y="1302004"/>
                  </a:lnTo>
                  <a:lnTo>
                    <a:pt x="1311021" y="1311021"/>
                  </a:lnTo>
                  <a:lnTo>
                    <a:pt x="1311021" y="1298321"/>
                  </a:lnTo>
                  <a:lnTo>
                    <a:pt x="6252337" y="1298321"/>
                  </a:lnTo>
                  <a:lnTo>
                    <a:pt x="6252337" y="1311021"/>
                  </a:lnTo>
                  <a:lnTo>
                    <a:pt x="6243320" y="1302004"/>
                  </a:lnTo>
                  <a:lnTo>
                    <a:pt x="6821551" y="723773"/>
                  </a:lnTo>
                  <a:cubicBezTo>
                    <a:pt x="6823964" y="721360"/>
                    <a:pt x="6827139" y="720090"/>
                    <a:pt x="6830568" y="720090"/>
                  </a:cubicBezTo>
                  <a:lnTo>
                    <a:pt x="8080121" y="720090"/>
                  </a:lnTo>
                  <a:lnTo>
                    <a:pt x="8080121" y="732790"/>
                  </a:lnTo>
                  <a:lnTo>
                    <a:pt x="8071104" y="723773"/>
                  </a:lnTo>
                  <a:lnTo>
                    <a:pt x="8683752" y="111252"/>
                  </a:lnTo>
                  <a:lnTo>
                    <a:pt x="8701659" y="129159"/>
                  </a:lnTo>
                  <a:lnTo>
                    <a:pt x="8089011" y="741807"/>
                  </a:lnTo>
                  <a:cubicBezTo>
                    <a:pt x="8086598" y="744220"/>
                    <a:pt x="8083423" y="745490"/>
                    <a:pt x="8079993" y="745490"/>
                  </a:cubicBezTo>
                  <a:lnTo>
                    <a:pt x="6830568" y="745490"/>
                  </a:lnTo>
                  <a:lnTo>
                    <a:pt x="6830568" y="732790"/>
                  </a:lnTo>
                  <a:lnTo>
                    <a:pt x="6839585" y="741807"/>
                  </a:lnTo>
                  <a:lnTo>
                    <a:pt x="6261354" y="1320038"/>
                  </a:lnTo>
                  <a:cubicBezTo>
                    <a:pt x="6258941" y="1322451"/>
                    <a:pt x="6255766" y="1323721"/>
                    <a:pt x="6252337" y="1323721"/>
                  </a:cubicBezTo>
                  <a:lnTo>
                    <a:pt x="1311021" y="1323721"/>
                  </a:lnTo>
                  <a:cubicBezTo>
                    <a:pt x="1307592" y="1323721"/>
                    <a:pt x="1304417" y="1322324"/>
                    <a:pt x="1302004" y="1320038"/>
                  </a:cubicBezTo>
                  <a:lnTo>
                    <a:pt x="0" y="18034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510875" y="6169625"/>
            <a:ext cx="998850" cy="4665200"/>
          </a:xfrm>
          <a:custGeom>
            <a:avLst/>
            <a:gdLst/>
            <a:ahLst/>
            <a:cxnLst/>
            <a:rect r="r" b="b" t="t" l="l"/>
            <a:pathLst>
              <a:path h="4665200" w="998850">
                <a:moveTo>
                  <a:pt x="0" y="0"/>
                </a:moveTo>
                <a:lnTo>
                  <a:pt x="998850" y="0"/>
                </a:lnTo>
                <a:lnTo>
                  <a:pt x="998850" y="4665200"/>
                </a:lnTo>
                <a:lnTo>
                  <a:pt x="0" y="46652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-5400000">
            <a:off x="1014670" y="1265494"/>
            <a:ext cx="456150" cy="394500"/>
            <a:chOff x="0" y="0"/>
            <a:chExt cx="608200" cy="52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08203" cy="526034"/>
            </a:xfrm>
            <a:custGeom>
              <a:avLst/>
              <a:gdLst/>
              <a:ahLst/>
              <a:cxnLst/>
              <a:rect r="r" b="b" t="t" l="l"/>
              <a:pathLst>
                <a:path h="526034" w="608203">
                  <a:moveTo>
                    <a:pt x="0" y="0"/>
                  </a:moveTo>
                  <a:lnTo>
                    <a:pt x="608203" y="0"/>
                  </a:lnTo>
                  <a:lnTo>
                    <a:pt x="304038" y="526034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702625" y="991256"/>
            <a:ext cx="152251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99"/>
              </a:lnSpc>
            </a:pPr>
            <a:r>
              <a:rPr lang="en-US" b="true" sz="5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THE BRIDGE (WMC)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039877" y="3920322"/>
            <a:ext cx="4337550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b="true" sz="4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PROBLEM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094881" y="3914613"/>
            <a:ext cx="4337550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b="true" sz="4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SOLUTION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702625" y="4882347"/>
            <a:ext cx="4337550" cy="3376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90876" indent="-345438" lvl="1">
              <a:lnSpc>
                <a:spcPts val="4479"/>
              </a:lnSpc>
              <a:buFont typeface="Arial"/>
              <a:buChar char="•"/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L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ogic is discrete 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(True/False)</a:t>
            </a:r>
          </a:p>
          <a:p>
            <a:pPr algn="l">
              <a:lnSpc>
                <a:spcPts val="4479"/>
              </a:lnSpc>
            </a:pPr>
          </a:p>
          <a:p>
            <a:pPr algn="l" marL="690876" indent="-345438" lvl="1">
              <a:lnSpc>
                <a:spcPts val="4479"/>
              </a:lnSpc>
              <a:buFont typeface="Arial"/>
              <a:buChar char="•"/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Loss functions 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must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 be continuous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778091" y="4886162"/>
            <a:ext cx="4705884" cy="50622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90876" indent="-345438" lvl="1">
              <a:lnSpc>
                <a:spcPts val="4479"/>
              </a:lnSpc>
              <a:buFont typeface="Arial"/>
              <a:buChar char="•"/>
            </a:pP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M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ap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logical satisfaction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to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Weighted Model Counting (WMC)</a:t>
            </a:r>
          </a:p>
          <a:p>
            <a:pPr algn="l">
              <a:lnSpc>
                <a:spcPts val="4479"/>
              </a:lnSpc>
            </a:pPr>
          </a:p>
          <a:p>
            <a:pPr algn="l" marL="690876" indent="-345438" lvl="1">
              <a:lnSpc>
                <a:spcPts val="4479"/>
              </a:lnSpc>
              <a:buFont typeface="Arial"/>
              <a:buChar char="•"/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Calculates 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the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total probability mass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of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all valid worlds</a:t>
            </a:r>
          </a:p>
          <a:p>
            <a:pPr algn="l">
              <a:lnSpc>
                <a:spcPts val="4479"/>
              </a:lnSpc>
            </a:pPr>
          </a:p>
        </p:txBody>
      </p:sp>
      <p:sp>
        <p:nvSpPr>
          <p:cNvPr name="TextBox 19" id="19"/>
          <p:cNvSpPr txBox="true"/>
          <p:nvPr/>
        </p:nvSpPr>
        <p:spPr>
          <a:xfrm rot="0">
            <a:off x="11884025" y="4434025"/>
            <a:ext cx="5375275" cy="56241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</a:p>
          <a:p>
            <a:pPr algn="l" marL="690876" indent="-345438" lvl="1">
              <a:lnSpc>
                <a:spcPts val="4479"/>
              </a:lnSpc>
              <a:buFont typeface="Arial"/>
              <a:buChar char="•"/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Interpret NN outputs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a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variable probabilities</a:t>
            </a:r>
          </a:p>
          <a:p>
            <a:pPr algn="l" marL="690876" indent="-345438" lvl="1">
              <a:lnSpc>
                <a:spcPts val="4479"/>
              </a:lnSpc>
              <a:buFont typeface="Arial"/>
              <a:buChar char="•"/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Sum probabilities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o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f 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al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possible worlds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satisfying constraint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α</a:t>
            </a:r>
          </a:p>
          <a:p>
            <a:pPr algn="l" marL="690876" indent="-345438" lvl="1">
              <a:lnSpc>
                <a:spcPts val="4479"/>
              </a:lnSpc>
              <a:buFont typeface="Arial"/>
              <a:buChar char="•"/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Result 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is a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differentiable scalar value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(probability mass of valid states)</a:t>
            </a:r>
          </a:p>
          <a:p>
            <a:pPr algn="l">
              <a:lnSpc>
                <a:spcPts val="4479"/>
              </a:lnSpc>
            </a:pPr>
          </a:p>
        </p:txBody>
      </p:sp>
      <p:sp>
        <p:nvSpPr>
          <p:cNvPr name="TextBox 20" id="20"/>
          <p:cNvSpPr txBox="true"/>
          <p:nvPr/>
        </p:nvSpPr>
        <p:spPr>
          <a:xfrm rot="0">
            <a:off x="12325643" y="3920322"/>
            <a:ext cx="4337550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b="true" sz="4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MECHANISM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13944227" y="2761162"/>
            <a:ext cx="823701" cy="981700"/>
          </a:xfrm>
          <a:custGeom>
            <a:avLst/>
            <a:gdLst/>
            <a:ahLst/>
            <a:cxnLst/>
            <a:rect r="r" b="b" t="t" l="l"/>
            <a:pathLst>
              <a:path h="981700" w="823701">
                <a:moveTo>
                  <a:pt x="0" y="0"/>
                </a:moveTo>
                <a:lnTo>
                  <a:pt x="823701" y="0"/>
                </a:lnTo>
                <a:lnTo>
                  <a:pt x="823701" y="981700"/>
                </a:lnTo>
                <a:lnTo>
                  <a:pt x="0" y="9817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8365244" y="2704313"/>
            <a:ext cx="949956" cy="943600"/>
          </a:xfrm>
          <a:custGeom>
            <a:avLst/>
            <a:gdLst/>
            <a:ahLst/>
            <a:cxnLst/>
            <a:rect r="r" b="b" t="t" l="l"/>
            <a:pathLst>
              <a:path h="943600" w="949956">
                <a:moveTo>
                  <a:pt x="0" y="0"/>
                </a:moveTo>
                <a:lnTo>
                  <a:pt x="949956" y="0"/>
                </a:lnTo>
                <a:lnTo>
                  <a:pt x="949956" y="943600"/>
                </a:lnTo>
                <a:lnTo>
                  <a:pt x="0" y="9436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3099426" y="2719697"/>
            <a:ext cx="947073" cy="943450"/>
          </a:xfrm>
          <a:custGeom>
            <a:avLst/>
            <a:gdLst/>
            <a:ahLst/>
            <a:cxnLst/>
            <a:rect r="r" b="b" t="t" l="l"/>
            <a:pathLst>
              <a:path h="943450" w="947073">
                <a:moveTo>
                  <a:pt x="0" y="0"/>
                </a:moveTo>
                <a:lnTo>
                  <a:pt x="947074" y="0"/>
                </a:lnTo>
                <a:lnTo>
                  <a:pt x="947074" y="943450"/>
                </a:lnTo>
                <a:lnTo>
                  <a:pt x="0" y="94345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7029" y="880533"/>
            <a:ext cx="17357748" cy="9211584"/>
          </a:xfrm>
          <a:custGeom>
            <a:avLst/>
            <a:gdLst/>
            <a:ahLst/>
            <a:cxnLst/>
            <a:rect r="r" b="b" t="t" l="l"/>
            <a:pathLst>
              <a:path h="9211584" w="17357748">
                <a:moveTo>
                  <a:pt x="0" y="0"/>
                </a:moveTo>
                <a:lnTo>
                  <a:pt x="17357748" y="0"/>
                </a:lnTo>
                <a:lnTo>
                  <a:pt x="17357748" y="9211584"/>
                </a:lnTo>
                <a:lnTo>
                  <a:pt x="0" y="9211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56500" y="2761162"/>
            <a:ext cx="16597970" cy="3861370"/>
          </a:xfrm>
          <a:custGeom>
            <a:avLst/>
            <a:gdLst/>
            <a:ahLst/>
            <a:cxnLst/>
            <a:rect r="r" b="b" t="t" l="l"/>
            <a:pathLst>
              <a:path h="3861370" w="16597970">
                <a:moveTo>
                  <a:pt x="0" y="0"/>
                </a:moveTo>
                <a:lnTo>
                  <a:pt x="16597970" y="0"/>
                </a:lnTo>
                <a:lnTo>
                  <a:pt x="16597970" y="3861370"/>
                </a:lnTo>
                <a:lnTo>
                  <a:pt x="0" y="386137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 rot="4500">
            <a:off x="1476792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4500">
            <a:off x="1463117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rot="4500">
            <a:off x="1449441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rot="4500">
            <a:off x="1435766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rot="4500">
            <a:off x="1422090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1483975" y="-123525"/>
            <a:ext cx="6531800" cy="995550"/>
            <a:chOff x="0" y="0"/>
            <a:chExt cx="8709067" cy="1327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683" y="3683"/>
              <a:ext cx="8701659" cy="1323721"/>
            </a:xfrm>
            <a:custGeom>
              <a:avLst/>
              <a:gdLst/>
              <a:ahLst/>
              <a:cxnLst/>
              <a:rect r="r" b="b" t="t" l="l"/>
              <a:pathLst>
                <a:path h="1323721" w="8701659">
                  <a:moveTo>
                    <a:pt x="18034" y="0"/>
                  </a:moveTo>
                  <a:lnTo>
                    <a:pt x="1320038" y="1302004"/>
                  </a:lnTo>
                  <a:lnTo>
                    <a:pt x="1311021" y="1311021"/>
                  </a:lnTo>
                  <a:lnTo>
                    <a:pt x="1311021" y="1298321"/>
                  </a:lnTo>
                  <a:lnTo>
                    <a:pt x="6252337" y="1298321"/>
                  </a:lnTo>
                  <a:lnTo>
                    <a:pt x="6252337" y="1311021"/>
                  </a:lnTo>
                  <a:lnTo>
                    <a:pt x="6243320" y="1302004"/>
                  </a:lnTo>
                  <a:lnTo>
                    <a:pt x="6821551" y="723773"/>
                  </a:lnTo>
                  <a:cubicBezTo>
                    <a:pt x="6823964" y="721360"/>
                    <a:pt x="6827139" y="720090"/>
                    <a:pt x="6830568" y="720090"/>
                  </a:cubicBezTo>
                  <a:lnTo>
                    <a:pt x="8080121" y="720090"/>
                  </a:lnTo>
                  <a:lnTo>
                    <a:pt x="8080121" y="732790"/>
                  </a:lnTo>
                  <a:lnTo>
                    <a:pt x="8071104" y="723773"/>
                  </a:lnTo>
                  <a:lnTo>
                    <a:pt x="8683752" y="111252"/>
                  </a:lnTo>
                  <a:lnTo>
                    <a:pt x="8701659" y="129159"/>
                  </a:lnTo>
                  <a:lnTo>
                    <a:pt x="8089011" y="741807"/>
                  </a:lnTo>
                  <a:cubicBezTo>
                    <a:pt x="8086598" y="744220"/>
                    <a:pt x="8083423" y="745490"/>
                    <a:pt x="8079993" y="745490"/>
                  </a:cubicBezTo>
                  <a:lnTo>
                    <a:pt x="6830568" y="745490"/>
                  </a:lnTo>
                  <a:lnTo>
                    <a:pt x="6830568" y="732790"/>
                  </a:lnTo>
                  <a:lnTo>
                    <a:pt x="6839585" y="741807"/>
                  </a:lnTo>
                  <a:lnTo>
                    <a:pt x="6261354" y="1320038"/>
                  </a:lnTo>
                  <a:cubicBezTo>
                    <a:pt x="6258941" y="1322451"/>
                    <a:pt x="6255766" y="1323721"/>
                    <a:pt x="6252337" y="1323721"/>
                  </a:cubicBezTo>
                  <a:lnTo>
                    <a:pt x="1311021" y="1323721"/>
                  </a:lnTo>
                  <a:cubicBezTo>
                    <a:pt x="1307592" y="1323721"/>
                    <a:pt x="1304417" y="1322324"/>
                    <a:pt x="1302004" y="1320038"/>
                  </a:cubicBezTo>
                  <a:lnTo>
                    <a:pt x="0" y="18034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510875" y="6169625"/>
            <a:ext cx="998850" cy="4665200"/>
          </a:xfrm>
          <a:custGeom>
            <a:avLst/>
            <a:gdLst/>
            <a:ahLst/>
            <a:cxnLst/>
            <a:rect r="r" b="b" t="t" l="l"/>
            <a:pathLst>
              <a:path h="4665200" w="998850">
                <a:moveTo>
                  <a:pt x="0" y="0"/>
                </a:moveTo>
                <a:lnTo>
                  <a:pt x="998850" y="0"/>
                </a:lnTo>
                <a:lnTo>
                  <a:pt x="998850" y="4665200"/>
                </a:lnTo>
                <a:lnTo>
                  <a:pt x="0" y="46652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-5400000">
            <a:off x="1014670" y="1265494"/>
            <a:ext cx="456150" cy="394500"/>
            <a:chOff x="0" y="0"/>
            <a:chExt cx="608200" cy="52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08203" cy="526034"/>
            </a:xfrm>
            <a:custGeom>
              <a:avLst/>
              <a:gdLst/>
              <a:ahLst/>
              <a:cxnLst/>
              <a:rect r="r" b="b" t="t" l="l"/>
              <a:pathLst>
                <a:path h="526034" w="608203">
                  <a:moveTo>
                    <a:pt x="0" y="0"/>
                  </a:moveTo>
                  <a:lnTo>
                    <a:pt x="608203" y="0"/>
                  </a:lnTo>
                  <a:lnTo>
                    <a:pt x="304038" y="526034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702625" y="991256"/>
            <a:ext cx="152251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99"/>
              </a:lnSpc>
            </a:pPr>
            <a:r>
              <a:rPr lang="en-US" b="true" sz="5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COMPUTATIONAL TRACTABILITY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039877" y="3920322"/>
            <a:ext cx="4337550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b="true" sz="4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CHALLENGE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094881" y="3914613"/>
            <a:ext cx="4337550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b="true" sz="4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METHOD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702625" y="4882347"/>
            <a:ext cx="4337550" cy="1690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Na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ive summation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over truth assignments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 is #P-hard (exponential)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778091" y="4886162"/>
            <a:ext cx="4705884" cy="3376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KNOWLEDGE COMPILATION:</a:t>
            </a:r>
          </a:p>
          <a:p>
            <a:pPr algn="l">
              <a:lnSpc>
                <a:spcPts val="4479"/>
              </a:lnSpc>
            </a:pP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Com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p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il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Propositional Logic -&gt; Arithmetic Circuit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(AC) (e.g.,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d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-DNNF)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884025" y="4815672"/>
            <a:ext cx="5375275" cy="56241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90876" indent="-345438" lvl="1">
              <a:lnSpc>
                <a:spcPts val="4479"/>
              </a:lnSpc>
              <a:buFont typeface="Arial"/>
              <a:buChar char="•"/>
            </a:pP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AC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allows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computing WMC 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in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linear time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w.r.t. circuit size</a:t>
            </a:r>
          </a:p>
          <a:p>
            <a:pPr algn="l" marL="690876" indent="-345438" lvl="1">
              <a:lnSpc>
                <a:spcPts val="4479"/>
              </a:lnSpc>
              <a:buFont typeface="Arial"/>
              <a:buChar char="•"/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AC o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perations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(Sum/Product) ar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fully differentiable</a:t>
            </a:r>
          </a:p>
          <a:p>
            <a:pPr algn="l" marL="690876" indent="-345438" lvl="1">
              <a:lnSpc>
                <a:spcPts val="4479"/>
              </a:lnSpc>
              <a:buFont typeface="Arial"/>
              <a:buChar char="•"/>
            </a:pP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Enables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efficient backpropagation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of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logical errors</a:t>
            </a:r>
          </a:p>
          <a:p>
            <a:pPr algn="l">
              <a:lnSpc>
                <a:spcPts val="4479"/>
              </a:lnSpc>
            </a:pPr>
          </a:p>
        </p:txBody>
      </p:sp>
      <p:sp>
        <p:nvSpPr>
          <p:cNvPr name="TextBox 20" id="20"/>
          <p:cNvSpPr txBox="true"/>
          <p:nvPr/>
        </p:nvSpPr>
        <p:spPr>
          <a:xfrm rot="0">
            <a:off x="12325643" y="3920322"/>
            <a:ext cx="4337550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b="true" sz="4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ADVANTAGE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3386977" y="2761162"/>
            <a:ext cx="968845" cy="966745"/>
          </a:xfrm>
          <a:custGeom>
            <a:avLst/>
            <a:gdLst/>
            <a:ahLst/>
            <a:cxnLst/>
            <a:rect r="r" b="b" t="t" l="l"/>
            <a:pathLst>
              <a:path h="966745" w="968845">
                <a:moveTo>
                  <a:pt x="0" y="0"/>
                </a:moveTo>
                <a:lnTo>
                  <a:pt x="968846" y="0"/>
                </a:lnTo>
                <a:lnTo>
                  <a:pt x="968846" y="966745"/>
                </a:lnTo>
                <a:lnTo>
                  <a:pt x="0" y="96674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8090306" y="2761162"/>
            <a:ext cx="955597" cy="956428"/>
          </a:xfrm>
          <a:custGeom>
            <a:avLst/>
            <a:gdLst/>
            <a:ahLst/>
            <a:cxnLst/>
            <a:rect r="r" b="b" t="t" l="l"/>
            <a:pathLst>
              <a:path h="956428" w="955597">
                <a:moveTo>
                  <a:pt x="0" y="0"/>
                </a:moveTo>
                <a:lnTo>
                  <a:pt x="955597" y="0"/>
                </a:lnTo>
                <a:lnTo>
                  <a:pt x="955597" y="956428"/>
                </a:lnTo>
                <a:lnTo>
                  <a:pt x="0" y="95642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3744661" y="2784231"/>
            <a:ext cx="952493" cy="943676"/>
          </a:xfrm>
          <a:custGeom>
            <a:avLst/>
            <a:gdLst/>
            <a:ahLst/>
            <a:cxnLst/>
            <a:rect r="r" b="b" t="t" l="l"/>
            <a:pathLst>
              <a:path h="943676" w="952493">
                <a:moveTo>
                  <a:pt x="0" y="0"/>
                </a:moveTo>
                <a:lnTo>
                  <a:pt x="952494" y="0"/>
                </a:lnTo>
                <a:lnTo>
                  <a:pt x="952494" y="943676"/>
                </a:lnTo>
                <a:lnTo>
                  <a:pt x="0" y="943676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2649930">
            <a:off x="1257837" y="9956954"/>
            <a:ext cx="111940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5400000">
            <a:off x="2130380" y="9199848"/>
            <a:ext cx="444217" cy="439716"/>
            <a:chOff x="0" y="0"/>
            <a:chExt cx="592289" cy="58628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12700" y="12700"/>
              <a:ext cx="564261" cy="558292"/>
            </a:xfrm>
            <a:custGeom>
              <a:avLst/>
              <a:gdLst/>
              <a:ahLst/>
              <a:cxnLst/>
              <a:rect r="r" b="b" t="t" l="l"/>
              <a:pathLst>
                <a:path h="558292" w="564261">
                  <a:moveTo>
                    <a:pt x="0" y="279908"/>
                  </a:moveTo>
                  <a:cubicBezTo>
                    <a:pt x="0" y="434848"/>
                    <a:pt x="129667" y="558292"/>
                    <a:pt x="278511" y="558292"/>
                  </a:cubicBezTo>
                  <a:cubicBezTo>
                    <a:pt x="433451" y="558292"/>
                    <a:pt x="564261" y="434848"/>
                    <a:pt x="564261" y="280035"/>
                  </a:cubicBezTo>
                  <a:cubicBezTo>
                    <a:pt x="564261" y="125222"/>
                    <a:pt x="433451" y="0"/>
                    <a:pt x="278511" y="0"/>
                  </a:cubicBezTo>
                  <a:cubicBezTo>
                    <a:pt x="129667" y="0"/>
                    <a:pt x="0" y="125095"/>
                    <a:pt x="0" y="279908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89661" cy="583692"/>
            </a:xfrm>
            <a:custGeom>
              <a:avLst/>
              <a:gdLst/>
              <a:ahLst/>
              <a:cxnLst/>
              <a:rect r="r" b="b" t="t" l="l"/>
              <a:pathLst>
                <a:path h="583692" w="589661">
                  <a:moveTo>
                    <a:pt x="25400" y="292608"/>
                  </a:moveTo>
                  <a:cubicBezTo>
                    <a:pt x="25400" y="440309"/>
                    <a:pt x="149098" y="558165"/>
                    <a:pt x="291211" y="558165"/>
                  </a:cubicBezTo>
                  <a:lnTo>
                    <a:pt x="291211" y="570865"/>
                  </a:lnTo>
                  <a:lnTo>
                    <a:pt x="291211" y="558165"/>
                  </a:lnTo>
                  <a:cubicBezTo>
                    <a:pt x="439547" y="558165"/>
                    <a:pt x="564261" y="439928"/>
                    <a:pt x="564261" y="292608"/>
                  </a:cubicBezTo>
                  <a:lnTo>
                    <a:pt x="576961" y="292608"/>
                  </a:lnTo>
                  <a:lnTo>
                    <a:pt x="564261" y="292608"/>
                  </a:lnTo>
                  <a:cubicBezTo>
                    <a:pt x="564261" y="145161"/>
                    <a:pt x="439420" y="25400"/>
                    <a:pt x="291211" y="25400"/>
                  </a:cubicBezTo>
                  <a:lnTo>
                    <a:pt x="291211" y="12700"/>
                  </a:lnTo>
                  <a:lnTo>
                    <a:pt x="291211" y="25400"/>
                  </a:lnTo>
                  <a:cubicBezTo>
                    <a:pt x="149225" y="25400"/>
                    <a:pt x="25400" y="144907"/>
                    <a:pt x="25400" y="292608"/>
                  </a:cubicBezTo>
                  <a:lnTo>
                    <a:pt x="12700" y="292608"/>
                  </a:lnTo>
                  <a:lnTo>
                    <a:pt x="25400" y="292608"/>
                  </a:lnTo>
                  <a:moveTo>
                    <a:pt x="0" y="292608"/>
                  </a:moveTo>
                  <a:cubicBezTo>
                    <a:pt x="0" y="130683"/>
                    <a:pt x="135382" y="0"/>
                    <a:pt x="291211" y="0"/>
                  </a:cubicBezTo>
                  <a:cubicBezTo>
                    <a:pt x="452755" y="0"/>
                    <a:pt x="589661" y="130429"/>
                    <a:pt x="589661" y="292608"/>
                  </a:cubicBezTo>
                  <a:cubicBezTo>
                    <a:pt x="589661" y="454787"/>
                    <a:pt x="452755" y="583692"/>
                    <a:pt x="291211" y="583692"/>
                  </a:cubicBezTo>
                  <a:cubicBezTo>
                    <a:pt x="135509" y="583692"/>
                    <a:pt x="0" y="454787"/>
                    <a:pt x="0" y="292608"/>
                  </a:cubicBez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13088525" y="-199925"/>
            <a:ext cx="4782000" cy="1513187"/>
          </a:xfrm>
          <a:custGeom>
            <a:avLst/>
            <a:gdLst/>
            <a:ahLst/>
            <a:cxnLst/>
            <a:rect r="r" b="b" t="t" l="l"/>
            <a:pathLst>
              <a:path h="1513187" w="4782000">
                <a:moveTo>
                  <a:pt x="0" y="0"/>
                </a:moveTo>
                <a:lnTo>
                  <a:pt x="4782000" y="0"/>
                </a:lnTo>
                <a:lnTo>
                  <a:pt x="4782000" y="1513187"/>
                </a:lnTo>
                <a:lnTo>
                  <a:pt x="0" y="151318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595605" y="2515669"/>
            <a:ext cx="18239554" cy="7146282"/>
          </a:xfrm>
          <a:custGeom>
            <a:avLst/>
            <a:gdLst/>
            <a:ahLst/>
            <a:cxnLst/>
            <a:rect r="r" b="b" t="t" l="l"/>
            <a:pathLst>
              <a:path h="7146282" w="18239554">
                <a:moveTo>
                  <a:pt x="0" y="0"/>
                </a:moveTo>
                <a:lnTo>
                  <a:pt x="18239554" y="0"/>
                </a:lnTo>
                <a:lnTo>
                  <a:pt x="18239554" y="7146282"/>
                </a:lnTo>
                <a:lnTo>
                  <a:pt x="0" y="714628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194374" y="1955346"/>
            <a:ext cx="17447186" cy="7929536"/>
          </a:xfrm>
          <a:custGeom>
            <a:avLst/>
            <a:gdLst/>
            <a:ahLst/>
            <a:cxnLst/>
            <a:rect r="r" b="b" t="t" l="l"/>
            <a:pathLst>
              <a:path h="7929536" w="17447186">
                <a:moveTo>
                  <a:pt x="0" y="0"/>
                </a:moveTo>
                <a:lnTo>
                  <a:pt x="17447186" y="0"/>
                </a:lnTo>
                <a:lnTo>
                  <a:pt x="17447186" y="7929536"/>
                </a:lnTo>
                <a:lnTo>
                  <a:pt x="0" y="792953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-5400000">
            <a:off x="1014670" y="1265494"/>
            <a:ext cx="456150" cy="394500"/>
            <a:chOff x="0" y="0"/>
            <a:chExt cx="608200" cy="526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08203" cy="526034"/>
            </a:xfrm>
            <a:custGeom>
              <a:avLst/>
              <a:gdLst/>
              <a:ahLst/>
              <a:cxnLst/>
              <a:rect r="r" b="b" t="t" l="l"/>
              <a:pathLst>
                <a:path h="526034" w="608203">
                  <a:moveTo>
                    <a:pt x="0" y="0"/>
                  </a:moveTo>
                  <a:lnTo>
                    <a:pt x="608203" y="0"/>
                  </a:lnTo>
                  <a:lnTo>
                    <a:pt x="304038" y="526034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727700" y="991256"/>
            <a:ext cx="152251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99"/>
              </a:lnSpc>
            </a:pPr>
            <a:r>
              <a:rPr lang="en-US" b="true" sz="5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FROM LOGIC TO GRADIENT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2673350" y="2331600"/>
            <a:ext cx="1097400" cy="1097400"/>
            <a:chOff x="0" y="0"/>
            <a:chExt cx="1463200" cy="1463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63167" cy="1463167"/>
            </a:xfrm>
            <a:custGeom>
              <a:avLst/>
              <a:gdLst/>
              <a:ahLst/>
              <a:cxnLst/>
              <a:rect r="r" b="b" t="t" l="l"/>
              <a:pathLst>
                <a:path h="1463167" w="1463167">
                  <a:moveTo>
                    <a:pt x="0" y="0"/>
                  </a:moveTo>
                  <a:lnTo>
                    <a:pt x="1463167" y="0"/>
                  </a:lnTo>
                  <a:lnTo>
                    <a:pt x="1463167" y="1463167"/>
                  </a:lnTo>
                  <a:lnTo>
                    <a:pt x="0" y="1463167"/>
                  </a:lnTo>
                  <a:close/>
                </a:path>
              </a:pathLst>
            </a:custGeom>
            <a:solidFill>
              <a:srgbClr val="110E24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56750" y="2331600"/>
            <a:ext cx="1097400" cy="1097400"/>
            <a:chOff x="0" y="0"/>
            <a:chExt cx="1463200" cy="14632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63167" cy="1463167"/>
            </a:xfrm>
            <a:custGeom>
              <a:avLst/>
              <a:gdLst/>
              <a:ahLst/>
              <a:cxnLst/>
              <a:rect r="r" b="b" t="t" l="l"/>
              <a:pathLst>
                <a:path h="1463167" w="1463167">
                  <a:moveTo>
                    <a:pt x="0" y="0"/>
                  </a:moveTo>
                  <a:lnTo>
                    <a:pt x="1463167" y="0"/>
                  </a:lnTo>
                  <a:lnTo>
                    <a:pt x="1463167" y="1463167"/>
                  </a:lnTo>
                  <a:lnTo>
                    <a:pt x="0" y="1463167"/>
                  </a:lnTo>
                  <a:close/>
                </a:path>
              </a:pathLst>
            </a:custGeom>
            <a:solidFill>
              <a:srgbClr val="110E24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484650" y="5358139"/>
            <a:ext cx="3474750" cy="1276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DEFINE:</a:t>
            </a:r>
          </a:p>
          <a:p>
            <a:pPr algn="ctr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Logic Constraint α (Hard Constraint)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5409950" y="5358139"/>
            <a:ext cx="3474750" cy="1276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COMPILE: </a:t>
            </a:r>
          </a:p>
          <a:p>
            <a:pPr algn="ctr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Generate Arithmetic Circuit (Offline Step)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340275" y="5308100"/>
            <a:ext cx="3474750" cy="211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FORWARD:</a:t>
            </a:r>
          </a:p>
          <a:p>
            <a:pPr algn="ctr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Pass NN probabilities into Circuit → Get Probability of Satisfaction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478100" y="5308100"/>
            <a:ext cx="3474750" cy="1695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BACKWARD:</a:t>
            </a:r>
          </a:p>
          <a:p>
            <a:pPr algn="ctr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Compute Gradient of -log(</a:t>
            </a:r>
            <a:r>
              <a:rPr lang="en-US" sz="2799" i="true">
                <a:solidFill>
                  <a:srgbClr val="FFFFFF"/>
                </a:solidFill>
                <a:latin typeface="Arimo Italics"/>
                <a:ea typeface="Arimo Italics"/>
                <a:cs typeface="Arimo Italics"/>
                <a:sym typeface="Arimo Italics"/>
              </a:rPr>
              <a:t>P_sat</a:t>
            </a:r>
            <a:r>
              <a:rPr lang="en-US" sz="27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) to update NN weights</a:t>
            </a:r>
          </a:p>
        </p:txBody>
      </p:sp>
      <p:sp>
        <p:nvSpPr>
          <p:cNvPr name="AutoShape 20" id="20"/>
          <p:cNvSpPr/>
          <p:nvPr/>
        </p:nvSpPr>
        <p:spPr>
          <a:xfrm flipV="true">
            <a:off x="3814971" y="4540475"/>
            <a:ext cx="2786179" cy="153886"/>
          </a:xfrm>
          <a:prstGeom prst="line">
            <a:avLst/>
          </a:prstGeom>
          <a:ln cap="rnd" w="9525">
            <a:solidFill>
              <a:srgbClr val="00CADA"/>
            </a:solidFill>
            <a:prstDash val="solid"/>
            <a:headEnd type="none" len="sm" w="sm"/>
            <a:tailEnd type="diamond" len="lg" w="lg"/>
          </a:ln>
        </p:spPr>
      </p:sp>
      <p:sp>
        <p:nvSpPr>
          <p:cNvPr name="AutoShape 21" id="21"/>
          <p:cNvSpPr/>
          <p:nvPr/>
        </p:nvSpPr>
        <p:spPr>
          <a:xfrm>
            <a:off x="7698525" y="4540475"/>
            <a:ext cx="2719811" cy="0"/>
          </a:xfrm>
          <a:prstGeom prst="line">
            <a:avLst/>
          </a:prstGeom>
          <a:ln cap="rnd" w="9525">
            <a:solidFill>
              <a:srgbClr val="00CADA"/>
            </a:solidFill>
            <a:prstDash val="solid"/>
            <a:headEnd type="none" len="sm" w="sm"/>
            <a:tailEnd type="diamond" len="lg" w="lg"/>
          </a:ln>
        </p:spPr>
      </p:sp>
      <p:sp>
        <p:nvSpPr>
          <p:cNvPr name="AutoShape 22" id="22"/>
          <p:cNvSpPr/>
          <p:nvPr/>
        </p:nvSpPr>
        <p:spPr>
          <a:xfrm>
            <a:off x="11839360" y="4561287"/>
            <a:ext cx="2617390" cy="0"/>
          </a:xfrm>
          <a:prstGeom prst="line">
            <a:avLst/>
          </a:prstGeom>
          <a:ln cap="rnd" w="9525">
            <a:solidFill>
              <a:srgbClr val="00CADA"/>
            </a:solidFill>
            <a:prstDash val="solid"/>
            <a:headEnd type="none" len="sm" w="sm"/>
            <a:tailEnd type="diamond" len="lg" w="lg"/>
          </a:ln>
        </p:spPr>
      </p:sp>
      <p:sp>
        <p:nvSpPr>
          <p:cNvPr name="AutoShape 23" id="23"/>
          <p:cNvSpPr/>
          <p:nvPr/>
        </p:nvSpPr>
        <p:spPr>
          <a:xfrm flipH="true">
            <a:off x="3222025" y="5035025"/>
            <a:ext cx="25" cy="342164"/>
          </a:xfrm>
          <a:prstGeom prst="line">
            <a:avLst/>
          </a:prstGeom>
          <a:ln cap="rnd" w="9525">
            <a:solidFill>
              <a:srgbClr val="00CAD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4" id="24"/>
          <p:cNvSpPr/>
          <p:nvPr/>
        </p:nvSpPr>
        <p:spPr>
          <a:xfrm flipH="true">
            <a:off x="7147325" y="5089150"/>
            <a:ext cx="2525" cy="288039"/>
          </a:xfrm>
          <a:prstGeom prst="line">
            <a:avLst/>
          </a:prstGeom>
          <a:ln cap="rnd" w="9525">
            <a:solidFill>
              <a:srgbClr val="00CAD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>
            <a:off x="11077650" y="5035025"/>
            <a:ext cx="0" cy="292125"/>
          </a:xfrm>
          <a:prstGeom prst="line">
            <a:avLst/>
          </a:prstGeom>
          <a:ln cap="rnd" w="9525">
            <a:solidFill>
              <a:srgbClr val="00CAD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>
            <a:off x="15215475" y="5035725"/>
            <a:ext cx="0" cy="291425"/>
          </a:xfrm>
          <a:prstGeom prst="line">
            <a:avLst/>
          </a:prstGeom>
          <a:ln cap="rnd" w="9525">
            <a:solidFill>
              <a:srgbClr val="00CAD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7" id="27"/>
          <p:cNvSpPr/>
          <p:nvPr/>
        </p:nvSpPr>
        <p:spPr>
          <a:xfrm flipH="false" flipV="false" rot="0">
            <a:off x="6743988" y="4066037"/>
            <a:ext cx="954562" cy="948175"/>
          </a:xfrm>
          <a:custGeom>
            <a:avLst/>
            <a:gdLst/>
            <a:ahLst/>
            <a:cxnLst/>
            <a:rect r="r" b="b" t="t" l="l"/>
            <a:pathLst>
              <a:path h="948175" w="954562">
                <a:moveTo>
                  <a:pt x="0" y="0"/>
                </a:moveTo>
                <a:lnTo>
                  <a:pt x="954562" y="0"/>
                </a:lnTo>
                <a:lnTo>
                  <a:pt x="954562" y="948175"/>
                </a:lnTo>
                <a:lnTo>
                  <a:pt x="0" y="94817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2762286" y="4045925"/>
            <a:ext cx="919529" cy="989100"/>
          </a:xfrm>
          <a:custGeom>
            <a:avLst/>
            <a:gdLst/>
            <a:ahLst/>
            <a:cxnLst/>
            <a:rect r="r" b="b" t="t" l="l"/>
            <a:pathLst>
              <a:path h="989100" w="919529">
                <a:moveTo>
                  <a:pt x="0" y="0"/>
                </a:moveTo>
                <a:lnTo>
                  <a:pt x="919528" y="0"/>
                </a:lnTo>
                <a:lnTo>
                  <a:pt x="919528" y="989100"/>
                </a:lnTo>
                <a:lnTo>
                  <a:pt x="0" y="9891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14740906" y="4087550"/>
            <a:ext cx="949137" cy="948175"/>
          </a:xfrm>
          <a:custGeom>
            <a:avLst/>
            <a:gdLst/>
            <a:ahLst/>
            <a:cxnLst/>
            <a:rect r="r" b="b" t="t" l="l"/>
            <a:pathLst>
              <a:path h="948175" w="949137">
                <a:moveTo>
                  <a:pt x="0" y="0"/>
                </a:moveTo>
                <a:lnTo>
                  <a:pt x="949138" y="0"/>
                </a:lnTo>
                <a:lnTo>
                  <a:pt x="949138" y="948175"/>
                </a:lnTo>
                <a:lnTo>
                  <a:pt x="0" y="948175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0603535" y="4087550"/>
            <a:ext cx="948231" cy="947475"/>
          </a:xfrm>
          <a:custGeom>
            <a:avLst/>
            <a:gdLst/>
            <a:ahLst/>
            <a:cxnLst/>
            <a:rect r="r" b="b" t="t" l="l"/>
            <a:pathLst>
              <a:path h="947475" w="948231">
                <a:moveTo>
                  <a:pt x="0" y="0"/>
                </a:moveTo>
                <a:lnTo>
                  <a:pt x="948230" y="0"/>
                </a:lnTo>
                <a:lnTo>
                  <a:pt x="948230" y="947475"/>
                </a:lnTo>
                <a:lnTo>
                  <a:pt x="0" y="947475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1" id="31"/>
          <p:cNvSpPr txBox="true"/>
          <p:nvPr/>
        </p:nvSpPr>
        <p:spPr>
          <a:xfrm rot="0">
            <a:off x="1439995" y="2570737"/>
            <a:ext cx="4382122" cy="609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b="true" sz="3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PIPELINE: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439995" y="7791851"/>
            <a:ext cx="4382122" cy="609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b="true" sz="3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OUTCOME: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391025" y="8458601"/>
            <a:ext cx="11660487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The </a:t>
            </a:r>
            <a:r>
              <a:rPr lang="en-US" b="true" sz="27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logic constraint</a:t>
            </a:r>
            <a:r>
              <a:rPr lang="en-US" sz="27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drives the </a:t>
            </a:r>
            <a:r>
              <a:rPr lang="en-US" b="true" sz="27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gradient descent</a:t>
            </a:r>
            <a:r>
              <a:rPr lang="en-US" sz="27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towards </a:t>
            </a:r>
            <a:r>
              <a:rPr lang="en-US" b="true" sz="27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valid regions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1125">
            <a:off x="7101403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rot="1125">
            <a:off x="7374914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 rot="1125">
            <a:off x="7238159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1125">
            <a:off x="7511669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rot="1125">
            <a:off x="7648425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rot="1125">
            <a:off x="7785180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rot="1125">
            <a:off x="7921935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 rot="1125">
            <a:off x="8058691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 rot="1125">
            <a:off x="8195446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 rot="1125">
            <a:off x="8332201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2" id="12"/>
          <p:cNvSpPr/>
          <p:nvPr/>
        </p:nvSpPr>
        <p:spPr>
          <a:xfrm flipH="false" flipV="false" rot="0">
            <a:off x="-840069" y="1068077"/>
            <a:ext cx="15292830" cy="10308934"/>
          </a:xfrm>
          <a:custGeom>
            <a:avLst/>
            <a:gdLst/>
            <a:ahLst/>
            <a:cxnLst/>
            <a:rect r="r" b="b" t="t" l="l"/>
            <a:pathLst>
              <a:path h="10308934" w="15292830">
                <a:moveTo>
                  <a:pt x="0" y="0"/>
                </a:moveTo>
                <a:lnTo>
                  <a:pt x="15292830" y="0"/>
                </a:lnTo>
                <a:lnTo>
                  <a:pt x="15292830" y="10308934"/>
                </a:lnTo>
                <a:lnTo>
                  <a:pt x="0" y="1030893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2365025" y="3386498"/>
            <a:ext cx="12087736" cy="4505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760"/>
              </a:lnSpc>
            </a:pPr>
            <a:r>
              <a:rPr lang="en-US" b="true" sz="9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Our Architecture and Training Methodology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735450" y="1723450"/>
            <a:ext cx="2503350" cy="1533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760"/>
              </a:lnSpc>
            </a:pPr>
            <a:r>
              <a:rPr lang="en-US" sz="9800">
                <a:solidFill>
                  <a:srgbClr val="00CADA"/>
                </a:solidFill>
                <a:latin typeface="Arimo"/>
                <a:ea typeface="Arimo"/>
                <a:cs typeface="Arimo"/>
                <a:sym typeface="Arimo"/>
              </a:rPr>
              <a:t>03</a:t>
            </a:r>
          </a:p>
        </p:txBody>
      </p:sp>
      <p:grpSp>
        <p:nvGrpSpPr>
          <p:cNvPr name="Group 15" id="15"/>
          <p:cNvGrpSpPr/>
          <p:nvPr/>
        </p:nvGrpSpPr>
        <p:grpSpPr>
          <a:xfrm rot="-5400000">
            <a:off x="1378150" y="3863343"/>
            <a:ext cx="714600" cy="618032"/>
            <a:chOff x="0" y="0"/>
            <a:chExt cx="952800" cy="82404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952754" cy="824103"/>
            </a:xfrm>
            <a:custGeom>
              <a:avLst/>
              <a:gdLst/>
              <a:ahLst/>
              <a:cxnLst/>
              <a:rect r="r" b="b" t="t" l="l"/>
              <a:pathLst>
                <a:path h="824103" w="952754">
                  <a:moveTo>
                    <a:pt x="0" y="0"/>
                  </a:moveTo>
                  <a:lnTo>
                    <a:pt x="952754" y="0"/>
                  </a:lnTo>
                  <a:lnTo>
                    <a:pt x="476377" y="824103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4023225" y="-3239875"/>
            <a:ext cx="3286016" cy="11859112"/>
            <a:chOff x="0" y="0"/>
            <a:chExt cx="4381355" cy="1581214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3683" y="12700"/>
              <a:ext cx="4377690" cy="15795752"/>
            </a:xfrm>
            <a:custGeom>
              <a:avLst/>
              <a:gdLst/>
              <a:ahLst/>
              <a:cxnLst/>
              <a:rect r="r" b="b" t="t" l="l"/>
              <a:pathLst>
                <a:path h="15795752" w="4377690">
                  <a:moveTo>
                    <a:pt x="0" y="15777718"/>
                  </a:moveTo>
                  <a:lnTo>
                    <a:pt x="4355973" y="11421872"/>
                  </a:lnTo>
                  <a:lnTo>
                    <a:pt x="4364990" y="11430889"/>
                  </a:lnTo>
                  <a:lnTo>
                    <a:pt x="4352290" y="11430889"/>
                  </a:lnTo>
                  <a:lnTo>
                    <a:pt x="4352290" y="0"/>
                  </a:lnTo>
                  <a:lnTo>
                    <a:pt x="4377690" y="0"/>
                  </a:lnTo>
                  <a:lnTo>
                    <a:pt x="4377690" y="11430762"/>
                  </a:lnTo>
                  <a:cubicBezTo>
                    <a:pt x="4377690" y="11434191"/>
                    <a:pt x="4376293" y="11437366"/>
                    <a:pt x="4374007" y="11439779"/>
                  </a:cubicBezTo>
                  <a:lnTo>
                    <a:pt x="18034" y="15795752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AutoShape 19" id="19"/>
          <p:cNvSpPr/>
          <p:nvPr/>
        </p:nvSpPr>
        <p:spPr>
          <a:xfrm rot="5394431">
            <a:off x="13263544" y="11175703"/>
            <a:ext cx="5347483" cy="0"/>
          </a:xfrm>
          <a:prstGeom prst="line">
            <a:avLst/>
          </a:prstGeom>
          <a:ln cap="rnd" w="9525">
            <a:solidFill>
              <a:srgbClr val="AFAFB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0" id="20"/>
          <p:cNvSpPr/>
          <p:nvPr/>
        </p:nvSpPr>
        <p:spPr>
          <a:xfrm rot="2674203">
            <a:off x="15718521" y="7985560"/>
            <a:ext cx="1491162" cy="0"/>
          </a:xfrm>
          <a:prstGeom prst="line">
            <a:avLst/>
          </a:prstGeom>
          <a:ln cap="rnd" w="9525">
            <a:solidFill>
              <a:srgbClr val="AFAFB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1" id="21"/>
          <p:cNvGrpSpPr/>
          <p:nvPr/>
        </p:nvGrpSpPr>
        <p:grpSpPr>
          <a:xfrm rot="5400000">
            <a:off x="16910611" y="7121887"/>
            <a:ext cx="395518" cy="391361"/>
            <a:chOff x="0" y="0"/>
            <a:chExt cx="527357" cy="52181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12700" y="12700"/>
              <a:ext cx="515620" cy="510032"/>
            </a:xfrm>
            <a:custGeom>
              <a:avLst/>
              <a:gdLst/>
              <a:ahLst/>
              <a:cxnLst/>
              <a:rect r="r" b="b" t="t" l="l"/>
              <a:pathLst>
                <a:path h="510032" w="515620">
                  <a:moveTo>
                    <a:pt x="0" y="255778"/>
                  </a:moveTo>
                  <a:cubicBezTo>
                    <a:pt x="0" y="397256"/>
                    <a:pt x="118491" y="510032"/>
                    <a:pt x="254508" y="510032"/>
                  </a:cubicBezTo>
                  <a:cubicBezTo>
                    <a:pt x="395986" y="510032"/>
                    <a:pt x="515620" y="397256"/>
                    <a:pt x="515620" y="255778"/>
                  </a:cubicBezTo>
                  <a:cubicBezTo>
                    <a:pt x="515620" y="114300"/>
                    <a:pt x="396113" y="0"/>
                    <a:pt x="254508" y="0"/>
                  </a:cubicBezTo>
                  <a:cubicBezTo>
                    <a:pt x="118491" y="0"/>
                    <a:pt x="0" y="114300"/>
                    <a:pt x="0" y="255778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41020" cy="535432"/>
            </a:xfrm>
            <a:custGeom>
              <a:avLst/>
              <a:gdLst/>
              <a:ahLst/>
              <a:cxnLst/>
              <a:rect r="r" b="b" t="t" l="l"/>
              <a:pathLst>
                <a:path h="535432" w="541020">
                  <a:moveTo>
                    <a:pt x="25400" y="268478"/>
                  </a:moveTo>
                  <a:cubicBezTo>
                    <a:pt x="25400" y="402717"/>
                    <a:pt x="137922" y="510032"/>
                    <a:pt x="267208" y="510032"/>
                  </a:cubicBezTo>
                  <a:lnTo>
                    <a:pt x="267208" y="522732"/>
                  </a:lnTo>
                  <a:lnTo>
                    <a:pt x="267208" y="510032"/>
                  </a:lnTo>
                  <a:cubicBezTo>
                    <a:pt x="402209" y="510032"/>
                    <a:pt x="515620" y="402463"/>
                    <a:pt x="515620" y="268478"/>
                  </a:cubicBezTo>
                  <a:lnTo>
                    <a:pt x="528320" y="268478"/>
                  </a:lnTo>
                  <a:lnTo>
                    <a:pt x="515620" y="268478"/>
                  </a:lnTo>
                  <a:cubicBezTo>
                    <a:pt x="515620" y="134366"/>
                    <a:pt x="402082" y="25400"/>
                    <a:pt x="267208" y="25400"/>
                  </a:cubicBezTo>
                  <a:lnTo>
                    <a:pt x="267208" y="12700"/>
                  </a:lnTo>
                  <a:lnTo>
                    <a:pt x="267208" y="25400"/>
                  </a:lnTo>
                  <a:cubicBezTo>
                    <a:pt x="138049" y="25400"/>
                    <a:pt x="25400" y="134112"/>
                    <a:pt x="25400" y="268478"/>
                  </a:cubicBezTo>
                  <a:lnTo>
                    <a:pt x="12700" y="268478"/>
                  </a:lnTo>
                  <a:lnTo>
                    <a:pt x="25400" y="268478"/>
                  </a:lnTo>
                  <a:moveTo>
                    <a:pt x="0" y="268478"/>
                  </a:moveTo>
                  <a:cubicBezTo>
                    <a:pt x="0" y="119888"/>
                    <a:pt x="124206" y="0"/>
                    <a:pt x="267208" y="0"/>
                  </a:cubicBezTo>
                  <a:cubicBezTo>
                    <a:pt x="415417" y="0"/>
                    <a:pt x="541020" y="119634"/>
                    <a:pt x="541020" y="268478"/>
                  </a:cubicBezTo>
                  <a:cubicBezTo>
                    <a:pt x="541020" y="417322"/>
                    <a:pt x="415290" y="535432"/>
                    <a:pt x="267208" y="535432"/>
                  </a:cubicBezTo>
                  <a:cubicBezTo>
                    <a:pt x="124333" y="535432"/>
                    <a:pt x="0" y="417195"/>
                    <a:pt x="0" y="268478"/>
                  </a:cubicBezTo>
                  <a:close/>
                </a:path>
              </a:pathLst>
            </a:custGeom>
            <a:solidFill>
              <a:srgbClr val="AFAFB6"/>
            </a:solidFill>
          </p:spPr>
        </p:sp>
      </p:grpSp>
      <p:sp>
        <p:nvSpPr>
          <p:cNvPr name="AutoShape 24" id="24"/>
          <p:cNvSpPr/>
          <p:nvPr/>
        </p:nvSpPr>
        <p:spPr>
          <a:xfrm rot="5394431">
            <a:off x="-2543517" y="1493858"/>
            <a:ext cx="5347483" cy="0"/>
          </a:xfrm>
          <a:prstGeom prst="line">
            <a:avLst/>
          </a:prstGeom>
          <a:ln cap="rnd" w="9525">
            <a:solidFill>
              <a:srgbClr val="00CAD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 rot="2674203">
            <a:off x="2574787" y="2020674"/>
            <a:ext cx="1491162" cy="0"/>
          </a:xfrm>
          <a:prstGeom prst="line">
            <a:avLst/>
          </a:prstGeom>
          <a:ln cap="rnd" w="9525">
            <a:solidFill>
              <a:srgbClr val="00CAD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6" id="26"/>
          <p:cNvGrpSpPr/>
          <p:nvPr/>
        </p:nvGrpSpPr>
        <p:grpSpPr>
          <a:xfrm rot="-10800000">
            <a:off x="3790601" y="2469261"/>
            <a:ext cx="395518" cy="391361"/>
            <a:chOff x="0" y="0"/>
            <a:chExt cx="527357" cy="52181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00" y="12700"/>
              <a:ext cx="515620" cy="510032"/>
            </a:xfrm>
            <a:custGeom>
              <a:avLst/>
              <a:gdLst/>
              <a:ahLst/>
              <a:cxnLst/>
              <a:rect r="r" b="b" t="t" l="l"/>
              <a:pathLst>
                <a:path h="510032" w="515620">
                  <a:moveTo>
                    <a:pt x="0" y="255778"/>
                  </a:moveTo>
                  <a:cubicBezTo>
                    <a:pt x="0" y="397256"/>
                    <a:pt x="118491" y="510032"/>
                    <a:pt x="254508" y="510032"/>
                  </a:cubicBezTo>
                  <a:cubicBezTo>
                    <a:pt x="395986" y="510032"/>
                    <a:pt x="515620" y="397256"/>
                    <a:pt x="515620" y="255778"/>
                  </a:cubicBezTo>
                  <a:cubicBezTo>
                    <a:pt x="515620" y="114300"/>
                    <a:pt x="396113" y="0"/>
                    <a:pt x="254508" y="0"/>
                  </a:cubicBezTo>
                  <a:cubicBezTo>
                    <a:pt x="118491" y="0"/>
                    <a:pt x="0" y="114300"/>
                    <a:pt x="0" y="255778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541020" cy="535432"/>
            </a:xfrm>
            <a:custGeom>
              <a:avLst/>
              <a:gdLst/>
              <a:ahLst/>
              <a:cxnLst/>
              <a:rect r="r" b="b" t="t" l="l"/>
              <a:pathLst>
                <a:path h="535432" w="541020">
                  <a:moveTo>
                    <a:pt x="25400" y="268478"/>
                  </a:moveTo>
                  <a:cubicBezTo>
                    <a:pt x="25400" y="402717"/>
                    <a:pt x="137922" y="510032"/>
                    <a:pt x="267208" y="510032"/>
                  </a:cubicBezTo>
                  <a:lnTo>
                    <a:pt x="267208" y="522732"/>
                  </a:lnTo>
                  <a:lnTo>
                    <a:pt x="267208" y="510032"/>
                  </a:lnTo>
                  <a:cubicBezTo>
                    <a:pt x="402209" y="510032"/>
                    <a:pt x="515620" y="402463"/>
                    <a:pt x="515620" y="268478"/>
                  </a:cubicBezTo>
                  <a:lnTo>
                    <a:pt x="528320" y="268478"/>
                  </a:lnTo>
                  <a:lnTo>
                    <a:pt x="515620" y="268478"/>
                  </a:lnTo>
                  <a:cubicBezTo>
                    <a:pt x="515620" y="134366"/>
                    <a:pt x="402082" y="25400"/>
                    <a:pt x="267208" y="25400"/>
                  </a:cubicBezTo>
                  <a:lnTo>
                    <a:pt x="267208" y="12700"/>
                  </a:lnTo>
                  <a:lnTo>
                    <a:pt x="267208" y="25400"/>
                  </a:lnTo>
                  <a:cubicBezTo>
                    <a:pt x="138049" y="25400"/>
                    <a:pt x="25400" y="134112"/>
                    <a:pt x="25400" y="268478"/>
                  </a:cubicBezTo>
                  <a:lnTo>
                    <a:pt x="12700" y="268478"/>
                  </a:lnTo>
                  <a:lnTo>
                    <a:pt x="25400" y="268478"/>
                  </a:lnTo>
                  <a:moveTo>
                    <a:pt x="0" y="268478"/>
                  </a:moveTo>
                  <a:cubicBezTo>
                    <a:pt x="0" y="119888"/>
                    <a:pt x="124206" y="0"/>
                    <a:pt x="267208" y="0"/>
                  </a:cubicBezTo>
                  <a:cubicBezTo>
                    <a:pt x="415417" y="0"/>
                    <a:pt x="541020" y="119634"/>
                    <a:pt x="541020" y="268478"/>
                  </a:cubicBezTo>
                  <a:cubicBezTo>
                    <a:pt x="541020" y="417322"/>
                    <a:pt x="415290" y="535432"/>
                    <a:pt x="267208" y="535432"/>
                  </a:cubicBezTo>
                  <a:cubicBezTo>
                    <a:pt x="124333" y="535432"/>
                    <a:pt x="0" y="417195"/>
                    <a:pt x="0" y="268478"/>
                  </a:cubicBez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Freeform 29" id="29"/>
          <p:cNvSpPr/>
          <p:nvPr/>
        </p:nvSpPr>
        <p:spPr>
          <a:xfrm flipH="false" flipV="false" rot="0">
            <a:off x="7101354" y="-879740"/>
            <a:ext cx="12029926" cy="3961744"/>
          </a:xfrm>
          <a:custGeom>
            <a:avLst/>
            <a:gdLst/>
            <a:ahLst/>
            <a:cxnLst/>
            <a:rect r="r" b="b" t="t" l="l"/>
            <a:pathLst>
              <a:path h="3961744" w="12029926">
                <a:moveTo>
                  <a:pt x="0" y="0"/>
                </a:moveTo>
                <a:lnTo>
                  <a:pt x="12029926" y="0"/>
                </a:lnTo>
                <a:lnTo>
                  <a:pt x="12029926" y="3961744"/>
                </a:lnTo>
                <a:lnTo>
                  <a:pt x="0" y="396174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4433721" y="2520720"/>
            <a:ext cx="2339172" cy="1055849"/>
          </a:xfrm>
          <a:custGeom>
            <a:avLst/>
            <a:gdLst/>
            <a:ahLst/>
            <a:cxnLst/>
            <a:rect r="r" b="b" t="t" l="l"/>
            <a:pathLst>
              <a:path h="1055849" w="2339172">
                <a:moveTo>
                  <a:pt x="0" y="0"/>
                </a:moveTo>
                <a:lnTo>
                  <a:pt x="2339172" y="0"/>
                </a:lnTo>
                <a:lnTo>
                  <a:pt x="2339172" y="1055849"/>
                </a:lnTo>
                <a:lnTo>
                  <a:pt x="0" y="105584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7029" y="880533"/>
            <a:ext cx="17357748" cy="9211584"/>
          </a:xfrm>
          <a:custGeom>
            <a:avLst/>
            <a:gdLst/>
            <a:ahLst/>
            <a:cxnLst/>
            <a:rect r="r" b="b" t="t" l="l"/>
            <a:pathLst>
              <a:path h="9211584" w="17357748">
                <a:moveTo>
                  <a:pt x="0" y="0"/>
                </a:moveTo>
                <a:lnTo>
                  <a:pt x="17357748" y="0"/>
                </a:lnTo>
                <a:lnTo>
                  <a:pt x="17357748" y="9211584"/>
                </a:lnTo>
                <a:lnTo>
                  <a:pt x="0" y="9211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56500" y="2761162"/>
            <a:ext cx="16597970" cy="3861370"/>
          </a:xfrm>
          <a:custGeom>
            <a:avLst/>
            <a:gdLst/>
            <a:ahLst/>
            <a:cxnLst/>
            <a:rect r="r" b="b" t="t" l="l"/>
            <a:pathLst>
              <a:path h="3861370" w="16597970">
                <a:moveTo>
                  <a:pt x="0" y="0"/>
                </a:moveTo>
                <a:lnTo>
                  <a:pt x="16597970" y="0"/>
                </a:lnTo>
                <a:lnTo>
                  <a:pt x="16597970" y="3861370"/>
                </a:lnTo>
                <a:lnTo>
                  <a:pt x="0" y="386137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 rot="4500">
            <a:off x="1476792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4500">
            <a:off x="1463117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rot="4500">
            <a:off x="1449441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rot="4500">
            <a:off x="1435766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rot="4500">
            <a:off x="1422090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1483975" y="-123525"/>
            <a:ext cx="6531800" cy="995550"/>
            <a:chOff x="0" y="0"/>
            <a:chExt cx="8709067" cy="1327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683" y="3683"/>
              <a:ext cx="8701659" cy="1323721"/>
            </a:xfrm>
            <a:custGeom>
              <a:avLst/>
              <a:gdLst/>
              <a:ahLst/>
              <a:cxnLst/>
              <a:rect r="r" b="b" t="t" l="l"/>
              <a:pathLst>
                <a:path h="1323721" w="8701659">
                  <a:moveTo>
                    <a:pt x="18034" y="0"/>
                  </a:moveTo>
                  <a:lnTo>
                    <a:pt x="1320038" y="1302004"/>
                  </a:lnTo>
                  <a:lnTo>
                    <a:pt x="1311021" y="1311021"/>
                  </a:lnTo>
                  <a:lnTo>
                    <a:pt x="1311021" y="1298321"/>
                  </a:lnTo>
                  <a:lnTo>
                    <a:pt x="6252337" y="1298321"/>
                  </a:lnTo>
                  <a:lnTo>
                    <a:pt x="6252337" y="1311021"/>
                  </a:lnTo>
                  <a:lnTo>
                    <a:pt x="6243320" y="1302004"/>
                  </a:lnTo>
                  <a:lnTo>
                    <a:pt x="6821551" y="723773"/>
                  </a:lnTo>
                  <a:cubicBezTo>
                    <a:pt x="6823964" y="721360"/>
                    <a:pt x="6827139" y="720090"/>
                    <a:pt x="6830568" y="720090"/>
                  </a:cubicBezTo>
                  <a:lnTo>
                    <a:pt x="8080121" y="720090"/>
                  </a:lnTo>
                  <a:lnTo>
                    <a:pt x="8080121" y="732790"/>
                  </a:lnTo>
                  <a:lnTo>
                    <a:pt x="8071104" y="723773"/>
                  </a:lnTo>
                  <a:lnTo>
                    <a:pt x="8683752" y="111252"/>
                  </a:lnTo>
                  <a:lnTo>
                    <a:pt x="8701659" y="129159"/>
                  </a:lnTo>
                  <a:lnTo>
                    <a:pt x="8089011" y="741807"/>
                  </a:lnTo>
                  <a:cubicBezTo>
                    <a:pt x="8086598" y="744220"/>
                    <a:pt x="8083423" y="745490"/>
                    <a:pt x="8079993" y="745490"/>
                  </a:cubicBezTo>
                  <a:lnTo>
                    <a:pt x="6830568" y="745490"/>
                  </a:lnTo>
                  <a:lnTo>
                    <a:pt x="6830568" y="732790"/>
                  </a:lnTo>
                  <a:lnTo>
                    <a:pt x="6839585" y="741807"/>
                  </a:lnTo>
                  <a:lnTo>
                    <a:pt x="6261354" y="1320038"/>
                  </a:lnTo>
                  <a:cubicBezTo>
                    <a:pt x="6258941" y="1322451"/>
                    <a:pt x="6255766" y="1323721"/>
                    <a:pt x="6252337" y="1323721"/>
                  </a:cubicBezTo>
                  <a:lnTo>
                    <a:pt x="1311021" y="1323721"/>
                  </a:lnTo>
                  <a:cubicBezTo>
                    <a:pt x="1307592" y="1323721"/>
                    <a:pt x="1304417" y="1322324"/>
                    <a:pt x="1302004" y="1320038"/>
                  </a:cubicBezTo>
                  <a:lnTo>
                    <a:pt x="0" y="18034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510875" y="6169625"/>
            <a:ext cx="998850" cy="4665200"/>
          </a:xfrm>
          <a:custGeom>
            <a:avLst/>
            <a:gdLst/>
            <a:ahLst/>
            <a:cxnLst/>
            <a:rect r="r" b="b" t="t" l="l"/>
            <a:pathLst>
              <a:path h="4665200" w="998850">
                <a:moveTo>
                  <a:pt x="0" y="0"/>
                </a:moveTo>
                <a:lnTo>
                  <a:pt x="998850" y="0"/>
                </a:lnTo>
                <a:lnTo>
                  <a:pt x="998850" y="4665200"/>
                </a:lnTo>
                <a:lnTo>
                  <a:pt x="0" y="46652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-5400000">
            <a:off x="1014670" y="1265494"/>
            <a:ext cx="456150" cy="394500"/>
            <a:chOff x="0" y="0"/>
            <a:chExt cx="608200" cy="52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08203" cy="526034"/>
            </a:xfrm>
            <a:custGeom>
              <a:avLst/>
              <a:gdLst/>
              <a:ahLst/>
              <a:cxnLst/>
              <a:rect r="r" b="b" t="t" l="l"/>
              <a:pathLst>
                <a:path h="526034" w="608203">
                  <a:moveTo>
                    <a:pt x="0" y="0"/>
                  </a:moveTo>
                  <a:lnTo>
                    <a:pt x="608203" y="0"/>
                  </a:lnTo>
                  <a:lnTo>
                    <a:pt x="304038" y="526034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702625" y="991256"/>
            <a:ext cx="152251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99"/>
              </a:lnSpc>
            </a:pPr>
            <a:r>
              <a:rPr lang="en-US" b="true" sz="5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SEMANTIC LOSS I (SYMBOLIC CNF)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702625" y="2418618"/>
            <a:ext cx="13971951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METHOD: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Explicit construction of Propositional Logic trees (via SymPy)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702625" y="3360205"/>
            <a:ext cx="14724321" cy="1199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THE LOGIC: 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For adjacent positions j, j+1: </a:t>
            </a:r>
          </a:p>
          <a:p>
            <a:pPr algn="l" marL="734055" indent="-367027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(Pᵢ,ⱼ ∧ Pₖ,ⱼ₊₁) ⇒ Val(i) ≤ Val(k)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702625" y="5057775"/>
            <a:ext cx="14724321" cy="1799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CONFLICT CLAUSE: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If Val(i) &gt; Val(k), the configuration is invalid </a:t>
            </a:r>
          </a:p>
          <a:p>
            <a:pPr algn="l" marL="734055" indent="-367027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CNF Formula: ¬Pᵢ,ⱼ ∨ ¬Pₖ,ⱼ₊₁</a:t>
            </a:r>
          </a:p>
          <a:p>
            <a:pPr algn="l" marL="734055" indent="-367027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Probabilistic Eval: 1 − (P(i@j) · P(k@j+1))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781840" y="7352666"/>
            <a:ext cx="14724321" cy="5994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LIMITATION: 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Requires recursive tree traversal on CPU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7029" y="880533"/>
            <a:ext cx="17357748" cy="9211584"/>
          </a:xfrm>
          <a:custGeom>
            <a:avLst/>
            <a:gdLst/>
            <a:ahLst/>
            <a:cxnLst/>
            <a:rect r="r" b="b" t="t" l="l"/>
            <a:pathLst>
              <a:path h="9211584" w="17357748">
                <a:moveTo>
                  <a:pt x="0" y="0"/>
                </a:moveTo>
                <a:lnTo>
                  <a:pt x="17357748" y="0"/>
                </a:lnTo>
                <a:lnTo>
                  <a:pt x="17357748" y="9211584"/>
                </a:lnTo>
                <a:lnTo>
                  <a:pt x="0" y="9211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56500" y="2761162"/>
            <a:ext cx="16597970" cy="3861370"/>
          </a:xfrm>
          <a:custGeom>
            <a:avLst/>
            <a:gdLst/>
            <a:ahLst/>
            <a:cxnLst/>
            <a:rect r="r" b="b" t="t" l="l"/>
            <a:pathLst>
              <a:path h="3861370" w="16597970">
                <a:moveTo>
                  <a:pt x="0" y="0"/>
                </a:moveTo>
                <a:lnTo>
                  <a:pt x="16597970" y="0"/>
                </a:lnTo>
                <a:lnTo>
                  <a:pt x="16597970" y="3861370"/>
                </a:lnTo>
                <a:lnTo>
                  <a:pt x="0" y="386137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 rot="4500">
            <a:off x="1476792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4500">
            <a:off x="1463117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rot="4500">
            <a:off x="1449441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rot="4500">
            <a:off x="1435766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rot="4500">
            <a:off x="1422090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1483975" y="-123525"/>
            <a:ext cx="6531800" cy="995550"/>
            <a:chOff x="0" y="0"/>
            <a:chExt cx="8709067" cy="1327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683" y="3683"/>
              <a:ext cx="8701659" cy="1323721"/>
            </a:xfrm>
            <a:custGeom>
              <a:avLst/>
              <a:gdLst/>
              <a:ahLst/>
              <a:cxnLst/>
              <a:rect r="r" b="b" t="t" l="l"/>
              <a:pathLst>
                <a:path h="1323721" w="8701659">
                  <a:moveTo>
                    <a:pt x="18034" y="0"/>
                  </a:moveTo>
                  <a:lnTo>
                    <a:pt x="1320038" y="1302004"/>
                  </a:lnTo>
                  <a:lnTo>
                    <a:pt x="1311021" y="1311021"/>
                  </a:lnTo>
                  <a:lnTo>
                    <a:pt x="1311021" y="1298321"/>
                  </a:lnTo>
                  <a:lnTo>
                    <a:pt x="6252337" y="1298321"/>
                  </a:lnTo>
                  <a:lnTo>
                    <a:pt x="6252337" y="1311021"/>
                  </a:lnTo>
                  <a:lnTo>
                    <a:pt x="6243320" y="1302004"/>
                  </a:lnTo>
                  <a:lnTo>
                    <a:pt x="6821551" y="723773"/>
                  </a:lnTo>
                  <a:cubicBezTo>
                    <a:pt x="6823964" y="721360"/>
                    <a:pt x="6827139" y="720090"/>
                    <a:pt x="6830568" y="720090"/>
                  </a:cubicBezTo>
                  <a:lnTo>
                    <a:pt x="8080121" y="720090"/>
                  </a:lnTo>
                  <a:lnTo>
                    <a:pt x="8080121" y="732790"/>
                  </a:lnTo>
                  <a:lnTo>
                    <a:pt x="8071104" y="723773"/>
                  </a:lnTo>
                  <a:lnTo>
                    <a:pt x="8683752" y="111252"/>
                  </a:lnTo>
                  <a:lnTo>
                    <a:pt x="8701659" y="129159"/>
                  </a:lnTo>
                  <a:lnTo>
                    <a:pt x="8089011" y="741807"/>
                  </a:lnTo>
                  <a:cubicBezTo>
                    <a:pt x="8086598" y="744220"/>
                    <a:pt x="8083423" y="745490"/>
                    <a:pt x="8079993" y="745490"/>
                  </a:cubicBezTo>
                  <a:lnTo>
                    <a:pt x="6830568" y="745490"/>
                  </a:lnTo>
                  <a:lnTo>
                    <a:pt x="6830568" y="732790"/>
                  </a:lnTo>
                  <a:lnTo>
                    <a:pt x="6839585" y="741807"/>
                  </a:lnTo>
                  <a:lnTo>
                    <a:pt x="6261354" y="1320038"/>
                  </a:lnTo>
                  <a:cubicBezTo>
                    <a:pt x="6258941" y="1322451"/>
                    <a:pt x="6255766" y="1323721"/>
                    <a:pt x="6252337" y="1323721"/>
                  </a:cubicBezTo>
                  <a:lnTo>
                    <a:pt x="1311021" y="1323721"/>
                  </a:lnTo>
                  <a:cubicBezTo>
                    <a:pt x="1307592" y="1323721"/>
                    <a:pt x="1304417" y="1322324"/>
                    <a:pt x="1302004" y="1320038"/>
                  </a:cubicBezTo>
                  <a:lnTo>
                    <a:pt x="0" y="18034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510875" y="6169625"/>
            <a:ext cx="998850" cy="4665200"/>
          </a:xfrm>
          <a:custGeom>
            <a:avLst/>
            <a:gdLst/>
            <a:ahLst/>
            <a:cxnLst/>
            <a:rect r="r" b="b" t="t" l="l"/>
            <a:pathLst>
              <a:path h="4665200" w="998850">
                <a:moveTo>
                  <a:pt x="0" y="0"/>
                </a:moveTo>
                <a:lnTo>
                  <a:pt x="998850" y="0"/>
                </a:lnTo>
                <a:lnTo>
                  <a:pt x="998850" y="4665200"/>
                </a:lnTo>
                <a:lnTo>
                  <a:pt x="0" y="46652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-5400000">
            <a:off x="1014670" y="1265494"/>
            <a:ext cx="456150" cy="394500"/>
            <a:chOff x="0" y="0"/>
            <a:chExt cx="608200" cy="52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08203" cy="526034"/>
            </a:xfrm>
            <a:custGeom>
              <a:avLst/>
              <a:gdLst/>
              <a:ahLst/>
              <a:cxnLst/>
              <a:rect r="r" b="b" t="t" l="l"/>
              <a:pathLst>
                <a:path h="526034" w="608203">
                  <a:moveTo>
                    <a:pt x="0" y="0"/>
                  </a:moveTo>
                  <a:lnTo>
                    <a:pt x="608203" y="0"/>
                  </a:lnTo>
                  <a:lnTo>
                    <a:pt x="304038" y="526034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702625" y="991256"/>
            <a:ext cx="152251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99"/>
              </a:lnSpc>
            </a:pPr>
            <a:r>
              <a:rPr lang="en-US" b="true" sz="5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SEMANTIC LOSS II (PAIRWISE OPTIM.)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702625" y="2418618"/>
            <a:ext cx="13971951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METHOD: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Matrix operations on GPU (Tensor-based)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683743" y="3390168"/>
            <a:ext cx="14724321" cy="1199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THE MECHANISM: 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Compute </a:t>
            </a: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Joint Probability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for all pairs </a:t>
            </a: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simultaneously 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using Batch Matrix Multiplication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83743" y="5027834"/>
            <a:ext cx="14724321" cy="1199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FORMULA: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ℒ_local ∝ −log ∑ᵢ,ₖ ( P(i@j) · P(k@j+1) · 𝐌ᵢ,ₖ )</a:t>
            </a:r>
          </a:p>
          <a:p>
            <a:pPr algn="l" marL="734055" indent="-367027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𝐌ᵢ,ₖ: Validity Mask (1 if Val(i) ≤ Val(k), else 0) 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683743" y="6679682"/>
            <a:ext cx="14724321" cy="23996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KEY ADVANTAGE:</a:t>
            </a:r>
          </a:p>
          <a:p>
            <a:pPr algn="l" marL="734055" indent="-367027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Transitivity: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Local checks (j &lt; j+1) enforce global order</a:t>
            </a:r>
          </a:p>
          <a:p>
            <a:pPr algn="l" marL="734055" indent="-367027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Speed: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Parallelizes the logic evaluation (O(N^2) matrix op)</a:t>
            </a:r>
          </a:p>
          <a:p>
            <a:pPr algn="l" marL="734055" indent="-367027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Result: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Enables scalable training with symbolic guarantees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7029" y="880533"/>
            <a:ext cx="17357748" cy="9211584"/>
          </a:xfrm>
          <a:custGeom>
            <a:avLst/>
            <a:gdLst/>
            <a:ahLst/>
            <a:cxnLst/>
            <a:rect r="r" b="b" t="t" l="l"/>
            <a:pathLst>
              <a:path h="9211584" w="17357748">
                <a:moveTo>
                  <a:pt x="0" y="0"/>
                </a:moveTo>
                <a:lnTo>
                  <a:pt x="17357748" y="0"/>
                </a:lnTo>
                <a:lnTo>
                  <a:pt x="17357748" y="9211584"/>
                </a:lnTo>
                <a:lnTo>
                  <a:pt x="0" y="9211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56500" y="2761162"/>
            <a:ext cx="16597970" cy="3861370"/>
          </a:xfrm>
          <a:custGeom>
            <a:avLst/>
            <a:gdLst/>
            <a:ahLst/>
            <a:cxnLst/>
            <a:rect r="r" b="b" t="t" l="l"/>
            <a:pathLst>
              <a:path h="3861370" w="16597970">
                <a:moveTo>
                  <a:pt x="0" y="0"/>
                </a:moveTo>
                <a:lnTo>
                  <a:pt x="16597970" y="0"/>
                </a:lnTo>
                <a:lnTo>
                  <a:pt x="16597970" y="3861370"/>
                </a:lnTo>
                <a:lnTo>
                  <a:pt x="0" y="386137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 rot="4500">
            <a:off x="1476792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4500">
            <a:off x="1463117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rot="4500">
            <a:off x="1449441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rot="4500">
            <a:off x="1435766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rot="4500">
            <a:off x="1422090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1483975" y="-123525"/>
            <a:ext cx="6531800" cy="995550"/>
            <a:chOff x="0" y="0"/>
            <a:chExt cx="8709067" cy="1327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683" y="3683"/>
              <a:ext cx="8701659" cy="1323721"/>
            </a:xfrm>
            <a:custGeom>
              <a:avLst/>
              <a:gdLst/>
              <a:ahLst/>
              <a:cxnLst/>
              <a:rect r="r" b="b" t="t" l="l"/>
              <a:pathLst>
                <a:path h="1323721" w="8701659">
                  <a:moveTo>
                    <a:pt x="18034" y="0"/>
                  </a:moveTo>
                  <a:lnTo>
                    <a:pt x="1320038" y="1302004"/>
                  </a:lnTo>
                  <a:lnTo>
                    <a:pt x="1311021" y="1311021"/>
                  </a:lnTo>
                  <a:lnTo>
                    <a:pt x="1311021" y="1298321"/>
                  </a:lnTo>
                  <a:lnTo>
                    <a:pt x="6252337" y="1298321"/>
                  </a:lnTo>
                  <a:lnTo>
                    <a:pt x="6252337" y="1311021"/>
                  </a:lnTo>
                  <a:lnTo>
                    <a:pt x="6243320" y="1302004"/>
                  </a:lnTo>
                  <a:lnTo>
                    <a:pt x="6821551" y="723773"/>
                  </a:lnTo>
                  <a:cubicBezTo>
                    <a:pt x="6823964" y="721360"/>
                    <a:pt x="6827139" y="720090"/>
                    <a:pt x="6830568" y="720090"/>
                  </a:cubicBezTo>
                  <a:lnTo>
                    <a:pt x="8080121" y="720090"/>
                  </a:lnTo>
                  <a:lnTo>
                    <a:pt x="8080121" y="732790"/>
                  </a:lnTo>
                  <a:lnTo>
                    <a:pt x="8071104" y="723773"/>
                  </a:lnTo>
                  <a:lnTo>
                    <a:pt x="8683752" y="111252"/>
                  </a:lnTo>
                  <a:lnTo>
                    <a:pt x="8701659" y="129159"/>
                  </a:lnTo>
                  <a:lnTo>
                    <a:pt x="8089011" y="741807"/>
                  </a:lnTo>
                  <a:cubicBezTo>
                    <a:pt x="8086598" y="744220"/>
                    <a:pt x="8083423" y="745490"/>
                    <a:pt x="8079993" y="745490"/>
                  </a:cubicBezTo>
                  <a:lnTo>
                    <a:pt x="6830568" y="745490"/>
                  </a:lnTo>
                  <a:lnTo>
                    <a:pt x="6830568" y="732790"/>
                  </a:lnTo>
                  <a:lnTo>
                    <a:pt x="6839585" y="741807"/>
                  </a:lnTo>
                  <a:lnTo>
                    <a:pt x="6261354" y="1320038"/>
                  </a:lnTo>
                  <a:cubicBezTo>
                    <a:pt x="6258941" y="1322451"/>
                    <a:pt x="6255766" y="1323721"/>
                    <a:pt x="6252337" y="1323721"/>
                  </a:cubicBezTo>
                  <a:lnTo>
                    <a:pt x="1311021" y="1323721"/>
                  </a:lnTo>
                  <a:cubicBezTo>
                    <a:pt x="1307592" y="1323721"/>
                    <a:pt x="1304417" y="1322324"/>
                    <a:pt x="1302004" y="1320038"/>
                  </a:cubicBezTo>
                  <a:lnTo>
                    <a:pt x="0" y="18034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510875" y="6169625"/>
            <a:ext cx="998850" cy="4665200"/>
          </a:xfrm>
          <a:custGeom>
            <a:avLst/>
            <a:gdLst/>
            <a:ahLst/>
            <a:cxnLst/>
            <a:rect r="r" b="b" t="t" l="l"/>
            <a:pathLst>
              <a:path h="4665200" w="998850">
                <a:moveTo>
                  <a:pt x="0" y="0"/>
                </a:moveTo>
                <a:lnTo>
                  <a:pt x="998850" y="0"/>
                </a:lnTo>
                <a:lnTo>
                  <a:pt x="998850" y="4665200"/>
                </a:lnTo>
                <a:lnTo>
                  <a:pt x="0" y="46652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-5400000">
            <a:off x="1014670" y="1265494"/>
            <a:ext cx="456150" cy="394500"/>
            <a:chOff x="0" y="0"/>
            <a:chExt cx="608200" cy="52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08203" cy="526034"/>
            </a:xfrm>
            <a:custGeom>
              <a:avLst/>
              <a:gdLst/>
              <a:ahLst/>
              <a:cxnLst/>
              <a:rect r="r" b="b" t="t" l="l"/>
              <a:pathLst>
                <a:path h="526034" w="608203">
                  <a:moveTo>
                    <a:pt x="0" y="0"/>
                  </a:moveTo>
                  <a:lnTo>
                    <a:pt x="608203" y="0"/>
                  </a:lnTo>
                  <a:lnTo>
                    <a:pt x="304038" y="526034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702625" y="991256"/>
            <a:ext cx="152251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99"/>
              </a:lnSpc>
            </a:pPr>
            <a:r>
              <a:rPr lang="en-US" b="true" sz="5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MODEL &amp; STRUCTURAL CONSTRAINTS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702625" y="2418618"/>
            <a:ext cx="13971951" cy="1562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ARCHITECTURE: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SortNet (MLP)</a:t>
            </a:r>
          </a:p>
          <a:p>
            <a:pPr algn="l" marL="734055" indent="-367027" lvl="1">
              <a:lnSpc>
                <a:spcPts val="4079"/>
              </a:lnSpc>
              <a:buFont typeface="Arial"/>
              <a:buChar char="•"/>
            </a:pP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Input: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5 Integers → </a:t>
            </a: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Hidden: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64-32 (ReLU) → </a:t>
            </a: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Output: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5x5 Matrix</a:t>
            </a:r>
          </a:p>
          <a:p>
            <a:pPr algn="l" marL="734055" indent="-367027" lvl="1">
              <a:lnSpc>
                <a:spcPts val="4079"/>
              </a:lnSpc>
              <a:buFont typeface="Arial"/>
              <a:buChar char="•"/>
            </a:pP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Activation: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Softmax over positions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683743" y="4200842"/>
            <a:ext cx="14724321" cy="1799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CONSTRAINT 1: Exactly - One (Structural)</a:t>
            </a:r>
          </a:p>
          <a:p>
            <a:pPr algn="l" marL="734055" indent="-367027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Logic: 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Every item must be in exactly one position; every position must hold exactly one item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702625" y="6219508"/>
            <a:ext cx="14724321" cy="23996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IMPLEMENTATION: 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Differentiable penalty on probability mass</a:t>
            </a:r>
          </a:p>
          <a:p>
            <a:pPr algn="l" marL="734055" indent="-367027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Rows: 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∑ⱼ Pᵢ,ⱼ = 1 (Item i placed once)</a:t>
            </a:r>
          </a:p>
          <a:p>
            <a:pPr algn="l" marL="734055" indent="-367027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Cols: 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∑ᵢ Pᵢ,ⱼ = 1 (Position j filled once)</a:t>
            </a:r>
          </a:p>
          <a:p>
            <a:pPr algn="l">
              <a:lnSpc>
                <a:spcPts val="4759"/>
              </a:lnSpc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1702625" y="8226000"/>
            <a:ext cx="1482471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  <a:spcBef>
                <a:spcPct val="0"/>
              </a:spcBef>
            </a:pP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ROLE: 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Prevents the network from "cheating" (e.g., duplicating easy numbers)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1125">
            <a:off x="7101403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rot="1125">
            <a:off x="7374914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 rot="1125">
            <a:off x="7238159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1125">
            <a:off x="7511669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rot="1125">
            <a:off x="7648425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rot="1125">
            <a:off x="7785180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rot="1125">
            <a:off x="7921935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 rot="1125">
            <a:off x="8058691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 rot="1125">
            <a:off x="8195446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 rot="1125">
            <a:off x="8332201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2" id="12"/>
          <p:cNvSpPr/>
          <p:nvPr/>
        </p:nvSpPr>
        <p:spPr>
          <a:xfrm flipH="false" flipV="false" rot="0">
            <a:off x="-840069" y="1068077"/>
            <a:ext cx="15292830" cy="10308934"/>
          </a:xfrm>
          <a:custGeom>
            <a:avLst/>
            <a:gdLst/>
            <a:ahLst/>
            <a:cxnLst/>
            <a:rect r="r" b="b" t="t" l="l"/>
            <a:pathLst>
              <a:path h="10308934" w="15292830">
                <a:moveTo>
                  <a:pt x="0" y="0"/>
                </a:moveTo>
                <a:lnTo>
                  <a:pt x="15292830" y="0"/>
                </a:lnTo>
                <a:lnTo>
                  <a:pt x="15292830" y="10308934"/>
                </a:lnTo>
                <a:lnTo>
                  <a:pt x="0" y="1030893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2365025" y="3386498"/>
            <a:ext cx="12087736" cy="4505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760"/>
              </a:lnSpc>
            </a:pPr>
            <a:r>
              <a:rPr lang="en-US" b="true" sz="9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Experimental Results and Comparisons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735450" y="1723450"/>
            <a:ext cx="2503350" cy="1533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760"/>
              </a:lnSpc>
            </a:pPr>
            <a:r>
              <a:rPr lang="en-US" sz="9800">
                <a:solidFill>
                  <a:srgbClr val="00CADA"/>
                </a:solidFill>
                <a:latin typeface="Arimo"/>
                <a:ea typeface="Arimo"/>
                <a:cs typeface="Arimo"/>
                <a:sym typeface="Arimo"/>
              </a:rPr>
              <a:t>04</a:t>
            </a:r>
          </a:p>
        </p:txBody>
      </p:sp>
      <p:grpSp>
        <p:nvGrpSpPr>
          <p:cNvPr name="Group 15" id="15"/>
          <p:cNvGrpSpPr/>
          <p:nvPr/>
        </p:nvGrpSpPr>
        <p:grpSpPr>
          <a:xfrm rot="-5400000">
            <a:off x="1378150" y="3863343"/>
            <a:ext cx="714600" cy="618032"/>
            <a:chOff x="0" y="0"/>
            <a:chExt cx="952800" cy="82404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952754" cy="824103"/>
            </a:xfrm>
            <a:custGeom>
              <a:avLst/>
              <a:gdLst/>
              <a:ahLst/>
              <a:cxnLst/>
              <a:rect r="r" b="b" t="t" l="l"/>
              <a:pathLst>
                <a:path h="824103" w="952754">
                  <a:moveTo>
                    <a:pt x="0" y="0"/>
                  </a:moveTo>
                  <a:lnTo>
                    <a:pt x="952754" y="0"/>
                  </a:lnTo>
                  <a:lnTo>
                    <a:pt x="476377" y="824103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4023225" y="-3239875"/>
            <a:ext cx="3286016" cy="11859112"/>
            <a:chOff x="0" y="0"/>
            <a:chExt cx="4381355" cy="1581214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3683" y="12700"/>
              <a:ext cx="4377690" cy="15795752"/>
            </a:xfrm>
            <a:custGeom>
              <a:avLst/>
              <a:gdLst/>
              <a:ahLst/>
              <a:cxnLst/>
              <a:rect r="r" b="b" t="t" l="l"/>
              <a:pathLst>
                <a:path h="15795752" w="4377690">
                  <a:moveTo>
                    <a:pt x="0" y="15777718"/>
                  </a:moveTo>
                  <a:lnTo>
                    <a:pt x="4355973" y="11421872"/>
                  </a:lnTo>
                  <a:lnTo>
                    <a:pt x="4364990" y="11430889"/>
                  </a:lnTo>
                  <a:lnTo>
                    <a:pt x="4352290" y="11430889"/>
                  </a:lnTo>
                  <a:lnTo>
                    <a:pt x="4352290" y="0"/>
                  </a:lnTo>
                  <a:lnTo>
                    <a:pt x="4377690" y="0"/>
                  </a:lnTo>
                  <a:lnTo>
                    <a:pt x="4377690" y="11430762"/>
                  </a:lnTo>
                  <a:cubicBezTo>
                    <a:pt x="4377690" y="11434191"/>
                    <a:pt x="4376293" y="11437366"/>
                    <a:pt x="4374007" y="11439779"/>
                  </a:cubicBezTo>
                  <a:lnTo>
                    <a:pt x="18034" y="15795752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AutoShape 19" id="19"/>
          <p:cNvSpPr/>
          <p:nvPr/>
        </p:nvSpPr>
        <p:spPr>
          <a:xfrm rot="5394431">
            <a:off x="13263544" y="11175703"/>
            <a:ext cx="5347483" cy="0"/>
          </a:xfrm>
          <a:prstGeom prst="line">
            <a:avLst/>
          </a:prstGeom>
          <a:ln cap="rnd" w="9525">
            <a:solidFill>
              <a:srgbClr val="AFAFB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0" id="20"/>
          <p:cNvSpPr/>
          <p:nvPr/>
        </p:nvSpPr>
        <p:spPr>
          <a:xfrm rot="2674203">
            <a:off x="15718521" y="7985560"/>
            <a:ext cx="1491162" cy="0"/>
          </a:xfrm>
          <a:prstGeom prst="line">
            <a:avLst/>
          </a:prstGeom>
          <a:ln cap="rnd" w="9525">
            <a:solidFill>
              <a:srgbClr val="AFAFB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1" id="21"/>
          <p:cNvGrpSpPr/>
          <p:nvPr/>
        </p:nvGrpSpPr>
        <p:grpSpPr>
          <a:xfrm rot="5400000">
            <a:off x="16910611" y="7121887"/>
            <a:ext cx="395518" cy="391361"/>
            <a:chOff x="0" y="0"/>
            <a:chExt cx="527357" cy="52181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12700" y="12700"/>
              <a:ext cx="515620" cy="510032"/>
            </a:xfrm>
            <a:custGeom>
              <a:avLst/>
              <a:gdLst/>
              <a:ahLst/>
              <a:cxnLst/>
              <a:rect r="r" b="b" t="t" l="l"/>
              <a:pathLst>
                <a:path h="510032" w="515620">
                  <a:moveTo>
                    <a:pt x="0" y="255778"/>
                  </a:moveTo>
                  <a:cubicBezTo>
                    <a:pt x="0" y="397256"/>
                    <a:pt x="118491" y="510032"/>
                    <a:pt x="254508" y="510032"/>
                  </a:cubicBezTo>
                  <a:cubicBezTo>
                    <a:pt x="395986" y="510032"/>
                    <a:pt x="515620" y="397256"/>
                    <a:pt x="515620" y="255778"/>
                  </a:cubicBezTo>
                  <a:cubicBezTo>
                    <a:pt x="515620" y="114300"/>
                    <a:pt x="396113" y="0"/>
                    <a:pt x="254508" y="0"/>
                  </a:cubicBezTo>
                  <a:cubicBezTo>
                    <a:pt x="118491" y="0"/>
                    <a:pt x="0" y="114300"/>
                    <a:pt x="0" y="255778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41020" cy="535432"/>
            </a:xfrm>
            <a:custGeom>
              <a:avLst/>
              <a:gdLst/>
              <a:ahLst/>
              <a:cxnLst/>
              <a:rect r="r" b="b" t="t" l="l"/>
              <a:pathLst>
                <a:path h="535432" w="541020">
                  <a:moveTo>
                    <a:pt x="25400" y="268478"/>
                  </a:moveTo>
                  <a:cubicBezTo>
                    <a:pt x="25400" y="402717"/>
                    <a:pt x="137922" y="510032"/>
                    <a:pt x="267208" y="510032"/>
                  </a:cubicBezTo>
                  <a:lnTo>
                    <a:pt x="267208" y="522732"/>
                  </a:lnTo>
                  <a:lnTo>
                    <a:pt x="267208" y="510032"/>
                  </a:lnTo>
                  <a:cubicBezTo>
                    <a:pt x="402209" y="510032"/>
                    <a:pt x="515620" y="402463"/>
                    <a:pt x="515620" y="268478"/>
                  </a:cubicBezTo>
                  <a:lnTo>
                    <a:pt x="528320" y="268478"/>
                  </a:lnTo>
                  <a:lnTo>
                    <a:pt x="515620" y="268478"/>
                  </a:lnTo>
                  <a:cubicBezTo>
                    <a:pt x="515620" y="134366"/>
                    <a:pt x="402082" y="25400"/>
                    <a:pt x="267208" y="25400"/>
                  </a:cubicBezTo>
                  <a:lnTo>
                    <a:pt x="267208" y="12700"/>
                  </a:lnTo>
                  <a:lnTo>
                    <a:pt x="267208" y="25400"/>
                  </a:lnTo>
                  <a:cubicBezTo>
                    <a:pt x="138049" y="25400"/>
                    <a:pt x="25400" y="134112"/>
                    <a:pt x="25400" y="268478"/>
                  </a:cubicBezTo>
                  <a:lnTo>
                    <a:pt x="12700" y="268478"/>
                  </a:lnTo>
                  <a:lnTo>
                    <a:pt x="25400" y="268478"/>
                  </a:lnTo>
                  <a:moveTo>
                    <a:pt x="0" y="268478"/>
                  </a:moveTo>
                  <a:cubicBezTo>
                    <a:pt x="0" y="119888"/>
                    <a:pt x="124206" y="0"/>
                    <a:pt x="267208" y="0"/>
                  </a:cubicBezTo>
                  <a:cubicBezTo>
                    <a:pt x="415417" y="0"/>
                    <a:pt x="541020" y="119634"/>
                    <a:pt x="541020" y="268478"/>
                  </a:cubicBezTo>
                  <a:cubicBezTo>
                    <a:pt x="541020" y="417322"/>
                    <a:pt x="415290" y="535432"/>
                    <a:pt x="267208" y="535432"/>
                  </a:cubicBezTo>
                  <a:cubicBezTo>
                    <a:pt x="124333" y="535432"/>
                    <a:pt x="0" y="417195"/>
                    <a:pt x="0" y="268478"/>
                  </a:cubicBezTo>
                  <a:close/>
                </a:path>
              </a:pathLst>
            </a:custGeom>
            <a:solidFill>
              <a:srgbClr val="AFAFB6"/>
            </a:solidFill>
          </p:spPr>
        </p:sp>
      </p:grpSp>
      <p:sp>
        <p:nvSpPr>
          <p:cNvPr name="AutoShape 24" id="24"/>
          <p:cNvSpPr/>
          <p:nvPr/>
        </p:nvSpPr>
        <p:spPr>
          <a:xfrm rot="5394431">
            <a:off x="-2543517" y="1493858"/>
            <a:ext cx="5347483" cy="0"/>
          </a:xfrm>
          <a:prstGeom prst="line">
            <a:avLst/>
          </a:prstGeom>
          <a:ln cap="rnd" w="9525">
            <a:solidFill>
              <a:srgbClr val="00CAD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 rot="2674203">
            <a:off x="2574787" y="2020674"/>
            <a:ext cx="1491162" cy="0"/>
          </a:xfrm>
          <a:prstGeom prst="line">
            <a:avLst/>
          </a:prstGeom>
          <a:ln cap="rnd" w="9525">
            <a:solidFill>
              <a:srgbClr val="00CAD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6" id="26"/>
          <p:cNvGrpSpPr/>
          <p:nvPr/>
        </p:nvGrpSpPr>
        <p:grpSpPr>
          <a:xfrm rot="-10800000">
            <a:off x="3790601" y="2469261"/>
            <a:ext cx="395518" cy="391361"/>
            <a:chOff x="0" y="0"/>
            <a:chExt cx="527357" cy="52181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00" y="12700"/>
              <a:ext cx="515620" cy="510032"/>
            </a:xfrm>
            <a:custGeom>
              <a:avLst/>
              <a:gdLst/>
              <a:ahLst/>
              <a:cxnLst/>
              <a:rect r="r" b="b" t="t" l="l"/>
              <a:pathLst>
                <a:path h="510032" w="515620">
                  <a:moveTo>
                    <a:pt x="0" y="255778"/>
                  </a:moveTo>
                  <a:cubicBezTo>
                    <a:pt x="0" y="397256"/>
                    <a:pt x="118491" y="510032"/>
                    <a:pt x="254508" y="510032"/>
                  </a:cubicBezTo>
                  <a:cubicBezTo>
                    <a:pt x="395986" y="510032"/>
                    <a:pt x="515620" y="397256"/>
                    <a:pt x="515620" y="255778"/>
                  </a:cubicBezTo>
                  <a:cubicBezTo>
                    <a:pt x="515620" y="114300"/>
                    <a:pt x="396113" y="0"/>
                    <a:pt x="254508" y="0"/>
                  </a:cubicBezTo>
                  <a:cubicBezTo>
                    <a:pt x="118491" y="0"/>
                    <a:pt x="0" y="114300"/>
                    <a:pt x="0" y="255778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541020" cy="535432"/>
            </a:xfrm>
            <a:custGeom>
              <a:avLst/>
              <a:gdLst/>
              <a:ahLst/>
              <a:cxnLst/>
              <a:rect r="r" b="b" t="t" l="l"/>
              <a:pathLst>
                <a:path h="535432" w="541020">
                  <a:moveTo>
                    <a:pt x="25400" y="268478"/>
                  </a:moveTo>
                  <a:cubicBezTo>
                    <a:pt x="25400" y="402717"/>
                    <a:pt x="137922" y="510032"/>
                    <a:pt x="267208" y="510032"/>
                  </a:cubicBezTo>
                  <a:lnTo>
                    <a:pt x="267208" y="522732"/>
                  </a:lnTo>
                  <a:lnTo>
                    <a:pt x="267208" y="510032"/>
                  </a:lnTo>
                  <a:cubicBezTo>
                    <a:pt x="402209" y="510032"/>
                    <a:pt x="515620" y="402463"/>
                    <a:pt x="515620" y="268478"/>
                  </a:cubicBezTo>
                  <a:lnTo>
                    <a:pt x="528320" y="268478"/>
                  </a:lnTo>
                  <a:lnTo>
                    <a:pt x="515620" y="268478"/>
                  </a:lnTo>
                  <a:cubicBezTo>
                    <a:pt x="515620" y="134366"/>
                    <a:pt x="402082" y="25400"/>
                    <a:pt x="267208" y="25400"/>
                  </a:cubicBezTo>
                  <a:lnTo>
                    <a:pt x="267208" y="12700"/>
                  </a:lnTo>
                  <a:lnTo>
                    <a:pt x="267208" y="25400"/>
                  </a:lnTo>
                  <a:cubicBezTo>
                    <a:pt x="138049" y="25400"/>
                    <a:pt x="25400" y="134112"/>
                    <a:pt x="25400" y="268478"/>
                  </a:cubicBezTo>
                  <a:lnTo>
                    <a:pt x="12700" y="268478"/>
                  </a:lnTo>
                  <a:lnTo>
                    <a:pt x="25400" y="268478"/>
                  </a:lnTo>
                  <a:moveTo>
                    <a:pt x="0" y="268478"/>
                  </a:moveTo>
                  <a:cubicBezTo>
                    <a:pt x="0" y="119888"/>
                    <a:pt x="124206" y="0"/>
                    <a:pt x="267208" y="0"/>
                  </a:cubicBezTo>
                  <a:cubicBezTo>
                    <a:pt x="415417" y="0"/>
                    <a:pt x="541020" y="119634"/>
                    <a:pt x="541020" y="268478"/>
                  </a:cubicBezTo>
                  <a:cubicBezTo>
                    <a:pt x="541020" y="417322"/>
                    <a:pt x="415290" y="535432"/>
                    <a:pt x="267208" y="535432"/>
                  </a:cubicBezTo>
                  <a:cubicBezTo>
                    <a:pt x="124333" y="535432"/>
                    <a:pt x="0" y="417195"/>
                    <a:pt x="0" y="268478"/>
                  </a:cubicBez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Freeform 29" id="29"/>
          <p:cNvSpPr/>
          <p:nvPr/>
        </p:nvSpPr>
        <p:spPr>
          <a:xfrm flipH="false" flipV="false" rot="0">
            <a:off x="7101354" y="-879740"/>
            <a:ext cx="12029926" cy="3961744"/>
          </a:xfrm>
          <a:custGeom>
            <a:avLst/>
            <a:gdLst/>
            <a:ahLst/>
            <a:cxnLst/>
            <a:rect r="r" b="b" t="t" l="l"/>
            <a:pathLst>
              <a:path h="3961744" w="12029926">
                <a:moveTo>
                  <a:pt x="0" y="0"/>
                </a:moveTo>
                <a:lnTo>
                  <a:pt x="12029926" y="0"/>
                </a:lnTo>
                <a:lnTo>
                  <a:pt x="12029926" y="3961744"/>
                </a:lnTo>
                <a:lnTo>
                  <a:pt x="0" y="396174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4433721" y="2520720"/>
            <a:ext cx="2339172" cy="1055849"/>
          </a:xfrm>
          <a:custGeom>
            <a:avLst/>
            <a:gdLst/>
            <a:ahLst/>
            <a:cxnLst/>
            <a:rect r="r" b="b" t="t" l="l"/>
            <a:pathLst>
              <a:path h="1055849" w="2339172">
                <a:moveTo>
                  <a:pt x="0" y="0"/>
                </a:moveTo>
                <a:lnTo>
                  <a:pt x="2339172" y="0"/>
                </a:lnTo>
                <a:lnTo>
                  <a:pt x="2339172" y="1055849"/>
                </a:lnTo>
                <a:lnTo>
                  <a:pt x="0" y="105584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7029" y="880533"/>
            <a:ext cx="17357748" cy="9211584"/>
          </a:xfrm>
          <a:custGeom>
            <a:avLst/>
            <a:gdLst/>
            <a:ahLst/>
            <a:cxnLst/>
            <a:rect r="r" b="b" t="t" l="l"/>
            <a:pathLst>
              <a:path h="9211584" w="17357748">
                <a:moveTo>
                  <a:pt x="0" y="0"/>
                </a:moveTo>
                <a:lnTo>
                  <a:pt x="17357748" y="0"/>
                </a:lnTo>
                <a:lnTo>
                  <a:pt x="17357748" y="9211584"/>
                </a:lnTo>
                <a:lnTo>
                  <a:pt x="0" y="9211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114576" y="2277131"/>
            <a:ext cx="14175615" cy="5967918"/>
          </a:xfrm>
          <a:custGeom>
            <a:avLst/>
            <a:gdLst/>
            <a:ahLst/>
            <a:cxnLst/>
            <a:rect r="r" b="b" t="t" l="l"/>
            <a:pathLst>
              <a:path h="5967918" w="14175615">
                <a:moveTo>
                  <a:pt x="0" y="0"/>
                </a:moveTo>
                <a:lnTo>
                  <a:pt x="14175615" y="0"/>
                </a:lnTo>
                <a:lnTo>
                  <a:pt x="14175615" y="5967919"/>
                </a:lnTo>
                <a:lnTo>
                  <a:pt x="0" y="5967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08" t="-367" r="0" b="-367"/>
            </a:stretch>
          </a:blipFill>
        </p:spPr>
      </p:sp>
      <p:sp>
        <p:nvSpPr>
          <p:cNvPr name="AutoShape 4" id="4"/>
          <p:cNvSpPr/>
          <p:nvPr/>
        </p:nvSpPr>
        <p:spPr>
          <a:xfrm rot="4500">
            <a:off x="1476792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4500">
            <a:off x="1463117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rot="4500">
            <a:off x="1449441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rot="4500">
            <a:off x="1435766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rot="4500">
            <a:off x="1422090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1483975" y="-123525"/>
            <a:ext cx="6531800" cy="995550"/>
            <a:chOff x="0" y="0"/>
            <a:chExt cx="8709067" cy="1327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683" y="3683"/>
              <a:ext cx="8701659" cy="1323721"/>
            </a:xfrm>
            <a:custGeom>
              <a:avLst/>
              <a:gdLst/>
              <a:ahLst/>
              <a:cxnLst/>
              <a:rect r="r" b="b" t="t" l="l"/>
              <a:pathLst>
                <a:path h="1323721" w="8701659">
                  <a:moveTo>
                    <a:pt x="18034" y="0"/>
                  </a:moveTo>
                  <a:lnTo>
                    <a:pt x="1320038" y="1302004"/>
                  </a:lnTo>
                  <a:lnTo>
                    <a:pt x="1311021" y="1311021"/>
                  </a:lnTo>
                  <a:lnTo>
                    <a:pt x="1311021" y="1298321"/>
                  </a:lnTo>
                  <a:lnTo>
                    <a:pt x="6252337" y="1298321"/>
                  </a:lnTo>
                  <a:lnTo>
                    <a:pt x="6252337" y="1311021"/>
                  </a:lnTo>
                  <a:lnTo>
                    <a:pt x="6243320" y="1302004"/>
                  </a:lnTo>
                  <a:lnTo>
                    <a:pt x="6821551" y="723773"/>
                  </a:lnTo>
                  <a:cubicBezTo>
                    <a:pt x="6823964" y="721360"/>
                    <a:pt x="6827139" y="720090"/>
                    <a:pt x="6830568" y="720090"/>
                  </a:cubicBezTo>
                  <a:lnTo>
                    <a:pt x="8080121" y="720090"/>
                  </a:lnTo>
                  <a:lnTo>
                    <a:pt x="8080121" y="732790"/>
                  </a:lnTo>
                  <a:lnTo>
                    <a:pt x="8071104" y="723773"/>
                  </a:lnTo>
                  <a:lnTo>
                    <a:pt x="8683752" y="111252"/>
                  </a:lnTo>
                  <a:lnTo>
                    <a:pt x="8701659" y="129159"/>
                  </a:lnTo>
                  <a:lnTo>
                    <a:pt x="8089011" y="741807"/>
                  </a:lnTo>
                  <a:cubicBezTo>
                    <a:pt x="8086598" y="744220"/>
                    <a:pt x="8083423" y="745490"/>
                    <a:pt x="8079993" y="745490"/>
                  </a:cubicBezTo>
                  <a:lnTo>
                    <a:pt x="6830568" y="745490"/>
                  </a:lnTo>
                  <a:lnTo>
                    <a:pt x="6830568" y="732790"/>
                  </a:lnTo>
                  <a:lnTo>
                    <a:pt x="6839585" y="741807"/>
                  </a:lnTo>
                  <a:lnTo>
                    <a:pt x="6261354" y="1320038"/>
                  </a:lnTo>
                  <a:cubicBezTo>
                    <a:pt x="6258941" y="1322451"/>
                    <a:pt x="6255766" y="1323721"/>
                    <a:pt x="6252337" y="1323721"/>
                  </a:cubicBezTo>
                  <a:lnTo>
                    <a:pt x="1311021" y="1323721"/>
                  </a:lnTo>
                  <a:cubicBezTo>
                    <a:pt x="1307592" y="1323721"/>
                    <a:pt x="1304417" y="1322324"/>
                    <a:pt x="1302004" y="1320038"/>
                  </a:cubicBezTo>
                  <a:lnTo>
                    <a:pt x="0" y="18034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510875" y="6169625"/>
            <a:ext cx="998850" cy="4665200"/>
          </a:xfrm>
          <a:custGeom>
            <a:avLst/>
            <a:gdLst/>
            <a:ahLst/>
            <a:cxnLst/>
            <a:rect r="r" b="b" t="t" l="l"/>
            <a:pathLst>
              <a:path h="4665200" w="998850">
                <a:moveTo>
                  <a:pt x="0" y="0"/>
                </a:moveTo>
                <a:lnTo>
                  <a:pt x="998850" y="0"/>
                </a:lnTo>
                <a:lnTo>
                  <a:pt x="998850" y="4665200"/>
                </a:lnTo>
                <a:lnTo>
                  <a:pt x="0" y="46652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-5400000">
            <a:off x="1014670" y="1265494"/>
            <a:ext cx="456150" cy="394500"/>
            <a:chOff x="0" y="0"/>
            <a:chExt cx="608200" cy="52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08203" cy="526034"/>
            </a:xfrm>
            <a:custGeom>
              <a:avLst/>
              <a:gdLst/>
              <a:ahLst/>
              <a:cxnLst/>
              <a:rect r="r" b="b" t="t" l="l"/>
              <a:pathLst>
                <a:path h="526034" w="608203">
                  <a:moveTo>
                    <a:pt x="0" y="0"/>
                  </a:moveTo>
                  <a:lnTo>
                    <a:pt x="608203" y="0"/>
                  </a:lnTo>
                  <a:lnTo>
                    <a:pt x="304038" y="526034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702625" y="991256"/>
            <a:ext cx="152251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99"/>
              </a:lnSpc>
            </a:pPr>
            <a:r>
              <a:rPr lang="en-US" b="true" sz="5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LEARNING CURVE - 1% LABELS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769836" y="8467725"/>
            <a:ext cx="14997831" cy="1562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  <a:spcBef>
                <a:spcPct val="0"/>
              </a:spcBef>
            </a:pP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INSIGHT</a:t>
            </a: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: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Semantic Loss </a:t>
            </a: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drastically outperforms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the baseline in data-scarce scenarios, effectively </a:t>
            </a: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preventing overfitting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where supervised signals are insufficient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7029" y="880533"/>
            <a:ext cx="17357748" cy="9211584"/>
          </a:xfrm>
          <a:custGeom>
            <a:avLst/>
            <a:gdLst/>
            <a:ahLst/>
            <a:cxnLst/>
            <a:rect r="r" b="b" t="t" l="l"/>
            <a:pathLst>
              <a:path h="9211584" w="17357748">
                <a:moveTo>
                  <a:pt x="0" y="0"/>
                </a:moveTo>
                <a:lnTo>
                  <a:pt x="17357748" y="0"/>
                </a:lnTo>
                <a:lnTo>
                  <a:pt x="17357748" y="9211584"/>
                </a:lnTo>
                <a:lnTo>
                  <a:pt x="0" y="9211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935524" y="2080054"/>
            <a:ext cx="10220759" cy="6241848"/>
          </a:xfrm>
          <a:custGeom>
            <a:avLst/>
            <a:gdLst/>
            <a:ahLst/>
            <a:cxnLst/>
            <a:rect r="r" b="b" t="t" l="l"/>
            <a:pathLst>
              <a:path h="6241848" w="10220759">
                <a:moveTo>
                  <a:pt x="0" y="0"/>
                </a:moveTo>
                <a:lnTo>
                  <a:pt x="10220758" y="0"/>
                </a:lnTo>
                <a:lnTo>
                  <a:pt x="10220758" y="6241848"/>
                </a:lnTo>
                <a:lnTo>
                  <a:pt x="0" y="624184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97" t="-1360" r="0" b="-1360"/>
            </a:stretch>
          </a:blipFill>
        </p:spPr>
      </p:sp>
      <p:sp>
        <p:nvSpPr>
          <p:cNvPr name="AutoShape 4" id="4"/>
          <p:cNvSpPr/>
          <p:nvPr/>
        </p:nvSpPr>
        <p:spPr>
          <a:xfrm rot="4500">
            <a:off x="1476792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4500">
            <a:off x="1463117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rot="4500">
            <a:off x="1449441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rot="4500">
            <a:off x="1435766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rot="4500">
            <a:off x="1422090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1483975" y="-123525"/>
            <a:ext cx="6531800" cy="995550"/>
            <a:chOff x="0" y="0"/>
            <a:chExt cx="8709067" cy="1327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683" y="3683"/>
              <a:ext cx="8701659" cy="1323721"/>
            </a:xfrm>
            <a:custGeom>
              <a:avLst/>
              <a:gdLst/>
              <a:ahLst/>
              <a:cxnLst/>
              <a:rect r="r" b="b" t="t" l="l"/>
              <a:pathLst>
                <a:path h="1323721" w="8701659">
                  <a:moveTo>
                    <a:pt x="18034" y="0"/>
                  </a:moveTo>
                  <a:lnTo>
                    <a:pt x="1320038" y="1302004"/>
                  </a:lnTo>
                  <a:lnTo>
                    <a:pt x="1311021" y="1311021"/>
                  </a:lnTo>
                  <a:lnTo>
                    <a:pt x="1311021" y="1298321"/>
                  </a:lnTo>
                  <a:lnTo>
                    <a:pt x="6252337" y="1298321"/>
                  </a:lnTo>
                  <a:lnTo>
                    <a:pt x="6252337" y="1311021"/>
                  </a:lnTo>
                  <a:lnTo>
                    <a:pt x="6243320" y="1302004"/>
                  </a:lnTo>
                  <a:lnTo>
                    <a:pt x="6821551" y="723773"/>
                  </a:lnTo>
                  <a:cubicBezTo>
                    <a:pt x="6823964" y="721360"/>
                    <a:pt x="6827139" y="720090"/>
                    <a:pt x="6830568" y="720090"/>
                  </a:cubicBezTo>
                  <a:lnTo>
                    <a:pt x="8080121" y="720090"/>
                  </a:lnTo>
                  <a:lnTo>
                    <a:pt x="8080121" y="732790"/>
                  </a:lnTo>
                  <a:lnTo>
                    <a:pt x="8071104" y="723773"/>
                  </a:lnTo>
                  <a:lnTo>
                    <a:pt x="8683752" y="111252"/>
                  </a:lnTo>
                  <a:lnTo>
                    <a:pt x="8701659" y="129159"/>
                  </a:lnTo>
                  <a:lnTo>
                    <a:pt x="8089011" y="741807"/>
                  </a:lnTo>
                  <a:cubicBezTo>
                    <a:pt x="8086598" y="744220"/>
                    <a:pt x="8083423" y="745490"/>
                    <a:pt x="8079993" y="745490"/>
                  </a:cubicBezTo>
                  <a:lnTo>
                    <a:pt x="6830568" y="745490"/>
                  </a:lnTo>
                  <a:lnTo>
                    <a:pt x="6830568" y="732790"/>
                  </a:lnTo>
                  <a:lnTo>
                    <a:pt x="6839585" y="741807"/>
                  </a:lnTo>
                  <a:lnTo>
                    <a:pt x="6261354" y="1320038"/>
                  </a:lnTo>
                  <a:cubicBezTo>
                    <a:pt x="6258941" y="1322451"/>
                    <a:pt x="6255766" y="1323721"/>
                    <a:pt x="6252337" y="1323721"/>
                  </a:cubicBezTo>
                  <a:lnTo>
                    <a:pt x="1311021" y="1323721"/>
                  </a:lnTo>
                  <a:cubicBezTo>
                    <a:pt x="1307592" y="1323721"/>
                    <a:pt x="1304417" y="1322324"/>
                    <a:pt x="1302004" y="1320038"/>
                  </a:cubicBezTo>
                  <a:lnTo>
                    <a:pt x="0" y="18034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510875" y="6169625"/>
            <a:ext cx="998850" cy="4665200"/>
          </a:xfrm>
          <a:custGeom>
            <a:avLst/>
            <a:gdLst/>
            <a:ahLst/>
            <a:cxnLst/>
            <a:rect r="r" b="b" t="t" l="l"/>
            <a:pathLst>
              <a:path h="4665200" w="998850">
                <a:moveTo>
                  <a:pt x="0" y="0"/>
                </a:moveTo>
                <a:lnTo>
                  <a:pt x="998850" y="0"/>
                </a:lnTo>
                <a:lnTo>
                  <a:pt x="998850" y="4665200"/>
                </a:lnTo>
                <a:lnTo>
                  <a:pt x="0" y="46652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-5400000">
            <a:off x="1014670" y="1265494"/>
            <a:ext cx="456150" cy="394500"/>
            <a:chOff x="0" y="0"/>
            <a:chExt cx="608200" cy="52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08203" cy="526034"/>
            </a:xfrm>
            <a:custGeom>
              <a:avLst/>
              <a:gdLst/>
              <a:ahLst/>
              <a:cxnLst/>
              <a:rect r="r" b="b" t="t" l="l"/>
              <a:pathLst>
                <a:path h="526034" w="608203">
                  <a:moveTo>
                    <a:pt x="0" y="0"/>
                  </a:moveTo>
                  <a:lnTo>
                    <a:pt x="608203" y="0"/>
                  </a:lnTo>
                  <a:lnTo>
                    <a:pt x="304038" y="526034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702625" y="991256"/>
            <a:ext cx="15556675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99"/>
              </a:lnSpc>
            </a:pPr>
            <a:r>
              <a:rPr lang="en-US" b="true" sz="5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CONVERGENCE SPEED - 1% LABELS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769836" y="8467725"/>
            <a:ext cx="14997831" cy="1562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  <a:spcBef>
                <a:spcPct val="0"/>
              </a:spcBef>
            </a:pP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INSIGHT</a:t>
            </a: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: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The injection of log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ic 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ac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ts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as a </a:t>
            </a: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strong 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"cold start" </a:t>
            </a: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accelerator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, allow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ing 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the m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o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d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 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o reach </a:t>
            </a: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optimal performance significantly earlier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than the baseline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7029" y="880533"/>
            <a:ext cx="17357748" cy="9211584"/>
          </a:xfrm>
          <a:custGeom>
            <a:avLst/>
            <a:gdLst/>
            <a:ahLst/>
            <a:cxnLst/>
            <a:rect r="r" b="b" t="t" l="l"/>
            <a:pathLst>
              <a:path h="9211584" w="17357748">
                <a:moveTo>
                  <a:pt x="0" y="0"/>
                </a:moveTo>
                <a:lnTo>
                  <a:pt x="17357748" y="0"/>
                </a:lnTo>
                <a:lnTo>
                  <a:pt x="17357748" y="9211584"/>
                </a:lnTo>
                <a:lnTo>
                  <a:pt x="0" y="9211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114576" y="2277131"/>
            <a:ext cx="14175615" cy="5967918"/>
          </a:xfrm>
          <a:custGeom>
            <a:avLst/>
            <a:gdLst/>
            <a:ahLst/>
            <a:cxnLst/>
            <a:rect r="r" b="b" t="t" l="l"/>
            <a:pathLst>
              <a:path h="5967918" w="14175615">
                <a:moveTo>
                  <a:pt x="0" y="0"/>
                </a:moveTo>
                <a:lnTo>
                  <a:pt x="14175615" y="0"/>
                </a:lnTo>
                <a:lnTo>
                  <a:pt x="14175615" y="5967919"/>
                </a:lnTo>
                <a:lnTo>
                  <a:pt x="0" y="5967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313" r="0" b="-313"/>
            </a:stretch>
          </a:blipFill>
        </p:spPr>
      </p:sp>
      <p:sp>
        <p:nvSpPr>
          <p:cNvPr name="AutoShape 4" id="4"/>
          <p:cNvSpPr/>
          <p:nvPr/>
        </p:nvSpPr>
        <p:spPr>
          <a:xfrm rot="4500">
            <a:off x="1476792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4500">
            <a:off x="1463117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rot="4500">
            <a:off x="1449441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rot="4500">
            <a:off x="1435766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rot="4500">
            <a:off x="1422090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1483975" y="-123525"/>
            <a:ext cx="6531800" cy="995550"/>
            <a:chOff x="0" y="0"/>
            <a:chExt cx="8709067" cy="1327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683" y="3683"/>
              <a:ext cx="8701659" cy="1323721"/>
            </a:xfrm>
            <a:custGeom>
              <a:avLst/>
              <a:gdLst/>
              <a:ahLst/>
              <a:cxnLst/>
              <a:rect r="r" b="b" t="t" l="l"/>
              <a:pathLst>
                <a:path h="1323721" w="8701659">
                  <a:moveTo>
                    <a:pt x="18034" y="0"/>
                  </a:moveTo>
                  <a:lnTo>
                    <a:pt x="1320038" y="1302004"/>
                  </a:lnTo>
                  <a:lnTo>
                    <a:pt x="1311021" y="1311021"/>
                  </a:lnTo>
                  <a:lnTo>
                    <a:pt x="1311021" y="1298321"/>
                  </a:lnTo>
                  <a:lnTo>
                    <a:pt x="6252337" y="1298321"/>
                  </a:lnTo>
                  <a:lnTo>
                    <a:pt x="6252337" y="1311021"/>
                  </a:lnTo>
                  <a:lnTo>
                    <a:pt x="6243320" y="1302004"/>
                  </a:lnTo>
                  <a:lnTo>
                    <a:pt x="6821551" y="723773"/>
                  </a:lnTo>
                  <a:cubicBezTo>
                    <a:pt x="6823964" y="721360"/>
                    <a:pt x="6827139" y="720090"/>
                    <a:pt x="6830568" y="720090"/>
                  </a:cubicBezTo>
                  <a:lnTo>
                    <a:pt x="8080121" y="720090"/>
                  </a:lnTo>
                  <a:lnTo>
                    <a:pt x="8080121" y="732790"/>
                  </a:lnTo>
                  <a:lnTo>
                    <a:pt x="8071104" y="723773"/>
                  </a:lnTo>
                  <a:lnTo>
                    <a:pt x="8683752" y="111252"/>
                  </a:lnTo>
                  <a:lnTo>
                    <a:pt x="8701659" y="129159"/>
                  </a:lnTo>
                  <a:lnTo>
                    <a:pt x="8089011" y="741807"/>
                  </a:lnTo>
                  <a:cubicBezTo>
                    <a:pt x="8086598" y="744220"/>
                    <a:pt x="8083423" y="745490"/>
                    <a:pt x="8079993" y="745490"/>
                  </a:cubicBezTo>
                  <a:lnTo>
                    <a:pt x="6830568" y="745490"/>
                  </a:lnTo>
                  <a:lnTo>
                    <a:pt x="6830568" y="732790"/>
                  </a:lnTo>
                  <a:lnTo>
                    <a:pt x="6839585" y="741807"/>
                  </a:lnTo>
                  <a:lnTo>
                    <a:pt x="6261354" y="1320038"/>
                  </a:lnTo>
                  <a:cubicBezTo>
                    <a:pt x="6258941" y="1322451"/>
                    <a:pt x="6255766" y="1323721"/>
                    <a:pt x="6252337" y="1323721"/>
                  </a:cubicBezTo>
                  <a:lnTo>
                    <a:pt x="1311021" y="1323721"/>
                  </a:lnTo>
                  <a:cubicBezTo>
                    <a:pt x="1307592" y="1323721"/>
                    <a:pt x="1304417" y="1322324"/>
                    <a:pt x="1302004" y="1320038"/>
                  </a:cubicBezTo>
                  <a:lnTo>
                    <a:pt x="0" y="18034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510875" y="6169625"/>
            <a:ext cx="998850" cy="4665200"/>
          </a:xfrm>
          <a:custGeom>
            <a:avLst/>
            <a:gdLst/>
            <a:ahLst/>
            <a:cxnLst/>
            <a:rect r="r" b="b" t="t" l="l"/>
            <a:pathLst>
              <a:path h="4665200" w="998850">
                <a:moveTo>
                  <a:pt x="0" y="0"/>
                </a:moveTo>
                <a:lnTo>
                  <a:pt x="998850" y="0"/>
                </a:lnTo>
                <a:lnTo>
                  <a:pt x="998850" y="4665200"/>
                </a:lnTo>
                <a:lnTo>
                  <a:pt x="0" y="46652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-5400000">
            <a:off x="1014670" y="1265494"/>
            <a:ext cx="456150" cy="394500"/>
            <a:chOff x="0" y="0"/>
            <a:chExt cx="608200" cy="52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08203" cy="526034"/>
            </a:xfrm>
            <a:custGeom>
              <a:avLst/>
              <a:gdLst/>
              <a:ahLst/>
              <a:cxnLst/>
              <a:rect r="r" b="b" t="t" l="l"/>
              <a:pathLst>
                <a:path h="526034" w="608203">
                  <a:moveTo>
                    <a:pt x="0" y="0"/>
                  </a:moveTo>
                  <a:lnTo>
                    <a:pt x="608203" y="0"/>
                  </a:lnTo>
                  <a:lnTo>
                    <a:pt x="304038" y="526034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702625" y="991256"/>
            <a:ext cx="152251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99"/>
              </a:lnSpc>
            </a:pPr>
            <a:r>
              <a:rPr lang="en-US" b="true" sz="5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LEARNING CURVE - 10% LABELS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769836" y="8467725"/>
            <a:ext cx="14997831" cy="1562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  <a:spcBef>
                <a:spcPct val="0"/>
              </a:spcBef>
            </a:pP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INSIGHT</a:t>
            </a: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: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As labeled data </a:t>
            </a: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increases the performance gap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narrows, yet th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N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uro-Symbol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i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m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o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d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</a:t>
            </a: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 maintains superior stability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and</a:t>
            </a: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 lower variance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during training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7029" y="880533"/>
            <a:ext cx="17357748" cy="9211584"/>
          </a:xfrm>
          <a:custGeom>
            <a:avLst/>
            <a:gdLst/>
            <a:ahLst/>
            <a:cxnLst/>
            <a:rect r="r" b="b" t="t" l="l"/>
            <a:pathLst>
              <a:path h="9211584" w="17357748">
                <a:moveTo>
                  <a:pt x="0" y="0"/>
                </a:moveTo>
                <a:lnTo>
                  <a:pt x="17357748" y="0"/>
                </a:lnTo>
                <a:lnTo>
                  <a:pt x="17357748" y="9211584"/>
                </a:lnTo>
                <a:lnTo>
                  <a:pt x="0" y="9211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935524" y="2080054"/>
            <a:ext cx="10220759" cy="6241848"/>
          </a:xfrm>
          <a:custGeom>
            <a:avLst/>
            <a:gdLst/>
            <a:ahLst/>
            <a:cxnLst/>
            <a:rect r="r" b="b" t="t" l="l"/>
            <a:pathLst>
              <a:path h="6241848" w="10220759">
                <a:moveTo>
                  <a:pt x="0" y="0"/>
                </a:moveTo>
                <a:lnTo>
                  <a:pt x="10220758" y="0"/>
                </a:lnTo>
                <a:lnTo>
                  <a:pt x="10220758" y="6241848"/>
                </a:lnTo>
                <a:lnTo>
                  <a:pt x="0" y="624184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1058" r="0" b="-1058"/>
            </a:stretch>
          </a:blipFill>
        </p:spPr>
      </p:sp>
      <p:sp>
        <p:nvSpPr>
          <p:cNvPr name="AutoShape 4" id="4"/>
          <p:cNvSpPr/>
          <p:nvPr/>
        </p:nvSpPr>
        <p:spPr>
          <a:xfrm rot="4500">
            <a:off x="1476792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4500">
            <a:off x="1463117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rot="4500">
            <a:off x="1449441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rot="4500">
            <a:off x="1435766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rot="4500">
            <a:off x="1422090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1483975" y="-123525"/>
            <a:ext cx="6531800" cy="995550"/>
            <a:chOff x="0" y="0"/>
            <a:chExt cx="8709067" cy="1327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683" y="3683"/>
              <a:ext cx="8701659" cy="1323721"/>
            </a:xfrm>
            <a:custGeom>
              <a:avLst/>
              <a:gdLst/>
              <a:ahLst/>
              <a:cxnLst/>
              <a:rect r="r" b="b" t="t" l="l"/>
              <a:pathLst>
                <a:path h="1323721" w="8701659">
                  <a:moveTo>
                    <a:pt x="18034" y="0"/>
                  </a:moveTo>
                  <a:lnTo>
                    <a:pt x="1320038" y="1302004"/>
                  </a:lnTo>
                  <a:lnTo>
                    <a:pt x="1311021" y="1311021"/>
                  </a:lnTo>
                  <a:lnTo>
                    <a:pt x="1311021" y="1298321"/>
                  </a:lnTo>
                  <a:lnTo>
                    <a:pt x="6252337" y="1298321"/>
                  </a:lnTo>
                  <a:lnTo>
                    <a:pt x="6252337" y="1311021"/>
                  </a:lnTo>
                  <a:lnTo>
                    <a:pt x="6243320" y="1302004"/>
                  </a:lnTo>
                  <a:lnTo>
                    <a:pt x="6821551" y="723773"/>
                  </a:lnTo>
                  <a:cubicBezTo>
                    <a:pt x="6823964" y="721360"/>
                    <a:pt x="6827139" y="720090"/>
                    <a:pt x="6830568" y="720090"/>
                  </a:cubicBezTo>
                  <a:lnTo>
                    <a:pt x="8080121" y="720090"/>
                  </a:lnTo>
                  <a:lnTo>
                    <a:pt x="8080121" y="732790"/>
                  </a:lnTo>
                  <a:lnTo>
                    <a:pt x="8071104" y="723773"/>
                  </a:lnTo>
                  <a:lnTo>
                    <a:pt x="8683752" y="111252"/>
                  </a:lnTo>
                  <a:lnTo>
                    <a:pt x="8701659" y="129159"/>
                  </a:lnTo>
                  <a:lnTo>
                    <a:pt x="8089011" y="741807"/>
                  </a:lnTo>
                  <a:cubicBezTo>
                    <a:pt x="8086598" y="744220"/>
                    <a:pt x="8083423" y="745490"/>
                    <a:pt x="8079993" y="745490"/>
                  </a:cubicBezTo>
                  <a:lnTo>
                    <a:pt x="6830568" y="745490"/>
                  </a:lnTo>
                  <a:lnTo>
                    <a:pt x="6830568" y="732790"/>
                  </a:lnTo>
                  <a:lnTo>
                    <a:pt x="6839585" y="741807"/>
                  </a:lnTo>
                  <a:lnTo>
                    <a:pt x="6261354" y="1320038"/>
                  </a:lnTo>
                  <a:cubicBezTo>
                    <a:pt x="6258941" y="1322451"/>
                    <a:pt x="6255766" y="1323721"/>
                    <a:pt x="6252337" y="1323721"/>
                  </a:cubicBezTo>
                  <a:lnTo>
                    <a:pt x="1311021" y="1323721"/>
                  </a:lnTo>
                  <a:cubicBezTo>
                    <a:pt x="1307592" y="1323721"/>
                    <a:pt x="1304417" y="1322324"/>
                    <a:pt x="1302004" y="1320038"/>
                  </a:cubicBezTo>
                  <a:lnTo>
                    <a:pt x="0" y="18034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510875" y="6169625"/>
            <a:ext cx="998850" cy="4665200"/>
          </a:xfrm>
          <a:custGeom>
            <a:avLst/>
            <a:gdLst/>
            <a:ahLst/>
            <a:cxnLst/>
            <a:rect r="r" b="b" t="t" l="l"/>
            <a:pathLst>
              <a:path h="4665200" w="998850">
                <a:moveTo>
                  <a:pt x="0" y="0"/>
                </a:moveTo>
                <a:lnTo>
                  <a:pt x="998850" y="0"/>
                </a:lnTo>
                <a:lnTo>
                  <a:pt x="998850" y="4665200"/>
                </a:lnTo>
                <a:lnTo>
                  <a:pt x="0" y="46652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-5400000">
            <a:off x="1014670" y="1265494"/>
            <a:ext cx="456150" cy="394500"/>
            <a:chOff x="0" y="0"/>
            <a:chExt cx="608200" cy="52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08203" cy="526034"/>
            </a:xfrm>
            <a:custGeom>
              <a:avLst/>
              <a:gdLst/>
              <a:ahLst/>
              <a:cxnLst/>
              <a:rect r="r" b="b" t="t" l="l"/>
              <a:pathLst>
                <a:path h="526034" w="608203">
                  <a:moveTo>
                    <a:pt x="0" y="0"/>
                  </a:moveTo>
                  <a:lnTo>
                    <a:pt x="608203" y="0"/>
                  </a:lnTo>
                  <a:lnTo>
                    <a:pt x="304038" y="526034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702625" y="991256"/>
            <a:ext cx="15556675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99"/>
              </a:lnSpc>
            </a:pPr>
            <a:r>
              <a:rPr lang="en-US" b="true" sz="5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CONVERGENCE SPEED - 10% LABELS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769836" y="8467725"/>
            <a:ext cx="14997831" cy="1562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  <a:spcBef>
                <a:spcPct val="0"/>
              </a:spcBef>
            </a:pP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INSIGHT</a:t>
            </a: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: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Even with suff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icient d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a, 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ymbolic regularization </a:t>
            </a: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enforces faster gradient descent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,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b="true" sz="33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reducing the overall computational budget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equ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i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d fo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</a:t>
            </a:r>
            <a:r>
              <a:rPr lang="en-US" sz="33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convergence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1125">
            <a:off x="7101403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rot="1125">
            <a:off x="7374914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 rot="1125">
            <a:off x="7238159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1125">
            <a:off x="7511669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rot="1125">
            <a:off x="7648425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rot="1125">
            <a:off x="7785180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rot="1125">
            <a:off x="7921935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 rot="1125">
            <a:off x="8058691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 rot="1125">
            <a:off x="8195446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 rot="1125">
            <a:off x="8332201" y="-3196699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2" id="12"/>
          <p:cNvSpPr/>
          <p:nvPr/>
        </p:nvSpPr>
        <p:spPr>
          <a:xfrm flipH="false" flipV="false" rot="0">
            <a:off x="-840069" y="1068077"/>
            <a:ext cx="15292830" cy="10308934"/>
          </a:xfrm>
          <a:custGeom>
            <a:avLst/>
            <a:gdLst/>
            <a:ahLst/>
            <a:cxnLst/>
            <a:rect r="r" b="b" t="t" l="l"/>
            <a:pathLst>
              <a:path h="10308934" w="15292830">
                <a:moveTo>
                  <a:pt x="0" y="0"/>
                </a:moveTo>
                <a:lnTo>
                  <a:pt x="15292830" y="0"/>
                </a:lnTo>
                <a:lnTo>
                  <a:pt x="15292830" y="10308934"/>
                </a:lnTo>
                <a:lnTo>
                  <a:pt x="0" y="1030893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2365025" y="3386498"/>
            <a:ext cx="12087736" cy="4505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760"/>
              </a:lnSpc>
            </a:pPr>
            <a:r>
              <a:rPr lang="en-US" b="true" sz="9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Advantages and Limitations of Semantic Loss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735450" y="1723450"/>
            <a:ext cx="2503350" cy="1533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760"/>
              </a:lnSpc>
            </a:pPr>
            <a:r>
              <a:rPr lang="en-US" sz="9800">
                <a:solidFill>
                  <a:srgbClr val="00CADA"/>
                </a:solidFill>
                <a:latin typeface="Arimo"/>
                <a:ea typeface="Arimo"/>
                <a:cs typeface="Arimo"/>
                <a:sym typeface="Arimo"/>
              </a:rPr>
              <a:t>05</a:t>
            </a:r>
          </a:p>
        </p:txBody>
      </p:sp>
      <p:grpSp>
        <p:nvGrpSpPr>
          <p:cNvPr name="Group 15" id="15"/>
          <p:cNvGrpSpPr/>
          <p:nvPr/>
        </p:nvGrpSpPr>
        <p:grpSpPr>
          <a:xfrm rot="-5400000">
            <a:off x="1378150" y="3863343"/>
            <a:ext cx="714600" cy="618032"/>
            <a:chOff x="0" y="0"/>
            <a:chExt cx="952800" cy="82404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952754" cy="824103"/>
            </a:xfrm>
            <a:custGeom>
              <a:avLst/>
              <a:gdLst/>
              <a:ahLst/>
              <a:cxnLst/>
              <a:rect r="r" b="b" t="t" l="l"/>
              <a:pathLst>
                <a:path h="824103" w="952754">
                  <a:moveTo>
                    <a:pt x="0" y="0"/>
                  </a:moveTo>
                  <a:lnTo>
                    <a:pt x="952754" y="0"/>
                  </a:lnTo>
                  <a:lnTo>
                    <a:pt x="476377" y="824103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4023225" y="-3239875"/>
            <a:ext cx="3286016" cy="11859112"/>
            <a:chOff x="0" y="0"/>
            <a:chExt cx="4381355" cy="1581214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3683" y="12700"/>
              <a:ext cx="4377690" cy="15795752"/>
            </a:xfrm>
            <a:custGeom>
              <a:avLst/>
              <a:gdLst/>
              <a:ahLst/>
              <a:cxnLst/>
              <a:rect r="r" b="b" t="t" l="l"/>
              <a:pathLst>
                <a:path h="15795752" w="4377690">
                  <a:moveTo>
                    <a:pt x="0" y="15777718"/>
                  </a:moveTo>
                  <a:lnTo>
                    <a:pt x="4355973" y="11421872"/>
                  </a:lnTo>
                  <a:lnTo>
                    <a:pt x="4364990" y="11430889"/>
                  </a:lnTo>
                  <a:lnTo>
                    <a:pt x="4352290" y="11430889"/>
                  </a:lnTo>
                  <a:lnTo>
                    <a:pt x="4352290" y="0"/>
                  </a:lnTo>
                  <a:lnTo>
                    <a:pt x="4377690" y="0"/>
                  </a:lnTo>
                  <a:lnTo>
                    <a:pt x="4377690" y="11430762"/>
                  </a:lnTo>
                  <a:cubicBezTo>
                    <a:pt x="4377690" y="11434191"/>
                    <a:pt x="4376293" y="11437366"/>
                    <a:pt x="4374007" y="11439779"/>
                  </a:cubicBezTo>
                  <a:lnTo>
                    <a:pt x="18034" y="15795752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AutoShape 19" id="19"/>
          <p:cNvSpPr/>
          <p:nvPr/>
        </p:nvSpPr>
        <p:spPr>
          <a:xfrm rot="5394431">
            <a:off x="13263544" y="11175703"/>
            <a:ext cx="5347483" cy="0"/>
          </a:xfrm>
          <a:prstGeom prst="line">
            <a:avLst/>
          </a:prstGeom>
          <a:ln cap="rnd" w="9525">
            <a:solidFill>
              <a:srgbClr val="AFAFB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0" id="20"/>
          <p:cNvSpPr/>
          <p:nvPr/>
        </p:nvSpPr>
        <p:spPr>
          <a:xfrm rot="2674203">
            <a:off x="15718521" y="7985560"/>
            <a:ext cx="1491162" cy="0"/>
          </a:xfrm>
          <a:prstGeom prst="line">
            <a:avLst/>
          </a:prstGeom>
          <a:ln cap="rnd" w="9525">
            <a:solidFill>
              <a:srgbClr val="AFAFB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1" id="21"/>
          <p:cNvGrpSpPr/>
          <p:nvPr/>
        </p:nvGrpSpPr>
        <p:grpSpPr>
          <a:xfrm rot="5400000">
            <a:off x="16910611" y="7121887"/>
            <a:ext cx="395518" cy="391361"/>
            <a:chOff x="0" y="0"/>
            <a:chExt cx="527357" cy="52181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12700" y="12700"/>
              <a:ext cx="515620" cy="510032"/>
            </a:xfrm>
            <a:custGeom>
              <a:avLst/>
              <a:gdLst/>
              <a:ahLst/>
              <a:cxnLst/>
              <a:rect r="r" b="b" t="t" l="l"/>
              <a:pathLst>
                <a:path h="510032" w="515620">
                  <a:moveTo>
                    <a:pt x="0" y="255778"/>
                  </a:moveTo>
                  <a:cubicBezTo>
                    <a:pt x="0" y="397256"/>
                    <a:pt x="118491" y="510032"/>
                    <a:pt x="254508" y="510032"/>
                  </a:cubicBezTo>
                  <a:cubicBezTo>
                    <a:pt x="395986" y="510032"/>
                    <a:pt x="515620" y="397256"/>
                    <a:pt x="515620" y="255778"/>
                  </a:cubicBezTo>
                  <a:cubicBezTo>
                    <a:pt x="515620" y="114300"/>
                    <a:pt x="396113" y="0"/>
                    <a:pt x="254508" y="0"/>
                  </a:cubicBezTo>
                  <a:cubicBezTo>
                    <a:pt x="118491" y="0"/>
                    <a:pt x="0" y="114300"/>
                    <a:pt x="0" y="255778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41020" cy="535432"/>
            </a:xfrm>
            <a:custGeom>
              <a:avLst/>
              <a:gdLst/>
              <a:ahLst/>
              <a:cxnLst/>
              <a:rect r="r" b="b" t="t" l="l"/>
              <a:pathLst>
                <a:path h="535432" w="541020">
                  <a:moveTo>
                    <a:pt x="25400" y="268478"/>
                  </a:moveTo>
                  <a:cubicBezTo>
                    <a:pt x="25400" y="402717"/>
                    <a:pt x="137922" y="510032"/>
                    <a:pt x="267208" y="510032"/>
                  </a:cubicBezTo>
                  <a:lnTo>
                    <a:pt x="267208" y="522732"/>
                  </a:lnTo>
                  <a:lnTo>
                    <a:pt x="267208" y="510032"/>
                  </a:lnTo>
                  <a:cubicBezTo>
                    <a:pt x="402209" y="510032"/>
                    <a:pt x="515620" y="402463"/>
                    <a:pt x="515620" y="268478"/>
                  </a:cubicBezTo>
                  <a:lnTo>
                    <a:pt x="528320" y="268478"/>
                  </a:lnTo>
                  <a:lnTo>
                    <a:pt x="515620" y="268478"/>
                  </a:lnTo>
                  <a:cubicBezTo>
                    <a:pt x="515620" y="134366"/>
                    <a:pt x="402082" y="25400"/>
                    <a:pt x="267208" y="25400"/>
                  </a:cubicBezTo>
                  <a:lnTo>
                    <a:pt x="267208" y="12700"/>
                  </a:lnTo>
                  <a:lnTo>
                    <a:pt x="267208" y="25400"/>
                  </a:lnTo>
                  <a:cubicBezTo>
                    <a:pt x="138049" y="25400"/>
                    <a:pt x="25400" y="134112"/>
                    <a:pt x="25400" y="268478"/>
                  </a:cubicBezTo>
                  <a:lnTo>
                    <a:pt x="12700" y="268478"/>
                  </a:lnTo>
                  <a:lnTo>
                    <a:pt x="25400" y="268478"/>
                  </a:lnTo>
                  <a:moveTo>
                    <a:pt x="0" y="268478"/>
                  </a:moveTo>
                  <a:cubicBezTo>
                    <a:pt x="0" y="119888"/>
                    <a:pt x="124206" y="0"/>
                    <a:pt x="267208" y="0"/>
                  </a:cubicBezTo>
                  <a:cubicBezTo>
                    <a:pt x="415417" y="0"/>
                    <a:pt x="541020" y="119634"/>
                    <a:pt x="541020" y="268478"/>
                  </a:cubicBezTo>
                  <a:cubicBezTo>
                    <a:pt x="541020" y="417322"/>
                    <a:pt x="415290" y="535432"/>
                    <a:pt x="267208" y="535432"/>
                  </a:cubicBezTo>
                  <a:cubicBezTo>
                    <a:pt x="124333" y="535432"/>
                    <a:pt x="0" y="417195"/>
                    <a:pt x="0" y="268478"/>
                  </a:cubicBezTo>
                  <a:close/>
                </a:path>
              </a:pathLst>
            </a:custGeom>
            <a:solidFill>
              <a:srgbClr val="AFAFB6"/>
            </a:solidFill>
          </p:spPr>
        </p:sp>
      </p:grpSp>
      <p:sp>
        <p:nvSpPr>
          <p:cNvPr name="AutoShape 24" id="24"/>
          <p:cNvSpPr/>
          <p:nvPr/>
        </p:nvSpPr>
        <p:spPr>
          <a:xfrm rot="5394431">
            <a:off x="-2543517" y="1493858"/>
            <a:ext cx="5347483" cy="0"/>
          </a:xfrm>
          <a:prstGeom prst="line">
            <a:avLst/>
          </a:prstGeom>
          <a:ln cap="rnd" w="9525">
            <a:solidFill>
              <a:srgbClr val="00CAD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 rot="2674203">
            <a:off x="2574787" y="2020674"/>
            <a:ext cx="1491162" cy="0"/>
          </a:xfrm>
          <a:prstGeom prst="line">
            <a:avLst/>
          </a:prstGeom>
          <a:ln cap="rnd" w="9525">
            <a:solidFill>
              <a:srgbClr val="00CAD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6" id="26"/>
          <p:cNvGrpSpPr/>
          <p:nvPr/>
        </p:nvGrpSpPr>
        <p:grpSpPr>
          <a:xfrm rot="-10800000">
            <a:off x="3790601" y="2469261"/>
            <a:ext cx="395518" cy="391361"/>
            <a:chOff x="0" y="0"/>
            <a:chExt cx="527357" cy="52181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00" y="12700"/>
              <a:ext cx="515620" cy="510032"/>
            </a:xfrm>
            <a:custGeom>
              <a:avLst/>
              <a:gdLst/>
              <a:ahLst/>
              <a:cxnLst/>
              <a:rect r="r" b="b" t="t" l="l"/>
              <a:pathLst>
                <a:path h="510032" w="515620">
                  <a:moveTo>
                    <a:pt x="0" y="255778"/>
                  </a:moveTo>
                  <a:cubicBezTo>
                    <a:pt x="0" y="397256"/>
                    <a:pt x="118491" y="510032"/>
                    <a:pt x="254508" y="510032"/>
                  </a:cubicBezTo>
                  <a:cubicBezTo>
                    <a:pt x="395986" y="510032"/>
                    <a:pt x="515620" y="397256"/>
                    <a:pt x="515620" y="255778"/>
                  </a:cubicBezTo>
                  <a:cubicBezTo>
                    <a:pt x="515620" y="114300"/>
                    <a:pt x="396113" y="0"/>
                    <a:pt x="254508" y="0"/>
                  </a:cubicBezTo>
                  <a:cubicBezTo>
                    <a:pt x="118491" y="0"/>
                    <a:pt x="0" y="114300"/>
                    <a:pt x="0" y="255778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541020" cy="535432"/>
            </a:xfrm>
            <a:custGeom>
              <a:avLst/>
              <a:gdLst/>
              <a:ahLst/>
              <a:cxnLst/>
              <a:rect r="r" b="b" t="t" l="l"/>
              <a:pathLst>
                <a:path h="535432" w="541020">
                  <a:moveTo>
                    <a:pt x="25400" y="268478"/>
                  </a:moveTo>
                  <a:cubicBezTo>
                    <a:pt x="25400" y="402717"/>
                    <a:pt x="137922" y="510032"/>
                    <a:pt x="267208" y="510032"/>
                  </a:cubicBezTo>
                  <a:lnTo>
                    <a:pt x="267208" y="522732"/>
                  </a:lnTo>
                  <a:lnTo>
                    <a:pt x="267208" y="510032"/>
                  </a:lnTo>
                  <a:cubicBezTo>
                    <a:pt x="402209" y="510032"/>
                    <a:pt x="515620" y="402463"/>
                    <a:pt x="515620" y="268478"/>
                  </a:cubicBezTo>
                  <a:lnTo>
                    <a:pt x="528320" y="268478"/>
                  </a:lnTo>
                  <a:lnTo>
                    <a:pt x="515620" y="268478"/>
                  </a:lnTo>
                  <a:cubicBezTo>
                    <a:pt x="515620" y="134366"/>
                    <a:pt x="402082" y="25400"/>
                    <a:pt x="267208" y="25400"/>
                  </a:cubicBezTo>
                  <a:lnTo>
                    <a:pt x="267208" y="12700"/>
                  </a:lnTo>
                  <a:lnTo>
                    <a:pt x="267208" y="25400"/>
                  </a:lnTo>
                  <a:cubicBezTo>
                    <a:pt x="138049" y="25400"/>
                    <a:pt x="25400" y="134112"/>
                    <a:pt x="25400" y="268478"/>
                  </a:cubicBezTo>
                  <a:lnTo>
                    <a:pt x="12700" y="268478"/>
                  </a:lnTo>
                  <a:lnTo>
                    <a:pt x="25400" y="268478"/>
                  </a:lnTo>
                  <a:moveTo>
                    <a:pt x="0" y="268478"/>
                  </a:moveTo>
                  <a:cubicBezTo>
                    <a:pt x="0" y="119888"/>
                    <a:pt x="124206" y="0"/>
                    <a:pt x="267208" y="0"/>
                  </a:cubicBezTo>
                  <a:cubicBezTo>
                    <a:pt x="415417" y="0"/>
                    <a:pt x="541020" y="119634"/>
                    <a:pt x="541020" y="268478"/>
                  </a:cubicBezTo>
                  <a:cubicBezTo>
                    <a:pt x="541020" y="417322"/>
                    <a:pt x="415290" y="535432"/>
                    <a:pt x="267208" y="535432"/>
                  </a:cubicBezTo>
                  <a:cubicBezTo>
                    <a:pt x="124333" y="535432"/>
                    <a:pt x="0" y="417195"/>
                    <a:pt x="0" y="268478"/>
                  </a:cubicBez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Freeform 29" id="29"/>
          <p:cNvSpPr/>
          <p:nvPr/>
        </p:nvSpPr>
        <p:spPr>
          <a:xfrm flipH="false" flipV="false" rot="0">
            <a:off x="7101354" y="-879740"/>
            <a:ext cx="12029926" cy="3961744"/>
          </a:xfrm>
          <a:custGeom>
            <a:avLst/>
            <a:gdLst/>
            <a:ahLst/>
            <a:cxnLst/>
            <a:rect r="r" b="b" t="t" l="l"/>
            <a:pathLst>
              <a:path h="3961744" w="12029926">
                <a:moveTo>
                  <a:pt x="0" y="0"/>
                </a:moveTo>
                <a:lnTo>
                  <a:pt x="12029926" y="0"/>
                </a:lnTo>
                <a:lnTo>
                  <a:pt x="12029926" y="3961744"/>
                </a:lnTo>
                <a:lnTo>
                  <a:pt x="0" y="396174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4433721" y="2520720"/>
            <a:ext cx="2339172" cy="1055849"/>
          </a:xfrm>
          <a:custGeom>
            <a:avLst/>
            <a:gdLst/>
            <a:ahLst/>
            <a:cxnLst/>
            <a:rect r="r" b="b" t="t" l="l"/>
            <a:pathLst>
              <a:path h="1055849" w="2339172">
                <a:moveTo>
                  <a:pt x="0" y="0"/>
                </a:moveTo>
                <a:lnTo>
                  <a:pt x="2339172" y="0"/>
                </a:lnTo>
                <a:lnTo>
                  <a:pt x="2339172" y="1055849"/>
                </a:lnTo>
                <a:lnTo>
                  <a:pt x="0" y="105584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996600" y="3736672"/>
            <a:ext cx="15701636" cy="5845586"/>
          </a:xfrm>
          <a:custGeom>
            <a:avLst/>
            <a:gdLst/>
            <a:ahLst/>
            <a:cxnLst/>
            <a:rect r="r" b="b" t="t" l="l"/>
            <a:pathLst>
              <a:path h="5845586" w="15701636">
                <a:moveTo>
                  <a:pt x="0" y="0"/>
                </a:moveTo>
                <a:lnTo>
                  <a:pt x="15701636" y="0"/>
                </a:lnTo>
                <a:lnTo>
                  <a:pt x="15701636" y="5845586"/>
                </a:lnTo>
                <a:lnTo>
                  <a:pt x="0" y="584558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166550" y="4857653"/>
            <a:ext cx="14896685" cy="5075161"/>
          </a:xfrm>
          <a:custGeom>
            <a:avLst/>
            <a:gdLst/>
            <a:ahLst/>
            <a:cxnLst/>
            <a:rect r="r" b="b" t="t" l="l"/>
            <a:pathLst>
              <a:path h="5075161" w="14896685">
                <a:moveTo>
                  <a:pt x="0" y="0"/>
                </a:moveTo>
                <a:lnTo>
                  <a:pt x="14896685" y="0"/>
                </a:lnTo>
                <a:lnTo>
                  <a:pt x="14896685" y="5075161"/>
                </a:lnTo>
                <a:lnTo>
                  <a:pt x="0" y="507516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-5400000">
            <a:off x="1014670" y="1265494"/>
            <a:ext cx="456150" cy="394500"/>
            <a:chOff x="0" y="0"/>
            <a:chExt cx="608200" cy="52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08203" cy="526034"/>
            </a:xfrm>
            <a:custGeom>
              <a:avLst/>
              <a:gdLst/>
              <a:ahLst/>
              <a:cxnLst/>
              <a:rect r="r" b="b" t="t" l="l"/>
              <a:pathLst>
                <a:path h="526034" w="608203">
                  <a:moveTo>
                    <a:pt x="0" y="0"/>
                  </a:moveTo>
                  <a:lnTo>
                    <a:pt x="608203" y="0"/>
                  </a:lnTo>
                  <a:lnTo>
                    <a:pt x="304038" y="526034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16267925" y="-232175"/>
            <a:ext cx="2179550" cy="7306150"/>
          </a:xfrm>
          <a:custGeom>
            <a:avLst/>
            <a:gdLst/>
            <a:ahLst/>
            <a:cxnLst/>
            <a:rect r="r" b="b" t="t" l="l"/>
            <a:pathLst>
              <a:path h="7306150" w="2179550">
                <a:moveTo>
                  <a:pt x="0" y="0"/>
                </a:moveTo>
                <a:lnTo>
                  <a:pt x="2179550" y="0"/>
                </a:lnTo>
                <a:lnTo>
                  <a:pt x="2179550" y="7306150"/>
                </a:lnTo>
                <a:lnTo>
                  <a:pt x="0" y="730615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671725" y="5299525"/>
            <a:ext cx="700300" cy="5211650"/>
            <a:chOff x="0" y="0"/>
            <a:chExt cx="933733" cy="694886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12700"/>
              <a:ext cx="933704" cy="6923405"/>
            </a:xfrm>
            <a:custGeom>
              <a:avLst/>
              <a:gdLst/>
              <a:ahLst/>
              <a:cxnLst/>
              <a:rect r="r" b="b" t="t" l="l"/>
              <a:pathLst>
                <a:path h="6923405" w="933704">
                  <a:moveTo>
                    <a:pt x="908304" y="6923405"/>
                  </a:moveTo>
                  <a:lnTo>
                    <a:pt x="908304" y="5515864"/>
                  </a:lnTo>
                  <a:lnTo>
                    <a:pt x="921004" y="5515864"/>
                  </a:lnTo>
                  <a:lnTo>
                    <a:pt x="911987" y="5524881"/>
                  </a:lnTo>
                  <a:lnTo>
                    <a:pt x="3683" y="4616450"/>
                  </a:lnTo>
                  <a:cubicBezTo>
                    <a:pt x="1270" y="4614037"/>
                    <a:pt x="0" y="4610862"/>
                    <a:pt x="0" y="4607433"/>
                  </a:cubicBezTo>
                  <a:lnTo>
                    <a:pt x="0" y="0"/>
                  </a:lnTo>
                  <a:lnTo>
                    <a:pt x="25400" y="0"/>
                  </a:lnTo>
                  <a:lnTo>
                    <a:pt x="25400" y="4607433"/>
                  </a:lnTo>
                  <a:lnTo>
                    <a:pt x="12700" y="4607433"/>
                  </a:lnTo>
                  <a:lnTo>
                    <a:pt x="21717" y="4598416"/>
                  </a:lnTo>
                  <a:lnTo>
                    <a:pt x="930021" y="5506847"/>
                  </a:lnTo>
                  <a:cubicBezTo>
                    <a:pt x="932434" y="5509260"/>
                    <a:pt x="933704" y="5512435"/>
                    <a:pt x="933704" y="5515864"/>
                  </a:cubicBezTo>
                  <a:lnTo>
                    <a:pt x="933704" y="6923405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AutoShape 9" id="9"/>
          <p:cNvSpPr/>
          <p:nvPr/>
        </p:nvSpPr>
        <p:spPr>
          <a:xfrm rot="2838">
            <a:off x="-2380643" y="6908730"/>
            <a:ext cx="3063496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 rot="2838">
            <a:off x="-2380643" y="7045485"/>
            <a:ext cx="3063496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 rot="2838">
            <a:off x="-2380643" y="7182240"/>
            <a:ext cx="3063496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 rot="2838">
            <a:off x="-2380643" y="7318995"/>
            <a:ext cx="3063496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 rot="2838">
            <a:off x="-2380643" y="7455750"/>
            <a:ext cx="3063496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4" id="14"/>
          <p:cNvSpPr/>
          <p:nvPr/>
        </p:nvSpPr>
        <p:spPr>
          <a:xfrm flipH="false" flipV="false" rot="0">
            <a:off x="4796786" y="9393146"/>
            <a:ext cx="719998" cy="992015"/>
          </a:xfrm>
          <a:custGeom>
            <a:avLst/>
            <a:gdLst/>
            <a:ahLst/>
            <a:cxnLst/>
            <a:rect r="r" b="b" t="t" l="l"/>
            <a:pathLst>
              <a:path h="992015" w="719998">
                <a:moveTo>
                  <a:pt x="0" y="0"/>
                </a:moveTo>
                <a:lnTo>
                  <a:pt x="719998" y="0"/>
                </a:lnTo>
                <a:lnTo>
                  <a:pt x="719998" y="992015"/>
                </a:lnTo>
                <a:lnTo>
                  <a:pt x="0" y="99201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556376" y="991256"/>
            <a:ext cx="152251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99"/>
              </a:lnSpc>
            </a:pPr>
            <a:r>
              <a:rPr lang="en-US" b="true" sz="5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PERFORMANCE MATRIX (1% LABELS)</a:t>
            </a:r>
          </a:p>
        </p:txBody>
      </p:sp>
      <p:graphicFrame>
        <p:nvGraphicFramePr>
          <p:cNvPr name="Table 16" id="16"/>
          <p:cNvGraphicFramePr>
            <a:graphicFrameLocks noGrp="true"/>
          </p:cNvGraphicFramePr>
          <p:nvPr/>
        </p:nvGraphicFramePr>
        <p:xfrm>
          <a:off x="1028700" y="2653664"/>
          <a:ext cx="16195666" cy="6000999"/>
        </p:xfrm>
        <a:graphic>
          <a:graphicData uri="http://schemas.openxmlformats.org/drawingml/2006/table">
            <a:tbl>
              <a:tblPr/>
              <a:tblGrid>
                <a:gridCol w="3060605"/>
                <a:gridCol w="2439686"/>
                <a:gridCol w="3628780"/>
                <a:gridCol w="3350575"/>
                <a:gridCol w="3716020"/>
              </a:tblGrid>
              <a:tr h="154318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91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FFFFFF"/>
                          </a:solidFill>
                          <a:latin typeface="Raleway Bold"/>
                          <a:ea typeface="Raleway Bold"/>
                          <a:cs typeface="Raleway Bold"/>
                          <a:sym typeface="Raleway Bold"/>
                        </a:rPr>
                        <a:t>METRIC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b="true" sz="2400">
                          <a:solidFill>
                            <a:srgbClr val="FFFFFF"/>
                          </a:solidFill>
                          <a:latin typeface="Raleway Bold"/>
                          <a:ea typeface="Raleway Bold"/>
                          <a:cs typeface="Raleway Bold"/>
                          <a:sym typeface="Raleway Bold"/>
                        </a:rPr>
                        <a:t>BASELINE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b="true" sz="2400">
                          <a:solidFill>
                            <a:srgbClr val="FFFFFF"/>
                          </a:solidFill>
                          <a:latin typeface="Raleway Bold"/>
                          <a:ea typeface="Raleway Bold"/>
                          <a:cs typeface="Raleway Bold"/>
                          <a:sym typeface="Raleway Bold"/>
                        </a:rPr>
                        <a:t>NEUROSYMBOLIC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b="true" sz="2400">
                          <a:solidFill>
                            <a:srgbClr val="FFFFFF"/>
                          </a:solidFill>
                          <a:latin typeface="Raleway Bold"/>
                          <a:ea typeface="Raleway Bold"/>
                          <a:cs typeface="Raleway Bold"/>
                          <a:sym typeface="Raleway Bold"/>
                        </a:rPr>
                        <a:t>Δ IMPACT(Baseline → Nesy)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b="true" sz="2400">
                          <a:solidFill>
                            <a:srgbClr val="FFFFFF"/>
                          </a:solidFill>
                          <a:latin typeface="Raleway Bold"/>
                          <a:ea typeface="Raleway Bold"/>
                          <a:cs typeface="Raleway Bold"/>
                          <a:sym typeface="Raleway Bold"/>
                        </a:rPr>
                        <a:t>SEMANTIC CNF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8593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b="true" sz="2400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EXACTLY-ONE (VALIDITY)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~ 48%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~ 69%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+21%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~ 57%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</a:tr>
              <a:tr h="148593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b="true" sz="2400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EXACT MATCH (ACCURACY)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~ 27%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~ 42%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+15%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~ 26%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</a:tr>
              <a:tr h="148593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b="true" sz="2400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EPOCHS-TO-27%-ACCURACY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75 Epochs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39 Epochs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-36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/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996600" y="3736672"/>
            <a:ext cx="15701636" cy="5845586"/>
          </a:xfrm>
          <a:custGeom>
            <a:avLst/>
            <a:gdLst/>
            <a:ahLst/>
            <a:cxnLst/>
            <a:rect r="r" b="b" t="t" l="l"/>
            <a:pathLst>
              <a:path h="5845586" w="15701636">
                <a:moveTo>
                  <a:pt x="0" y="0"/>
                </a:moveTo>
                <a:lnTo>
                  <a:pt x="15701636" y="0"/>
                </a:lnTo>
                <a:lnTo>
                  <a:pt x="15701636" y="5845586"/>
                </a:lnTo>
                <a:lnTo>
                  <a:pt x="0" y="584558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166550" y="4857653"/>
            <a:ext cx="14896685" cy="5075161"/>
          </a:xfrm>
          <a:custGeom>
            <a:avLst/>
            <a:gdLst/>
            <a:ahLst/>
            <a:cxnLst/>
            <a:rect r="r" b="b" t="t" l="l"/>
            <a:pathLst>
              <a:path h="5075161" w="14896685">
                <a:moveTo>
                  <a:pt x="0" y="0"/>
                </a:moveTo>
                <a:lnTo>
                  <a:pt x="14896685" y="0"/>
                </a:lnTo>
                <a:lnTo>
                  <a:pt x="14896685" y="5075161"/>
                </a:lnTo>
                <a:lnTo>
                  <a:pt x="0" y="507516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-5400000">
            <a:off x="1014670" y="1265494"/>
            <a:ext cx="456150" cy="394500"/>
            <a:chOff x="0" y="0"/>
            <a:chExt cx="608200" cy="52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08203" cy="526034"/>
            </a:xfrm>
            <a:custGeom>
              <a:avLst/>
              <a:gdLst/>
              <a:ahLst/>
              <a:cxnLst/>
              <a:rect r="r" b="b" t="t" l="l"/>
              <a:pathLst>
                <a:path h="526034" w="608203">
                  <a:moveTo>
                    <a:pt x="0" y="0"/>
                  </a:moveTo>
                  <a:lnTo>
                    <a:pt x="608203" y="0"/>
                  </a:lnTo>
                  <a:lnTo>
                    <a:pt x="304038" y="526034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16267925" y="-232175"/>
            <a:ext cx="2179550" cy="7306150"/>
          </a:xfrm>
          <a:custGeom>
            <a:avLst/>
            <a:gdLst/>
            <a:ahLst/>
            <a:cxnLst/>
            <a:rect r="r" b="b" t="t" l="l"/>
            <a:pathLst>
              <a:path h="7306150" w="2179550">
                <a:moveTo>
                  <a:pt x="0" y="0"/>
                </a:moveTo>
                <a:lnTo>
                  <a:pt x="2179550" y="0"/>
                </a:lnTo>
                <a:lnTo>
                  <a:pt x="2179550" y="7306150"/>
                </a:lnTo>
                <a:lnTo>
                  <a:pt x="0" y="730615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671725" y="5299525"/>
            <a:ext cx="700300" cy="5211650"/>
            <a:chOff x="0" y="0"/>
            <a:chExt cx="933733" cy="694886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12700"/>
              <a:ext cx="933704" cy="6923405"/>
            </a:xfrm>
            <a:custGeom>
              <a:avLst/>
              <a:gdLst/>
              <a:ahLst/>
              <a:cxnLst/>
              <a:rect r="r" b="b" t="t" l="l"/>
              <a:pathLst>
                <a:path h="6923405" w="933704">
                  <a:moveTo>
                    <a:pt x="908304" y="6923405"/>
                  </a:moveTo>
                  <a:lnTo>
                    <a:pt x="908304" y="5515864"/>
                  </a:lnTo>
                  <a:lnTo>
                    <a:pt x="921004" y="5515864"/>
                  </a:lnTo>
                  <a:lnTo>
                    <a:pt x="911987" y="5524881"/>
                  </a:lnTo>
                  <a:lnTo>
                    <a:pt x="3683" y="4616450"/>
                  </a:lnTo>
                  <a:cubicBezTo>
                    <a:pt x="1270" y="4614037"/>
                    <a:pt x="0" y="4610862"/>
                    <a:pt x="0" y="4607433"/>
                  </a:cubicBezTo>
                  <a:lnTo>
                    <a:pt x="0" y="0"/>
                  </a:lnTo>
                  <a:lnTo>
                    <a:pt x="25400" y="0"/>
                  </a:lnTo>
                  <a:lnTo>
                    <a:pt x="25400" y="4607433"/>
                  </a:lnTo>
                  <a:lnTo>
                    <a:pt x="12700" y="4607433"/>
                  </a:lnTo>
                  <a:lnTo>
                    <a:pt x="21717" y="4598416"/>
                  </a:lnTo>
                  <a:lnTo>
                    <a:pt x="930021" y="5506847"/>
                  </a:lnTo>
                  <a:cubicBezTo>
                    <a:pt x="932434" y="5509260"/>
                    <a:pt x="933704" y="5512435"/>
                    <a:pt x="933704" y="5515864"/>
                  </a:cubicBezTo>
                  <a:lnTo>
                    <a:pt x="933704" y="6923405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AutoShape 9" id="9"/>
          <p:cNvSpPr/>
          <p:nvPr/>
        </p:nvSpPr>
        <p:spPr>
          <a:xfrm rot="2838">
            <a:off x="-2380643" y="6908730"/>
            <a:ext cx="3063496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 rot="2838">
            <a:off x="-2380643" y="7045485"/>
            <a:ext cx="3063496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 rot="2838">
            <a:off x="-2380643" y="7182240"/>
            <a:ext cx="3063496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 rot="2838">
            <a:off x="-2380643" y="7318995"/>
            <a:ext cx="3063496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 rot="2838">
            <a:off x="-2380643" y="7455750"/>
            <a:ext cx="3063496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4" id="14"/>
          <p:cNvSpPr/>
          <p:nvPr/>
        </p:nvSpPr>
        <p:spPr>
          <a:xfrm flipH="false" flipV="false" rot="0">
            <a:off x="4796786" y="9393146"/>
            <a:ext cx="719998" cy="992015"/>
          </a:xfrm>
          <a:custGeom>
            <a:avLst/>
            <a:gdLst/>
            <a:ahLst/>
            <a:cxnLst/>
            <a:rect r="r" b="b" t="t" l="l"/>
            <a:pathLst>
              <a:path h="992015" w="719998">
                <a:moveTo>
                  <a:pt x="0" y="0"/>
                </a:moveTo>
                <a:lnTo>
                  <a:pt x="719998" y="0"/>
                </a:lnTo>
                <a:lnTo>
                  <a:pt x="719998" y="992015"/>
                </a:lnTo>
                <a:lnTo>
                  <a:pt x="0" y="99201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556376" y="991256"/>
            <a:ext cx="152251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99"/>
              </a:lnSpc>
            </a:pPr>
            <a:r>
              <a:rPr lang="en-US" b="true" sz="5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PERFORMANCE MATRIX (10% LABELS)</a:t>
            </a:r>
          </a:p>
        </p:txBody>
      </p:sp>
      <p:graphicFrame>
        <p:nvGraphicFramePr>
          <p:cNvPr name="Table 16" id="16"/>
          <p:cNvGraphicFramePr>
            <a:graphicFrameLocks noGrp="true"/>
          </p:cNvGraphicFramePr>
          <p:nvPr/>
        </p:nvGraphicFramePr>
        <p:xfrm>
          <a:off x="1028700" y="2653664"/>
          <a:ext cx="16195666" cy="6000999"/>
        </p:xfrm>
        <a:graphic>
          <a:graphicData uri="http://schemas.openxmlformats.org/drawingml/2006/table">
            <a:tbl>
              <a:tblPr/>
              <a:tblGrid>
                <a:gridCol w="3060605"/>
                <a:gridCol w="2439686"/>
                <a:gridCol w="3628780"/>
                <a:gridCol w="3350575"/>
                <a:gridCol w="3716020"/>
              </a:tblGrid>
              <a:tr h="154318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919"/>
                        </a:lnSpc>
                        <a:defRPr/>
                      </a:pPr>
                      <a:r>
                        <a:rPr lang="en-US" sz="2799" b="true">
                          <a:solidFill>
                            <a:srgbClr val="FFFFFF"/>
                          </a:solidFill>
                          <a:latin typeface="Raleway Bold"/>
                          <a:ea typeface="Raleway Bold"/>
                          <a:cs typeface="Raleway Bold"/>
                          <a:sym typeface="Raleway Bold"/>
                        </a:rPr>
                        <a:t>METRIC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b="true" sz="2400">
                          <a:solidFill>
                            <a:srgbClr val="FFFFFF"/>
                          </a:solidFill>
                          <a:latin typeface="Raleway Bold"/>
                          <a:ea typeface="Raleway Bold"/>
                          <a:cs typeface="Raleway Bold"/>
                          <a:sym typeface="Raleway Bold"/>
                        </a:rPr>
                        <a:t>BASELINE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b="true" sz="2400">
                          <a:solidFill>
                            <a:srgbClr val="FFFFFF"/>
                          </a:solidFill>
                          <a:latin typeface="Raleway Bold"/>
                          <a:ea typeface="Raleway Bold"/>
                          <a:cs typeface="Raleway Bold"/>
                          <a:sym typeface="Raleway Bold"/>
                        </a:rPr>
                        <a:t>NEUROSYMBOLIC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b="true" sz="2400">
                          <a:solidFill>
                            <a:srgbClr val="FFFFFF"/>
                          </a:solidFill>
                          <a:latin typeface="Raleway Bold"/>
                          <a:ea typeface="Raleway Bold"/>
                          <a:cs typeface="Raleway Bold"/>
                          <a:sym typeface="Raleway Bold"/>
                        </a:rPr>
                        <a:t>Δ IMPACT(Baseline → Nesy)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b="true" sz="2400">
                          <a:solidFill>
                            <a:srgbClr val="FFFFFF"/>
                          </a:solidFill>
                          <a:latin typeface="Raleway Bold"/>
                          <a:ea typeface="Raleway Bold"/>
                          <a:cs typeface="Raleway Bold"/>
                          <a:sym typeface="Raleway Bold"/>
                        </a:rPr>
                        <a:t>SEMANTIC CNF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8593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b="true" sz="2400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EXACTLY-ONE (VALIDITY)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~ 81%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~ 83%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+2%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~ 81%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</a:tr>
              <a:tr h="148593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b="true" sz="2400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EXACT MATCH (ACCURACY)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~ 72%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~ 72%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+0%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~ 69%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</a:tr>
              <a:tr h="148593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879"/>
                        </a:lnSpc>
                        <a:defRPr/>
                      </a:pPr>
                      <a:r>
                        <a:rPr lang="en-US" b="true" sz="2400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EPOCHS-TO-72%-ACCURACY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100 Epochs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70 Epochs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-30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b="true" sz="2799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/</a:t>
                      </a:r>
                      <a:endParaRPr lang="en-US" sz="1100"/>
                    </a:p>
                  </a:txBody>
                  <a:tcPr marL="91425" marR="91425" marT="91425" marB="91425" anchor="ctr">
                    <a:lnL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0E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7029" y="880533"/>
            <a:ext cx="17357748" cy="9211584"/>
          </a:xfrm>
          <a:custGeom>
            <a:avLst/>
            <a:gdLst/>
            <a:ahLst/>
            <a:cxnLst/>
            <a:rect r="r" b="b" t="t" l="l"/>
            <a:pathLst>
              <a:path h="9211584" w="17357748">
                <a:moveTo>
                  <a:pt x="0" y="0"/>
                </a:moveTo>
                <a:lnTo>
                  <a:pt x="17357748" y="0"/>
                </a:lnTo>
                <a:lnTo>
                  <a:pt x="17357748" y="9211584"/>
                </a:lnTo>
                <a:lnTo>
                  <a:pt x="0" y="9211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56500" y="2761162"/>
            <a:ext cx="16597970" cy="3861370"/>
          </a:xfrm>
          <a:custGeom>
            <a:avLst/>
            <a:gdLst/>
            <a:ahLst/>
            <a:cxnLst/>
            <a:rect r="r" b="b" t="t" l="l"/>
            <a:pathLst>
              <a:path h="3861370" w="16597970">
                <a:moveTo>
                  <a:pt x="0" y="0"/>
                </a:moveTo>
                <a:lnTo>
                  <a:pt x="16597970" y="0"/>
                </a:lnTo>
                <a:lnTo>
                  <a:pt x="16597970" y="3861370"/>
                </a:lnTo>
                <a:lnTo>
                  <a:pt x="0" y="386137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 rot="4500">
            <a:off x="1476792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4500">
            <a:off x="1463117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rot="4500">
            <a:off x="1449441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rot="4500">
            <a:off x="1435766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rot="4500">
            <a:off x="1422090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1483975" y="-123525"/>
            <a:ext cx="6531800" cy="995550"/>
            <a:chOff x="0" y="0"/>
            <a:chExt cx="8709067" cy="1327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683" y="3683"/>
              <a:ext cx="8701659" cy="1323721"/>
            </a:xfrm>
            <a:custGeom>
              <a:avLst/>
              <a:gdLst/>
              <a:ahLst/>
              <a:cxnLst/>
              <a:rect r="r" b="b" t="t" l="l"/>
              <a:pathLst>
                <a:path h="1323721" w="8701659">
                  <a:moveTo>
                    <a:pt x="18034" y="0"/>
                  </a:moveTo>
                  <a:lnTo>
                    <a:pt x="1320038" y="1302004"/>
                  </a:lnTo>
                  <a:lnTo>
                    <a:pt x="1311021" y="1311021"/>
                  </a:lnTo>
                  <a:lnTo>
                    <a:pt x="1311021" y="1298321"/>
                  </a:lnTo>
                  <a:lnTo>
                    <a:pt x="6252337" y="1298321"/>
                  </a:lnTo>
                  <a:lnTo>
                    <a:pt x="6252337" y="1311021"/>
                  </a:lnTo>
                  <a:lnTo>
                    <a:pt x="6243320" y="1302004"/>
                  </a:lnTo>
                  <a:lnTo>
                    <a:pt x="6821551" y="723773"/>
                  </a:lnTo>
                  <a:cubicBezTo>
                    <a:pt x="6823964" y="721360"/>
                    <a:pt x="6827139" y="720090"/>
                    <a:pt x="6830568" y="720090"/>
                  </a:cubicBezTo>
                  <a:lnTo>
                    <a:pt x="8080121" y="720090"/>
                  </a:lnTo>
                  <a:lnTo>
                    <a:pt x="8080121" y="732790"/>
                  </a:lnTo>
                  <a:lnTo>
                    <a:pt x="8071104" y="723773"/>
                  </a:lnTo>
                  <a:lnTo>
                    <a:pt x="8683752" y="111252"/>
                  </a:lnTo>
                  <a:lnTo>
                    <a:pt x="8701659" y="129159"/>
                  </a:lnTo>
                  <a:lnTo>
                    <a:pt x="8089011" y="741807"/>
                  </a:lnTo>
                  <a:cubicBezTo>
                    <a:pt x="8086598" y="744220"/>
                    <a:pt x="8083423" y="745490"/>
                    <a:pt x="8079993" y="745490"/>
                  </a:cubicBezTo>
                  <a:lnTo>
                    <a:pt x="6830568" y="745490"/>
                  </a:lnTo>
                  <a:lnTo>
                    <a:pt x="6830568" y="732790"/>
                  </a:lnTo>
                  <a:lnTo>
                    <a:pt x="6839585" y="741807"/>
                  </a:lnTo>
                  <a:lnTo>
                    <a:pt x="6261354" y="1320038"/>
                  </a:lnTo>
                  <a:cubicBezTo>
                    <a:pt x="6258941" y="1322451"/>
                    <a:pt x="6255766" y="1323721"/>
                    <a:pt x="6252337" y="1323721"/>
                  </a:cubicBezTo>
                  <a:lnTo>
                    <a:pt x="1311021" y="1323721"/>
                  </a:lnTo>
                  <a:cubicBezTo>
                    <a:pt x="1307592" y="1323721"/>
                    <a:pt x="1304417" y="1322324"/>
                    <a:pt x="1302004" y="1320038"/>
                  </a:cubicBezTo>
                  <a:lnTo>
                    <a:pt x="0" y="18034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510875" y="6169625"/>
            <a:ext cx="998850" cy="4665200"/>
          </a:xfrm>
          <a:custGeom>
            <a:avLst/>
            <a:gdLst/>
            <a:ahLst/>
            <a:cxnLst/>
            <a:rect r="r" b="b" t="t" l="l"/>
            <a:pathLst>
              <a:path h="4665200" w="998850">
                <a:moveTo>
                  <a:pt x="0" y="0"/>
                </a:moveTo>
                <a:lnTo>
                  <a:pt x="998850" y="0"/>
                </a:lnTo>
                <a:lnTo>
                  <a:pt x="998850" y="4665200"/>
                </a:lnTo>
                <a:lnTo>
                  <a:pt x="0" y="46652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-5400000">
            <a:off x="1014670" y="1265494"/>
            <a:ext cx="456150" cy="394500"/>
            <a:chOff x="0" y="0"/>
            <a:chExt cx="608200" cy="52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08203" cy="526034"/>
            </a:xfrm>
            <a:custGeom>
              <a:avLst/>
              <a:gdLst/>
              <a:ahLst/>
              <a:cxnLst/>
              <a:rect r="r" b="b" t="t" l="l"/>
              <a:pathLst>
                <a:path h="526034" w="608203">
                  <a:moveTo>
                    <a:pt x="0" y="0"/>
                  </a:moveTo>
                  <a:lnTo>
                    <a:pt x="608203" y="0"/>
                  </a:lnTo>
                  <a:lnTo>
                    <a:pt x="304038" y="526034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702625" y="991256"/>
            <a:ext cx="152251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99"/>
              </a:lnSpc>
            </a:pPr>
            <a:r>
              <a:rPr lang="en-US" b="true" sz="5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ANALYSIS &amp; KEY ADVANTAGES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702625" y="2409093"/>
            <a:ext cx="13971951" cy="2457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3199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DATA EFFICIENCY (The "1% Label" Case):</a:t>
            </a:r>
          </a:p>
          <a:p>
            <a:pPr algn="l" marL="690876" indent="-345438" lvl="1">
              <a:lnSpc>
                <a:spcPts val="3839"/>
              </a:lnSpc>
              <a:buFont typeface="Arial"/>
              <a:buChar char="•"/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Observation: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Massive accuracy gap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(+15%) when supervision is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scarce</a:t>
            </a:r>
          </a:p>
          <a:p>
            <a:pPr algn="l" marL="690876" indent="-345438" lvl="1">
              <a:lnSpc>
                <a:spcPts val="3839"/>
              </a:lnSpc>
              <a:buFont typeface="Arial"/>
              <a:buChar char="•"/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Why: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Semantic Loss acts as a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 structural regularizer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, injecting "rules of the game" where labels are missing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702625" y="5242781"/>
            <a:ext cx="13971951" cy="1971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3199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GRADIENT GUIDANCE:</a:t>
            </a:r>
          </a:p>
          <a:p>
            <a:pPr algn="l" marL="690876" indent="-345438" lvl="1">
              <a:lnSpc>
                <a:spcPts val="3839"/>
              </a:lnSpc>
              <a:buFont typeface="Arial"/>
              <a:buChar char="•"/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Observation: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2x faster convergence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des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p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ite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higher 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per-epoch tim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</a:t>
            </a:r>
          </a:p>
          <a:p>
            <a:pPr algn="l" marL="690876" indent="-345438" lvl="1">
              <a:lnSpc>
                <a:spcPts val="3839"/>
              </a:lnSpc>
              <a:buFont typeface="Arial"/>
              <a:buChar char="•"/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Why: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Logic provides i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nformative gradients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even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fo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unlabeled data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, actively steering the model away from invalid states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702625" y="7590693"/>
            <a:ext cx="13971951" cy="1971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3199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GUARANTEED CONSISTENCY:</a:t>
            </a:r>
          </a:p>
          <a:p>
            <a:pPr algn="l" marL="690876" indent="-345438" lvl="1">
              <a:lnSpc>
                <a:spcPts val="3839"/>
              </a:lnSpc>
              <a:buFont typeface="Arial"/>
              <a:buChar char="•"/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Advantage: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Unlike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st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da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d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MLP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s, t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he 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NeuroSymbolic model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enforces strict constraints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(e.g.,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Exa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ct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y-On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,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Mono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onicity),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ensuring output validity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by design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7029" y="880533"/>
            <a:ext cx="17357748" cy="9211584"/>
          </a:xfrm>
          <a:custGeom>
            <a:avLst/>
            <a:gdLst/>
            <a:ahLst/>
            <a:cxnLst/>
            <a:rect r="r" b="b" t="t" l="l"/>
            <a:pathLst>
              <a:path h="9211584" w="17357748">
                <a:moveTo>
                  <a:pt x="0" y="0"/>
                </a:moveTo>
                <a:lnTo>
                  <a:pt x="17357748" y="0"/>
                </a:lnTo>
                <a:lnTo>
                  <a:pt x="17357748" y="9211584"/>
                </a:lnTo>
                <a:lnTo>
                  <a:pt x="0" y="92115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56500" y="2761162"/>
            <a:ext cx="16597970" cy="3861370"/>
          </a:xfrm>
          <a:custGeom>
            <a:avLst/>
            <a:gdLst/>
            <a:ahLst/>
            <a:cxnLst/>
            <a:rect r="r" b="b" t="t" l="l"/>
            <a:pathLst>
              <a:path h="3861370" w="16597970">
                <a:moveTo>
                  <a:pt x="0" y="0"/>
                </a:moveTo>
                <a:lnTo>
                  <a:pt x="16597970" y="0"/>
                </a:lnTo>
                <a:lnTo>
                  <a:pt x="16597970" y="3861370"/>
                </a:lnTo>
                <a:lnTo>
                  <a:pt x="0" y="386137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 rot="4500">
            <a:off x="1476792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4500">
            <a:off x="1463117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rot="4500">
            <a:off x="1449441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rot="4500">
            <a:off x="14357662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rot="4500">
            <a:off x="14220907" y="-102760"/>
            <a:ext cx="1932529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1483975" y="-123525"/>
            <a:ext cx="6531800" cy="995550"/>
            <a:chOff x="0" y="0"/>
            <a:chExt cx="8709067" cy="1327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683" y="3683"/>
              <a:ext cx="8701659" cy="1323721"/>
            </a:xfrm>
            <a:custGeom>
              <a:avLst/>
              <a:gdLst/>
              <a:ahLst/>
              <a:cxnLst/>
              <a:rect r="r" b="b" t="t" l="l"/>
              <a:pathLst>
                <a:path h="1323721" w="8701659">
                  <a:moveTo>
                    <a:pt x="18034" y="0"/>
                  </a:moveTo>
                  <a:lnTo>
                    <a:pt x="1320038" y="1302004"/>
                  </a:lnTo>
                  <a:lnTo>
                    <a:pt x="1311021" y="1311021"/>
                  </a:lnTo>
                  <a:lnTo>
                    <a:pt x="1311021" y="1298321"/>
                  </a:lnTo>
                  <a:lnTo>
                    <a:pt x="6252337" y="1298321"/>
                  </a:lnTo>
                  <a:lnTo>
                    <a:pt x="6252337" y="1311021"/>
                  </a:lnTo>
                  <a:lnTo>
                    <a:pt x="6243320" y="1302004"/>
                  </a:lnTo>
                  <a:lnTo>
                    <a:pt x="6821551" y="723773"/>
                  </a:lnTo>
                  <a:cubicBezTo>
                    <a:pt x="6823964" y="721360"/>
                    <a:pt x="6827139" y="720090"/>
                    <a:pt x="6830568" y="720090"/>
                  </a:cubicBezTo>
                  <a:lnTo>
                    <a:pt x="8080121" y="720090"/>
                  </a:lnTo>
                  <a:lnTo>
                    <a:pt x="8080121" y="732790"/>
                  </a:lnTo>
                  <a:lnTo>
                    <a:pt x="8071104" y="723773"/>
                  </a:lnTo>
                  <a:lnTo>
                    <a:pt x="8683752" y="111252"/>
                  </a:lnTo>
                  <a:lnTo>
                    <a:pt x="8701659" y="129159"/>
                  </a:lnTo>
                  <a:lnTo>
                    <a:pt x="8089011" y="741807"/>
                  </a:lnTo>
                  <a:cubicBezTo>
                    <a:pt x="8086598" y="744220"/>
                    <a:pt x="8083423" y="745490"/>
                    <a:pt x="8079993" y="745490"/>
                  </a:cubicBezTo>
                  <a:lnTo>
                    <a:pt x="6830568" y="745490"/>
                  </a:lnTo>
                  <a:lnTo>
                    <a:pt x="6830568" y="732790"/>
                  </a:lnTo>
                  <a:lnTo>
                    <a:pt x="6839585" y="741807"/>
                  </a:lnTo>
                  <a:lnTo>
                    <a:pt x="6261354" y="1320038"/>
                  </a:lnTo>
                  <a:cubicBezTo>
                    <a:pt x="6258941" y="1322451"/>
                    <a:pt x="6255766" y="1323721"/>
                    <a:pt x="6252337" y="1323721"/>
                  </a:cubicBezTo>
                  <a:lnTo>
                    <a:pt x="1311021" y="1323721"/>
                  </a:lnTo>
                  <a:cubicBezTo>
                    <a:pt x="1307592" y="1323721"/>
                    <a:pt x="1304417" y="1322324"/>
                    <a:pt x="1302004" y="1320038"/>
                  </a:cubicBezTo>
                  <a:lnTo>
                    <a:pt x="0" y="18034"/>
                  </a:lnTo>
                  <a:close/>
                </a:path>
              </a:pathLst>
            </a:custGeom>
            <a:solidFill>
              <a:srgbClr val="69639C"/>
            </a:solid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510875" y="6169625"/>
            <a:ext cx="998850" cy="4665200"/>
          </a:xfrm>
          <a:custGeom>
            <a:avLst/>
            <a:gdLst/>
            <a:ahLst/>
            <a:cxnLst/>
            <a:rect r="r" b="b" t="t" l="l"/>
            <a:pathLst>
              <a:path h="4665200" w="998850">
                <a:moveTo>
                  <a:pt x="0" y="0"/>
                </a:moveTo>
                <a:lnTo>
                  <a:pt x="998850" y="0"/>
                </a:lnTo>
                <a:lnTo>
                  <a:pt x="998850" y="4665200"/>
                </a:lnTo>
                <a:lnTo>
                  <a:pt x="0" y="46652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-5400000">
            <a:off x="1014670" y="1265494"/>
            <a:ext cx="456150" cy="394500"/>
            <a:chOff x="0" y="0"/>
            <a:chExt cx="608200" cy="52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08203" cy="526034"/>
            </a:xfrm>
            <a:custGeom>
              <a:avLst/>
              <a:gdLst/>
              <a:ahLst/>
              <a:cxnLst/>
              <a:rect r="r" b="b" t="t" l="l"/>
              <a:pathLst>
                <a:path h="526034" w="608203">
                  <a:moveTo>
                    <a:pt x="0" y="0"/>
                  </a:moveTo>
                  <a:lnTo>
                    <a:pt x="608203" y="0"/>
                  </a:lnTo>
                  <a:lnTo>
                    <a:pt x="304038" y="526034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702625" y="991256"/>
            <a:ext cx="152251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99"/>
              </a:lnSpc>
            </a:pPr>
            <a:r>
              <a:rPr lang="en-US" b="true" sz="5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LIMITATIONS &amp; TECHNICAL ISSUES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702625" y="2409093"/>
            <a:ext cx="13971951" cy="2943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3199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COMPUTATIONAL BOTTLENECK:</a:t>
            </a:r>
          </a:p>
          <a:p>
            <a:pPr algn="l" marL="690876" indent="-345438" lvl="1">
              <a:lnSpc>
                <a:spcPts val="3839"/>
              </a:lnSpc>
              <a:buFont typeface="Arial"/>
              <a:buChar char="•"/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Issue: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Ex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ac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g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ic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 inference (WMC) is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#P-Hard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and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scales exponentially</a:t>
            </a:r>
          </a:p>
          <a:p>
            <a:pPr algn="l" marL="690876" indent="-345438" lvl="1">
              <a:lnSpc>
                <a:spcPts val="3839"/>
              </a:lnSpc>
              <a:buFont typeface="Arial"/>
              <a:buChar char="•"/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Impact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: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Pure symbolic implementation (CNF) is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slow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;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requires approximations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or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matrix-based optimizations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(Pairwise) to be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feasible on GPU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702625" y="5475069"/>
            <a:ext cx="13971951" cy="2457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3199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TRAINING OVERHEAD:</a:t>
            </a:r>
          </a:p>
          <a:p>
            <a:pPr algn="l" marL="690876" indent="-345438" lvl="1">
              <a:lnSpc>
                <a:spcPts val="3839"/>
              </a:lnSpc>
              <a:buFont typeface="Arial"/>
              <a:buChar char="•"/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Metric: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Logic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calcul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at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i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on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increases training time per epoch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(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30x slowe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r)</a:t>
            </a:r>
          </a:p>
          <a:p>
            <a:pPr algn="l" marL="690876" indent="-345438" lvl="1">
              <a:lnSpc>
                <a:spcPts val="3839"/>
              </a:lnSpc>
              <a:buFont typeface="Arial"/>
              <a:buChar char="•"/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Trade-off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: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Higher computational cost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per step vs. fewer total steps to converge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702625" y="8055270"/>
            <a:ext cx="13971951" cy="1485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3199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HYPERPARAMETER SENSITIVITY:</a:t>
            </a:r>
          </a:p>
          <a:p>
            <a:pPr algn="l" marL="690876" indent="-345438" lvl="1">
              <a:lnSpc>
                <a:spcPts val="3839"/>
              </a:lnSpc>
              <a:buFont typeface="Arial"/>
              <a:buChar char="•"/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Risk: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If logic weigh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 λ i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too high,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the model may </a:t>
            </a: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collapse to "Trivial Validity"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(s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tisfying rul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es bu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 ig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o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ring 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in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put 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fe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at</a:t>
            </a:r>
            <a:r>
              <a:rPr lang="en-US" sz="3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ures) 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288275" y="7001000"/>
            <a:ext cx="9708750" cy="93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b="true" sz="24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CREDITS:</a:t>
            </a:r>
            <a:r>
              <a:rPr lang="en-US" sz="24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This presentation template was created by </a:t>
            </a:r>
            <a:r>
              <a:rPr lang="en-US" b="true" sz="2400" u="sng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  <a:hlinkClick r:id="rId3" tooltip="https://bit.ly/3A1uf1Q"/>
              </a:rPr>
              <a:t>Slidesgo</a:t>
            </a:r>
            <a:r>
              <a:rPr lang="en-US" sz="24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, and includes icons by </a:t>
            </a:r>
            <a:r>
              <a:rPr lang="en-US" b="true" sz="2400" u="sng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  <a:hlinkClick r:id="rId4" tooltip="http://bit.ly/2TyoMsr"/>
              </a:rPr>
              <a:t>Flaticon</a:t>
            </a:r>
            <a:r>
              <a:rPr lang="en-US" sz="24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, and infographics &amp; images by </a:t>
            </a:r>
            <a:r>
              <a:rPr lang="en-US" b="true" sz="2400" u="sng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  <a:hlinkClick r:id="rId5" tooltip="http://bit.ly/2TtBDfr"/>
              </a:rPr>
              <a:t>Freepik</a:t>
            </a:r>
            <a:r>
              <a:rPr lang="en-US" sz="2400" u="sng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</a:p>
        </p:txBody>
      </p:sp>
      <p:grpSp>
        <p:nvGrpSpPr>
          <p:cNvPr name="Group 3" id="3"/>
          <p:cNvGrpSpPr/>
          <p:nvPr/>
        </p:nvGrpSpPr>
        <p:grpSpPr>
          <a:xfrm rot="5400000">
            <a:off x="16498222" y="350746"/>
            <a:ext cx="80112" cy="881760"/>
            <a:chOff x="0" y="0"/>
            <a:chExt cx="106816" cy="117568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127" y="0"/>
              <a:ext cx="106807" cy="1175512"/>
            </a:xfrm>
            <a:custGeom>
              <a:avLst/>
              <a:gdLst/>
              <a:ahLst/>
              <a:cxnLst/>
              <a:rect r="r" b="b" t="t" l="l"/>
              <a:pathLst>
                <a:path h="1175512" w="106807">
                  <a:moveTo>
                    <a:pt x="53340" y="127"/>
                  </a:moveTo>
                  <a:cubicBezTo>
                    <a:pt x="22225" y="127"/>
                    <a:pt x="0" y="22352"/>
                    <a:pt x="0" y="53340"/>
                  </a:cubicBezTo>
                  <a:lnTo>
                    <a:pt x="0" y="1122172"/>
                  </a:lnTo>
                  <a:cubicBezTo>
                    <a:pt x="0" y="1150620"/>
                    <a:pt x="22225" y="1175512"/>
                    <a:pt x="53340" y="1175512"/>
                  </a:cubicBezTo>
                  <a:cubicBezTo>
                    <a:pt x="81788" y="1175512"/>
                    <a:pt x="106807" y="1150493"/>
                    <a:pt x="106807" y="1122172"/>
                  </a:cubicBezTo>
                  <a:lnTo>
                    <a:pt x="106807" y="53340"/>
                  </a:lnTo>
                  <a:cubicBezTo>
                    <a:pt x="106807" y="22352"/>
                    <a:pt x="81788" y="0"/>
                    <a:pt x="53340" y="0"/>
                  </a:cubicBezTo>
                  <a:close/>
                </a:path>
              </a:pathLst>
            </a:custGeom>
            <a:solidFill>
              <a:srgbClr val="AFAFB6"/>
            </a:solidFill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-1137375" y="-9525"/>
            <a:ext cx="15706704" cy="2241736"/>
          </a:xfrm>
          <a:custGeom>
            <a:avLst/>
            <a:gdLst/>
            <a:ahLst/>
            <a:cxnLst/>
            <a:rect r="r" b="b" t="t" l="l"/>
            <a:pathLst>
              <a:path h="2241736" w="15706704">
                <a:moveTo>
                  <a:pt x="0" y="0"/>
                </a:moveTo>
                <a:lnTo>
                  <a:pt x="15706704" y="0"/>
                </a:lnTo>
                <a:lnTo>
                  <a:pt x="15706704" y="2241736"/>
                </a:lnTo>
                <a:lnTo>
                  <a:pt x="0" y="224173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288275" y="1915784"/>
            <a:ext cx="8713350" cy="1409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800"/>
              </a:lnSpc>
            </a:pPr>
            <a:r>
              <a:rPr lang="en-US" b="true" sz="90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THANKS!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288275" y="4478493"/>
            <a:ext cx="2193778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b="true" sz="9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Do you have any questions?</a:t>
            </a:r>
          </a:p>
          <a:p>
            <a:pPr algn="l">
              <a:lnSpc>
                <a:spcPts val="1190"/>
              </a:lnSpc>
            </a:pPr>
          </a:p>
        </p:txBody>
      </p:sp>
      <p:grpSp>
        <p:nvGrpSpPr>
          <p:cNvPr name="Group 8" id="8"/>
          <p:cNvGrpSpPr/>
          <p:nvPr/>
        </p:nvGrpSpPr>
        <p:grpSpPr>
          <a:xfrm rot="-5400000">
            <a:off x="1378150" y="2330668"/>
            <a:ext cx="714600" cy="618032"/>
            <a:chOff x="0" y="0"/>
            <a:chExt cx="952800" cy="82404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52754" cy="824103"/>
            </a:xfrm>
            <a:custGeom>
              <a:avLst/>
              <a:gdLst/>
              <a:ahLst/>
              <a:cxnLst/>
              <a:rect r="r" b="b" t="t" l="l"/>
              <a:pathLst>
                <a:path h="824103" w="952754">
                  <a:moveTo>
                    <a:pt x="0" y="0"/>
                  </a:moveTo>
                  <a:lnTo>
                    <a:pt x="952754" y="0"/>
                  </a:lnTo>
                  <a:lnTo>
                    <a:pt x="476377" y="824103"/>
                  </a:lnTo>
                  <a:close/>
                </a:path>
              </a:pathLst>
            </a:custGeom>
            <a:solidFill>
              <a:srgbClr val="00CADA"/>
            </a:solidFill>
          </p:spPr>
        </p:sp>
      </p:grpSp>
      <p:sp>
        <p:nvSpPr>
          <p:cNvPr name="AutoShape 10" id="10"/>
          <p:cNvSpPr/>
          <p:nvPr/>
        </p:nvSpPr>
        <p:spPr>
          <a:xfrm rot="5394431">
            <a:off x="14679728" y="10189353"/>
            <a:ext cx="5347483" cy="0"/>
          </a:xfrm>
          <a:prstGeom prst="line">
            <a:avLst/>
          </a:prstGeom>
          <a:ln cap="rnd" w="9525">
            <a:solidFill>
              <a:srgbClr val="AFAFB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 rot="2674203">
            <a:off x="16081073" y="6999210"/>
            <a:ext cx="1491162" cy="0"/>
          </a:xfrm>
          <a:prstGeom prst="line">
            <a:avLst/>
          </a:prstGeom>
          <a:ln cap="rnd" w="9525">
            <a:solidFill>
              <a:srgbClr val="AFAFB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2" id="12"/>
          <p:cNvSpPr/>
          <p:nvPr/>
        </p:nvSpPr>
        <p:spPr>
          <a:xfrm flipH="false" flipV="false" rot="0">
            <a:off x="15986705" y="6133459"/>
            <a:ext cx="391361" cy="395518"/>
          </a:xfrm>
          <a:custGeom>
            <a:avLst/>
            <a:gdLst/>
            <a:ahLst/>
            <a:cxnLst/>
            <a:rect r="r" b="b" t="t" l="l"/>
            <a:pathLst>
              <a:path h="395518" w="391361">
                <a:moveTo>
                  <a:pt x="0" y="0"/>
                </a:moveTo>
                <a:lnTo>
                  <a:pt x="391362" y="0"/>
                </a:lnTo>
                <a:lnTo>
                  <a:pt x="391362" y="395518"/>
                </a:lnTo>
                <a:lnTo>
                  <a:pt x="0" y="39551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5348963" y="7259611"/>
            <a:ext cx="513606" cy="2339172"/>
          </a:xfrm>
          <a:custGeom>
            <a:avLst/>
            <a:gdLst/>
            <a:ahLst/>
            <a:cxnLst/>
            <a:rect r="r" b="b" t="t" l="l"/>
            <a:pathLst>
              <a:path h="2339172" w="513606">
                <a:moveTo>
                  <a:pt x="0" y="0"/>
                </a:moveTo>
                <a:lnTo>
                  <a:pt x="513606" y="0"/>
                </a:lnTo>
                <a:lnTo>
                  <a:pt x="513606" y="2339172"/>
                </a:lnTo>
                <a:lnTo>
                  <a:pt x="0" y="233917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4" id="14"/>
          <p:cNvSpPr/>
          <p:nvPr/>
        </p:nvSpPr>
        <p:spPr>
          <a:xfrm rot="5391564">
            <a:off x="10965208" y="7321775"/>
            <a:ext cx="7763873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 rot="2650301">
            <a:off x="14650915" y="2996117"/>
            <a:ext cx="1320660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6" id="16"/>
          <p:cNvGrpSpPr/>
          <p:nvPr/>
        </p:nvGrpSpPr>
        <p:grpSpPr>
          <a:xfrm rot="5400000">
            <a:off x="15703089" y="2213087"/>
            <a:ext cx="405900" cy="401750"/>
            <a:chOff x="0" y="0"/>
            <a:chExt cx="541200" cy="53566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12700" y="12700"/>
              <a:ext cx="515620" cy="510032"/>
            </a:xfrm>
            <a:custGeom>
              <a:avLst/>
              <a:gdLst/>
              <a:ahLst/>
              <a:cxnLst/>
              <a:rect r="r" b="b" t="t" l="l"/>
              <a:pathLst>
                <a:path h="510032" w="515620">
                  <a:moveTo>
                    <a:pt x="0" y="255778"/>
                  </a:moveTo>
                  <a:cubicBezTo>
                    <a:pt x="0" y="397256"/>
                    <a:pt x="118491" y="510032"/>
                    <a:pt x="254508" y="510032"/>
                  </a:cubicBezTo>
                  <a:cubicBezTo>
                    <a:pt x="395986" y="510032"/>
                    <a:pt x="515620" y="397256"/>
                    <a:pt x="515620" y="255778"/>
                  </a:cubicBezTo>
                  <a:cubicBezTo>
                    <a:pt x="515620" y="114300"/>
                    <a:pt x="395986" y="0"/>
                    <a:pt x="254508" y="0"/>
                  </a:cubicBezTo>
                  <a:cubicBezTo>
                    <a:pt x="118491" y="0"/>
                    <a:pt x="0" y="114300"/>
                    <a:pt x="0" y="255778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41020" cy="535432"/>
            </a:xfrm>
            <a:custGeom>
              <a:avLst/>
              <a:gdLst/>
              <a:ahLst/>
              <a:cxnLst/>
              <a:rect r="r" b="b" t="t" l="l"/>
              <a:pathLst>
                <a:path h="535432" w="541020">
                  <a:moveTo>
                    <a:pt x="25400" y="268478"/>
                  </a:moveTo>
                  <a:cubicBezTo>
                    <a:pt x="25400" y="402717"/>
                    <a:pt x="137922" y="510032"/>
                    <a:pt x="267208" y="510032"/>
                  </a:cubicBezTo>
                  <a:lnTo>
                    <a:pt x="267208" y="522732"/>
                  </a:lnTo>
                  <a:lnTo>
                    <a:pt x="267208" y="510032"/>
                  </a:lnTo>
                  <a:cubicBezTo>
                    <a:pt x="402209" y="510032"/>
                    <a:pt x="515620" y="402463"/>
                    <a:pt x="515620" y="268478"/>
                  </a:cubicBezTo>
                  <a:lnTo>
                    <a:pt x="528320" y="268478"/>
                  </a:lnTo>
                  <a:lnTo>
                    <a:pt x="515620" y="268478"/>
                  </a:lnTo>
                  <a:cubicBezTo>
                    <a:pt x="515620" y="134366"/>
                    <a:pt x="402082" y="25400"/>
                    <a:pt x="267208" y="25400"/>
                  </a:cubicBezTo>
                  <a:lnTo>
                    <a:pt x="267208" y="12700"/>
                  </a:lnTo>
                  <a:lnTo>
                    <a:pt x="267208" y="25400"/>
                  </a:lnTo>
                  <a:cubicBezTo>
                    <a:pt x="138049" y="25400"/>
                    <a:pt x="25400" y="134112"/>
                    <a:pt x="25400" y="268478"/>
                  </a:cubicBezTo>
                  <a:lnTo>
                    <a:pt x="12700" y="268478"/>
                  </a:lnTo>
                  <a:lnTo>
                    <a:pt x="25400" y="268478"/>
                  </a:lnTo>
                  <a:moveTo>
                    <a:pt x="0" y="268478"/>
                  </a:moveTo>
                  <a:cubicBezTo>
                    <a:pt x="0" y="119888"/>
                    <a:pt x="124206" y="0"/>
                    <a:pt x="267208" y="0"/>
                  </a:cubicBezTo>
                  <a:cubicBezTo>
                    <a:pt x="415417" y="0"/>
                    <a:pt x="541020" y="119634"/>
                    <a:pt x="541020" y="268478"/>
                  </a:cubicBezTo>
                  <a:cubicBezTo>
                    <a:pt x="541020" y="417322"/>
                    <a:pt x="415290" y="535432"/>
                    <a:pt x="267208" y="535432"/>
                  </a:cubicBezTo>
                  <a:cubicBezTo>
                    <a:pt x="124333" y="535432"/>
                    <a:pt x="0" y="417195"/>
                    <a:pt x="0" y="268478"/>
                  </a:cubicBezTo>
                  <a:close/>
                </a:path>
              </a:pathLst>
            </a:custGeom>
            <a:solidFill>
              <a:srgbClr val="69639C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4272222" y="6452546"/>
            <a:ext cx="80112" cy="881760"/>
            <a:chOff x="0" y="0"/>
            <a:chExt cx="106816" cy="11756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27" y="0"/>
              <a:ext cx="106807" cy="1175512"/>
            </a:xfrm>
            <a:custGeom>
              <a:avLst/>
              <a:gdLst/>
              <a:ahLst/>
              <a:cxnLst/>
              <a:rect r="r" b="b" t="t" l="l"/>
              <a:pathLst>
                <a:path h="1175512" w="106807">
                  <a:moveTo>
                    <a:pt x="53340" y="127"/>
                  </a:moveTo>
                  <a:cubicBezTo>
                    <a:pt x="22225" y="127"/>
                    <a:pt x="0" y="22352"/>
                    <a:pt x="0" y="53340"/>
                  </a:cubicBezTo>
                  <a:lnTo>
                    <a:pt x="0" y="1122172"/>
                  </a:lnTo>
                  <a:cubicBezTo>
                    <a:pt x="0" y="1150620"/>
                    <a:pt x="22225" y="1175512"/>
                    <a:pt x="53340" y="1175512"/>
                  </a:cubicBezTo>
                  <a:cubicBezTo>
                    <a:pt x="81788" y="1175512"/>
                    <a:pt x="106807" y="1150493"/>
                    <a:pt x="106807" y="1122172"/>
                  </a:cubicBezTo>
                  <a:lnTo>
                    <a:pt x="106807" y="53340"/>
                  </a:lnTo>
                  <a:cubicBezTo>
                    <a:pt x="106807" y="22352"/>
                    <a:pt x="81788" y="0"/>
                    <a:pt x="53340" y="0"/>
                  </a:cubicBezTo>
                  <a:close/>
                </a:path>
              </a:pathLst>
            </a:custGeom>
            <a:solidFill>
              <a:srgbClr val="AFAFB6"/>
            </a:solidFill>
          </p:spPr>
        </p:sp>
      </p:grpSp>
      <p:sp>
        <p:nvSpPr>
          <p:cNvPr name="AutoShape 21" id="21"/>
          <p:cNvSpPr/>
          <p:nvPr/>
        </p:nvSpPr>
        <p:spPr>
          <a:xfrm rot="1125">
            <a:off x="14843128" y="3953100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2" id="22"/>
          <p:cNvSpPr/>
          <p:nvPr/>
        </p:nvSpPr>
        <p:spPr>
          <a:xfrm rot="1125">
            <a:off x="14843128" y="4226611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3" id="23"/>
          <p:cNvSpPr/>
          <p:nvPr/>
        </p:nvSpPr>
        <p:spPr>
          <a:xfrm rot="1125">
            <a:off x="14843128" y="4089855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4" id="24"/>
          <p:cNvSpPr/>
          <p:nvPr/>
        </p:nvSpPr>
        <p:spPr>
          <a:xfrm rot="1125">
            <a:off x="14843128" y="4363366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 rot="1125">
            <a:off x="14843128" y="4500121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 rot="1125">
            <a:off x="14843128" y="4636877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7" id="27"/>
          <p:cNvSpPr/>
          <p:nvPr/>
        </p:nvSpPr>
        <p:spPr>
          <a:xfrm rot="1125">
            <a:off x="14843128" y="4773632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8" id="28"/>
          <p:cNvSpPr/>
          <p:nvPr/>
        </p:nvSpPr>
        <p:spPr>
          <a:xfrm rot="1125">
            <a:off x="14843128" y="4910387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9" id="29"/>
          <p:cNvSpPr/>
          <p:nvPr/>
        </p:nvSpPr>
        <p:spPr>
          <a:xfrm rot="1125">
            <a:off x="14843128" y="5047143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0" id="30"/>
          <p:cNvSpPr/>
          <p:nvPr/>
        </p:nvSpPr>
        <p:spPr>
          <a:xfrm rot="1125">
            <a:off x="14843128" y="5183898"/>
            <a:ext cx="7726451" cy="0"/>
          </a:xfrm>
          <a:prstGeom prst="line">
            <a:avLst/>
          </a:prstGeom>
          <a:ln cap="rnd" w="9525">
            <a:solidFill>
              <a:srgbClr val="69639C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1" id="31"/>
          <p:cNvSpPr/>
          <p:nvPr/>
        </p:nvSpPr>
        <p:spPr>
          <a:xfrm flipH="false" flipV="false" rot="0">
            <a:off x="14281413" y="4184397"/>
            <a:ext cx="105282" cy="969038"/>
          </a:xfrm>
          <a:custGeom>
            <a:avLst/>
            <a:gdLst/>
            <a:ahLst/>
            <a:cxnLst/>
            <a:rect r="r" b="b" t="t" l="l"/>
            <a:pathLst>
              <a:path h="969038" w="105282">
                <a:moveTo>
                  <a:pt x="0" y="0"/>
                </a:moveTo>
                <a:lnTo>
                  <a:pt x="105282" y="0"/>
                </a:lnTo>
                <a:lnTo>
                  <a:pt x="105282" y="969038"/>
                </a:lnTo>
                <a:lnTo>
                  <a:pt x="0" y="96903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2" id="32"/>
          <p:cNvSpPr/>
          <p:nvPr/>
        </p:nvSpPr>
        <p:spPr>
          <a:xfrm flipH="false" flipV="false" rot="0">
            <a:off x="4768825" y="-717125"/>
            <a:ext cx="11737500" cy="3274237"/>
          </a:xfrm>
          <a:custGeom>
            <a:avLst/>
            <a:gdLst/>
            <a:ahLst/>
            <a:cxnLst/>
            <a:rect r="r" b="b" t="t" l="l"/>
            <a:pathLst>
              <a:path h="3274237" w="11737500">
                <a:moveTo>
                  <a:pt x="0" y="0"/>
                </a:moveTo>
                <a:lnTo>
                  <a:pt x="11737500" y="0"/>
                </a:lnTo>
                <a:lnTo>
                  <a:pt x="11737500" y="3274237"/>
                </a:lnTo>
                <a:lnTo>
                  <a:pt x="0" y="3274237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DAG7wcfWRYE</dc:identifier>
  <dcterms:modified xsi:type="dcterms:W3CDTF">2011-08-01T06:04:30Z</dcterms:modified>
  <cp:revision>1</cp:revision>
  <dc:title>Copia di Technology Market Research Pitch Deck by Slidesgo.pptx</dc:title>
</cp:coreProperties>
</file>